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1f3346b827b42ce" /><Relationship Type="http://schemas.openxmlformats.org/officeDocument/2006/relationships/extended-properties" Target="/docProps/app.xml" Id="Rbecab326f5054252" /><Relationship Type="http://schemas.openxmlformats.org/officeDocument/2006/relationships/officeDocument" Target="/ppt/presentation.xml" Id="Rbb179ad015854d9f" /></Relationships>
</file>

<file path=ppt/presentation.xml><?xml version="1.0" encoding="utf-8"?>
<p:presentation xmlns:p="http://schemas.openxmlformats.org/presentationml/2006/main">
  <p:sldMasterIdLst>
    <p:sldMasterId xmlns:r="http://schemas.openxmlformats.org/officeDocument/2006/relationships" id="2147483648" r:id="R9257e630ef6f4511"/>
  </p:sldMasterIdLst>
  <p:notesMasterIdLst>
    <p:notesMasterId xmlns:r="http://schemas.openxmlformats.org/officeDocument/2006/relationships" r:id="R9b5642d6fd0c492d"/>
  </p:notesMasterIdLst>
  <p:sldIdLst>
    <p:sldId xmlns:r="http://schemas.openxmlformats.org/officeDocument/2006/relationships" id="256" r:id="Rd9a11146e44f41ae"/>
    <p:sldId xmlns:r="http://schemas.openxmlformats.org/officeDocument/2006/relationships" id="257" r:id="R574ccac31f144bfe"/>
    <p:sldId xmlns:r="http://schemas.openxmlformats.org/officeDocument/2006/relationships" id="258" r:id="R9594063be6014e3d"/>
    <p:sldId xmlns:r="http://schemas.openxmlformats.org/officeDocument/2006/relationships" id="259" r:id="R7628d38a36f341ad"/>
    <p:sldId xmlns:r="http://schemas.openxmlformats.org/officeDocument/2006/relationships" id="260" r:id="R7968b0affc6140ec"/>
    <p:sldId xmlns:r="http://schemas.openxmlformats.org/officeDocument/2006/relationships" id="261" r:id="R64f6afe3730346b4"/>
    <p:sldId xmlns:r="http://schemas.openxmlformats.org/officeDocument/2006/relationships" id="262" r:id="R0443ebba4bc745ad"/>
    <p:sldId xmlns:r="http://schemas.openxmlformats.org/officeDocument/2006/relationships" id="263" r:id="Rc8e808f0f6724bd3"/>
    <p:sldId xmlns:r="http://schemas.openxmlformats.org/officeDocument/2006/relationships" id="264" r:id="Rbd8923c45c8f470e"/>
    <p:sldId xmlns:r="http://schemas.openxmlformats.org/officeDocument/2006/relationships" id="265" r:id="R28e9a9d1a0204a28"/>
    <p:sldId xmlns:r="http://schemas.openxmlformats.org/officeDocument/2006/relationships" id="266" r:id="R3ab8f807fd294ce8"/>
    <p:sldId xmlns:r="http://schemas.openxmlformats.org/officeDocument/2006/relationships" id="267" r:id="Ra44aaf3176de4318"/>
    <p:sldId xmlns:r="http://schemas.openxmlformats.org/officeDocument/2006/relationships" id="268" r:id="R0877d198892145b0"/>
    <p:sldId xmlns:r="http://schemas.openxmlformats.org/officeDocument/2006/relationships" id="269" r:id="R1636a0112fb04707"/>
    <p:sldId xmlns:r="http://schemas.openxmlformats.org/officeDocument/2006/relationships" id="270" r:id="Ra183c444236545e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42f922293964e55" /><Relationship Type="http://schemas.openxmlformats.org/officeDocument/2006/relationships/slideMaster" Target="/ppt/slideMasters/slideMaster1.xml" Id="R9257e630ef6f4511" /><Relationship Type="http://schemas.openxmlformats.org/officeDocument/2006/relationships/notesMaster" Target="/ppt/notesMasters/notesMaster1.xml" Id="R9b5642d6fd0c492d" /><Relationship Type="http://schemas.openxmlformats.org/officeDocument/2006/relationships/presProps" Target="/ppt/presProps.xml" Id="Rd561501adc764f1a" /><Relationship Type="http://schemas.openxmlformats.org/officeDocument/2006/relationships/tableStyles" Target="/ppt/tableStyles.xml" Id="Rcf2060e2c25e488c" /><Relationship Type="http://schemas.openxmlformats.org/officeDocument/2006/relationships/slide" Target="/ppt/slides/slide1.xml" Id="Rd9a11146e44f41ae" /><Relationship Type="http://schemas.openxmlformats.org/officeDocument/2006/relationships/slide" Target="/ppt/slides/slide2.xml" Id="R574ccac31f144bfe" /><Relationship Type="http://schemas.openxmlformats.org/officeDocument/2006/relationships/slide" Target="/ppt/slides/slide3.xml" Id="R9594063be6014e3d" /><Relationship Type="http://schemas.openxmlformats.org/officeDocument/2006/relationships/slide" Target="/ppt/slides/slide4.xml" Id="R7628d38a36f341ad" /><Relationship Type="http://schemas.openxmlformats.org/officeDocument/2006/relationships/slide" Target="/ppt/slides/slide5.xml" Id="R7968b0affc6140ec" /><Relationship Type="http://schemas.openxmlformats.org/officeDocument/2006/relationships/slide" Target="/ppt/slides/slide6.xml" Id="R64f6afe3730346b4" /><Relationship Type="http://schemas.openxmlformats.org/officeDocument/2006/relationships/slide" Target="/ppt/slides/slide7.xml" Id="R0443ebba4bc745ad" /><Relationship Type="http://schemas.openxmlformats.org/officeDocument/2006/relationships/slide" Target="/ppt/slides/slide8.xml" Id="Rc8e808f0f6724bd3" /><Relationship Type="http://schemas.openxmlformats.org/officeDocument/2006/relationships/slide" Target="/ppt/slides/slide9.xml" Id="Rbd8923c45c8f470e" /><Relationship Type="http://schemas.openxmlformats.org/officeDocument/2006/relationships/slide" Target="/ppt/slides/slide10.xml" Id="R28e9a9d1a0204a28" /><Relationship Type="http://schemas.openxmlformats.org/officeDocument/2006/relationships/slide" Target="/ppt/slides/slide11.xml" Id="R3ab8f807fd294ce8" /><Relationship Type="http://schemas.openxmlformats.org/officeDocument/2006/relationships/slide" Target="/ppt/slides/slide12.xml" Id="Ra44aaf3176de4318" /><Relationship Type="http://schemas.openxmlformats.org/officeDocument/2006/relationships/slide" Target="/ppt/slides/slide13.xml" Id="R0877d198892145b0" /><Relationship Type="http://schemas.openxmlformats.org/officeDocument/2006/relationships/slide" Target="/ppt/slides/slide14.xml" Id="R1636a0112fb04707" /><Relationship Type="http://schemas.openxmlformats.org/officeDocument/2006/relationships/slide" Target="/ppt/slides/slide15.xml" Id="Ra183c444236545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af0e94f228e461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Ad Safety Project">
  <a:themeElements>
    <a:clrScheme name="Ad Safety Projec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Ad Safety Projec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f63e33ab8484949" /><Relationship Type="http://schemas.openxmlformats.org/officeDocument/2006/relationships/notesMaster" Target="/ppt/notesMasters/notesMaster1.xml" Id="R7dcc00d3cf944f06" /></Relationships>
</file>

<file path=ppt/notesSlides/_rels/notesSlide2.xml.rels>&#65279;<?xml version="1.0" encoding="utf-8"?><Relationships xmlns="http://schemas.openxmlformats.org/package/2006/relationships"><Relationship Type="http://schemas.openxmlformats.org/officeDocument/2006/relationships/slide" Target="/ppt/slides/slide2.xml" Id="R2291ca56015447fc" /><Relationship Type="http://schemas.openxmlformats.org/officeDocument/2006/relationships/notesMaster" Target="/ppt/notesMasters/notesMaster1.xml" Id="R71d824a485f14ca0" /></Relationships>
</file>

<file path=ppt/notesSlides/_rels/notesSlide3.xml.rels>&#65279;<?xml version="1.0" encoding="utf-8"?><Relationships xmlns="http://schemas.openxmlformats.org/package/2006/relationships"><Relationship Type="http://schemas.openxmlformats.org/officeDocument/2006/relationships/slide" Target="/ppt/slides/slide3.xml" Id="R1f6298e48a0d4461" /><Relationship Type="http://schemas.openxmlformats.org/officeDocument/2006/relationships/notesMaster" Target="/ppt/notesMasters/notesMaster1.xml" Id="Rfe004ef9cd8348df"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a12352ea50422a" /><Relationship Type="http://schemas.openxmlformats.org/officeDocument/2006/relationships/notesMaster" Target="/ppt/notesMasters/notesMaster1.xml" Id="R2118d7a447974c1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dfb0f52b6b94a4a" /><Relationship Type="http://schemas.openxmlformats.org/officeDocument/2006/relationships/notesMaster" Target="/ppt/notesMasters/notesMaster1.xml" Id="R853852f50ede40cf"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99bcd3ccee4129" /><Relationship Type="http://schemas.openxmlformats.org/officeDocument/2006/relationships/notesMaster" Target="/ppt/notesMasters/notesMaster1.xml" Id="Re7f5c459cc0a45e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c364eef0d9d45b1" /><Relationship Type="http://schemas.openxmlformats.org/officeDocument/2006/relationships/notesMaster" Target="/ppt/notesMasters/notesMaster1.xml" Id="R3a2b052609564fa1" /></Relationships>
</file>

<file path=ppt/notesSlides/_rels/notesSlide8.xml.rels>&#65279;<?xml version="1.0" encoding="utf-8"?><Relationships xmlns="http://schemas.openxmlformats.org/package/2006/relationships"><Relationship Type="http://schemas.openxmlformats.org/officeDocument/2006/relationships/slide" Target="/ppt/slides/slide8.xml" Id="R8e501adc87b34ae0" /><Relationship Type="http://schemas.openxmlformats.org/officeDocument/2006/relationships/notesMaster" Target="/ppt/notesMasters/notesMaster1.xml" Id="Rbb123f9512074d8c" /></Relationships>
</file>

<file path=ppt/notesSlides/_rels/notesSlide9.xml.rels>&#65279;<?xml version="1.0" encoding="utf-8"?><Relationships xmlns="http://schemas.openxmlformats.org/package/2006/relationships"><Relationship Type="http://schemas.openxmlformats.org/officeDocument/2006/relationships/slide" Target="/ppt/slides/slide9.xml" Id="Rf57bac3657534ae1" /><Relationship Type="http://schemas.openxmlformats.org/officeDocument/2006/relationships/notesMaster" Target="/ppt/notesMasters/notesMaster1.xml" Id="R417e068e5a49432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f145c07ab3a445e" /><Relationship Type="http://schemas.openxmlformats.org/officeDocument/2006/relationships/notesMaster" Target="/ppt/notesMasters/notesMaster1.xml" Id="Rdb4ed3240083445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8ab6970f44a4d5b" /><Relationship Type="http://schemas.openxmlformats.org/officeDocument/2006/relationships/notesMaster" Target="/ppt/notesMasters/notesMaster1.xml" Id="Ree328c4e52de42f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f76400e1ae0447f" /><Relationship Type="http://schemas.openxmlformats.org/officeDocument/2006/relationships/notesMaster" Target="/ppt/notesMasters/notesMaster1.xml" Id="R8d73a18a833347b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32475ec1b644912" /><Relationship Type="http://schemas.openxmlformats.org/officeDocument/2006/relationships/notesMaster" Target="/ppt/notesMasters/notesMaster1.xml" Id="R7a7f67ea140a450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bd87592d359472b" /><Relationship Type="http://schemas.openxmlformats.org/officeDocument/2006/relationships/notesMaster" Target="/ppt/notesMasters/notesMaster1.xml" Id="R657c8d987e1545c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41979666d1f475a" /><Relationship Type="http://schemas.openxmlformats.org/officeDocument/2006/relationships/notesMaster" Target="/ppt/notesMasters/notesMaster1.xml" Id="R58fcfcce46374d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Swarnaditya Maitra</a:t>
            </a:r>
          </a:p>
          <a:p xmlns:a="http://schemas.openxmlformats.org/drawingml/2006/main">
            <a:r>
              <a:t>Target time: 50 seconds</a:t>
            </a:r>
          </a:p>
          <a:p xmlns:a="http://schemas.openxmlformats.org/drawingml/2006/main">
            <a:r>
              <a:t>Key message: The demo can help reviewers sort cases, but the external check shows that it is not ready to decide cases on its own.</a:t>
            </a:r>
          </a:p>
          <a:p xmlns:a="http://schemas.openxmlformats.org/drawingml/2006/main">
            <a:r>
              <a:t/>
            </a:r>
          </a:p>
          <a:p xmlns:a="http://schemas.openxmlformats.org/drawingml/2006/main">
            <a:r>
              <a:t>[Speaker script]</a:t>
            </a:r>
          </a:p>
          <a:p xmlns:a="http://schemas.openxmlformats.org/drawingml/2006/main">
            <a:r>
              <a:t>Good afternoon. We built Ad Safety Studio as a decision-support tool for a reviewer, not as an automatic policy judge. On our formal 48-image test, the model reached 0.979 macro F1, where 1 is best and every class counts equally. On a small external diagnostic set, that score fell to 0.555. That gap is the main story today. The local demo works, records the evidence behind each decision, and can help sort a review queue. It is not ready to make enforcement decisions on its own. I will return to that recommendation at the end. First, Vijay will introduce the team.</a:t>
            </a:r>
          </a:p>
          <a:p xmlns:a="http://schemas.openxmlformats.org/drawingml/2006/main">
            <a:r>
              <a:t/>
            </a:r>
          </a:p>
          <a:p xmlns:a="http://schemas.openxmlformats.org/drawingml/2006/main">
            <a:r>
              <a:t>[Sources]</a:t>
            </a:r>
          </a:p>
          <a:p xmlns:a="http://schemas.openxmlformats.org/drawingml/2006/main">
            <a:r>
              <a:t>- Project-relative: outputs/evaluation/metrics.json</a:t>
            </a:r>
          </a:p>
          <a:p xmlns:a="http://schemas.openxmlformats.org/drawingml/2006/main">
            <a:r>
              <a:t>- Project-relative: outputs/evaluation/external_spot_check.json</a:t>
            </a:r>
          </a:p>
          <a:p xmlns:a="http://schemas.openxmlformats.org/drawingml/2006/main">
            <a:r>
              <a:t>- Project-relative: outputs/app/app_shell.png</a:t>
            </a:r>
          </a:p>
          <a:p xmlns:a="http://schemas.openxmlformats.org/drawingml/2006/main">
            <a:r>
              <a:t>- Project-relative: outputs/app/browser_validation.json</a:t>
            </a:r>
          </a:p>
          <a:p xmlns:a="http://schemas.openxmlformats.org/drawingml/2006/main">
            <a:r>
              <a:t>- https://support.google.com/adspolicy/answer/6008942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Vijay Agnihotri</a:t>
            </a:r>
          </a:p>
          <a:p xmlns:a="http://schemas.openxmlformats.org/drawingml/2006/main">
            <a:r>
              <a:t>Target time: 25 seconds</a:t>
            </a:r>
          </a:p>
          <a:p xmlns:a="http://schemas.openxmlformats.org/drawingml/2006/main">
            <a:r>
              <a:t>Key message: All four team members present named sections, moving from the problem and data to results, limits, and next steps.</a:t>
            </a:r>
          </a:p>
          <a:p xmlns:a="http://schemas.openxmlformats.org/drawingml/2006/main">
            <a:r>
              <a:t/>
            </a:r>
          </a:p>
          <a:p xmlns:a="http://schemas.openxmlformats.org/drawingml/2006/main">
            <a:r>
              <a:t>[Speaker script]</a:t>
            </a:r>
          </a:p>
          <a:p xmlns:a="http://schemas.openxmlformats.org/drawingml/2006/main">
            <a:r>
              <a:t>We divided the presentation by responsibility, while keeping one shared story. I am Vijay, covering the data and error analysis. Swarnaditya covers the problem, formal results, and recommendation. Myetchae covers policy, architecture, the external check, and risk. Bickramjit covers method, prior research, and the working app. Swarnaditya will now frame the review problem.</a:t>
            </a:r>
          </a:p>
          <a:p xmlns:a="http://schemas.openxmlformats.org/drawingml/2006/main">
            <a:r>
              <a:t/>
            </a:r>
          </a:p>
          <a:p xmlns:a="http://schemas.openxmlformats.org/drawingml/2006/main">
            <a:r>
              <a:t>[Sources]</a:t>
            </a:r>
          </a:p>
          <a:p xmlns:a="http://schemas.openxmlformats.org/drawingml/2006/main">
            <a:r>
              <a:t>- Project-relative: README.md</a:t>
            </a:r>
          </a:p>
          <a:p xmlns:a="http://schemas.openxmlformats.org/drawingml/2006/main">
            <a:r>
              <a:t>- Project-relative: scripts/build_presentation.mjs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Swarnaditya Maitra</a:t>
            </a:r>
          </a:p>
          <a:p xmlns:a="http://schemas.openxmlformats.org/drawingml/2006/main">
            <a:r>
              <a:t>Target time: 40 seconds</a:t>
            </a:r>
          </a:p>
          <a:p xmlns:a="http://schemas.openxmlformats.org/drawingml/2006/main">
            <a:r>
              <a:t>Key message: The product goal is triage consistency, not a claim that one image can establish legality or fraud.</a:t>
            </a:r>
          </a:p>
          <a:p xmlns:a="http://schemas.openxmlformats.org/drawingml/2006/main">
            <a:r>
              <a:t/>
            </a:r>
          </a:p>
          <a:p xmlns:a="http://schemas.openxmlformats.org/drawingml/2006/main">
            <a:r>
              <a:t>[Speaker script]</a:t>
            </a:r>
          </a:p>
          <a:p xmlns:a="http://schemas.openxmlformats.org/drawingml/2006/main">
            <a:r>
              <a:t>Ad review is difficult because one creative can mix several kinds of evidence. A weapon may be obvious, important text may be small, and context can change what an image means. Our goal was not to replace a policy reviewer. We wanted to help a queue move faster, apply the same first-pass process to every image, and send uncertain cases to a person. Myetchae will now set the boundary around what the prototype can actually decide.</a:t>
            </a:r>
          </a:p>
          <a:p xmlns:a="http://schemas.openxmlformats.org/drawingml/2006/main">
            <a:r>
              <a:t/>
            </a:r>
          </a:p>
          <a:p xmlns:a="http://schemas.openxmlformats.org/drawingml/2006/main">
            <a:r>
              <a:t>[Sources]</a:t>
            </a:r>
          </a:p>
          <a:p xmlns:a="http://schemas.openxmlformats.org/drawingml/2006/main">
            <a:r>
              <a:t>- https://support.google.com/adspolicy/answer/6008942</a:t>
            </a:r>
          </a:p>
          <a:p xmlns:a="http://schemas.openxmlformats.org/drawingml/2006/main">
            <a:r>
              <a:t>- https://github.com/InteractiveAdvertisingBureau/Taxonomies/releases</a:t>
            </a:r>
          </a:p>
          <a:p xmlns:a="http://schemas.openxmlformats.org/drawingml/2006/main">
            <a:r>
              <a:t>- Project-relative: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Myetchae Thu</a:t>
            </a:r>
          </a:p>
          <a:p xmlns:a="http://schemas.openxmlformats.org/drawingml/2006/main">
            <a:r>
              <a:t>Target time: 45 seconds</a:t>
            </a:r>
          </a:p>
          <a:p xmlns:a="http://schemas.openxmlformats.org/drawingml/2006/main">
            <a:r>
              <a:t>Key message: The current prototype covers four visual labels and three workflow outcomes; it does not cover the full ad policy surface.</a:t>
            </a:r>
          </a:p>
          <a:p xmlns:a="http://schemas.openxmlformats.org/drawingml/2006/main">
            <a:r>
              <a:t/>
            </a:r>
          </a:p>
          <a:p xmlns:a="http://schemas.openxmlformats.org/drawingml/2006/main">
            <a:r>
              <a:t>[Speaker script]</a:t>
            </a:r>
          </a:p>
          <a:p xmlns:a="http://schemas.openxmlformats.org/drawingml/2006/main">
            <a:r>
              <a:t>We deliberately kept the scope narrow: safe, firearms, explosives, and visible financial-promotion cues. The financial label does not mean fraud or illegality. It means the image appears promotional, so our rules always send it to review. For the other labels, a readable policy file maps evidence to approve, review, or block. We do not cover landing pages, advertiser identity, geography, age rules, alcohol, tobacco, or the rest of the ad-policy surface. This is a triage prototype, not a complete policy engine. Vijay will show the data behind it.</a:t>
            </a:r>
          </a:p>
          <a:p xmlns:a="http://schemas.openxmlformats.org/drawingml/2006/main">
            <a:r>
              <a:t/>
            </a:r>
          </a:p>
          <a:p xmlns:a="http://schemas.openxmlformats.org/drawingml/2006/main">
            <a:r>
              <a:t>[Sources]</a:t>
            </a:r>
          </a:p>
          <a:p xmlns:a="http://schemas.openxmlformats.org/drawingml/2006/main">
            <a:r>
              <a:t>- Project-relative: configs/policy.yaml</a:t>
            </a:r>
          </a:p>
          <a:p xmlns:a="http://schemas.openxmlformats.org/drawingml/2006/main">
            <a:r>
              <a:t>- Project-relative: README.md</a:t>
            </a:r>
          </a:p>
          <a:p xmlns:a="http://schemas.openxmlformats.org/drawingml/2006/main">
            <a:r>
              <a:t>- https://support.google.com/adspolicy/answer/6008942</a:t>
            </a:r>
          </a:p>
          <a:p xmlns:a="http://schemas.openxmlformats.org/drawingml/2006/main">
            <a:r>
              <a:t>- https://github.com/InteractiveAdvertisingBureau/Taxonomies/releases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Vijay Agnihotri</a:t>
            </a:r>
          </a:p>
          <a:p xmlns:a="http://schemas.openxmlformats.org/drawingml/2006/main">
            <a:r>
              <a:t>Target time: 45 seconds</a:t>
            </a:r>
          </a:p>
          <a:p xmlns:a="http://schemas.openxmlformats.org/drawingml/2006/main">
            <a:r>
              <a:t>Key message: The split is leakage-aware, but the label-to-source mapping still creates a shortcut risk.</a:t>
            </a:r>
          </a:p>
          <a:p xmlns:a="http://schemas.openxmlformats.org/drawingml/2006/main">
            <a:r>
              <a:t/>
            </a:r>
          </a:p>
          <a:p xmlns:a="http://schemas.openxmlformats.org/drawingml/2006/main">
            <a:r>
              <a:t>[Speaker script]</a:t>
            </a:r>
          </a:p>
          <a:p xmlns:a="http://schemas.openxmlformats.org/drawingml/2006/main">
            <a:r>
              <a:t>The pilot contains 288 JPEG images. Every class has 48 training images, 12 validation images, and 12 final test images. We also kept each of the 215 source groups inside one split and checked that file hashes do not overlap. That reduces leakage, meaning the same campaign or exact image cannot appear on both sides of the evaluation. The weakness is source diversity. Safe and financial images are synthetic, while both weapon classes come from one weapons dataset. The counts are balanced, but the visual sources are not. The next slide makes that problem visible.</a:t>
            </a:r>
          </a:p>
          <a:p xmlns:a="http://schemas.openxmlformats.org/drawingml/2006/main">
            <a:r>
              <a:t/>
            </a:r>
          </a:p>
          <a:p xmlns:a="http://schemas.openxmlformats.org/drawingml/2006/main">
            <a:r>
              <a:t>[Sources]</a:t>
            </a:r>
          </a:p>
          <a:p xmlns:a="http://schemas.openxmlformats.org/drawingml/2006/main">
            <a:r>
              <a:t>- Project-relative: data/capstone_registry.csv</a:t>
            </a:r>
          </a:p>
          <a:p xmlns:a="http://schemas.openxmlformats.org/drawingml/2006/main">
            <a:r>
              <a:t>- Project-relative: outputs/evaluation/split_summary.csv</a:t>
            </a:r>
          </a:p>
          <a:p xmlns:a="http://schemas.openxmlformats.org/drawingml/2006/main">
            <a:r>
              <a:t>- https://huggingface.co/datasets/EthanGabis/ADautoGen-DS</a:t>
            </a:r>
          </a:p>
          <a:p xmlns:a="http://schemas.openxmlformats.org/drawingml/2006/main">
            <a:r>
              <a:t>- https://huggingface.co/datasets/rajshivanshuu/weapons_set1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Vijay Agnihotri</a:t>
            </a:r>
          </a:p>
          <a:p xmlns:a="http://schemas.openxmlformats.org/drawingml/2006/main">
            <a:r>
              <a:t>Target time: 40 seconds</a:t>
            </a:r>
          </a:p>
          <a:p xmlns:a="http://schemas.openxmlformats.org/drawingml/2006/main">
            <a:r>
              <a:t>Key message: The contact sheet makes the confounding visible: source style and class are tightly linked despite group-safe splitting.</a:t>
            </a:r>
          </a:p>
          <a:p xmlns:a="http://schemas.openxmlformats.org/drawingml/2006/main">
            <a:r>
              <a:t/>
            </a:r>
          </a:p>
          <a:p xmlns:a="http://schemas.openxmlformats.org/drawingml/2006/main">
            <a:r>
              <a:t>[Speaker script]</a:t>
            </a:r>
          </a:p>
          <a:p xmlns:a="http://schemas.openxmlformats.org/drawingml/2006/main">
            <a:r>
              <a:t>The contact sheet shows the shortcut risk more clearly than a metric can. Safe images look like generated product scenes. Weapon images are often isolated objects. Financial images repeat synthetic layouts. Even with a clean group split, a classifier can learn the look of the source instead of the policy concept itself. That does not make the formal result useless, but it limits the claim to this pilot domain. Myetchae will now show how the system keeps different kinds of evidence separate.</a:t>
            </a:r>
          </a:p>
          <a:p xmlns:a="http://schemas.openxmlformats.org/drawingml/2006/main">
            <a:r>
              <a:t/>
            </a:r>
          </a:p>
          <a:p xmlns:a="http://schemas.openxmlformats.org/drawingml/2006/main">
            <a:r>
              <a:t>[Sources]</a:t>
            </a:r>
          </a:p>
          <a:p xmlns:a="http://schemas.openxmlformats.org/drawingml/2006/main">
            <a:r>
              <a:t>- Project-relative: outputs/evaluation/dataset_contact_sheet.jpg</a:t>
            </a:r>
          </a:p>
          <a:p xmlns:a="http://schemas.openxmlformats.org/drawingml/2006/main">
            <a:r>
              <a:t>- Project-relative: data/capstone_registry.csv</a:t>
            </a:r>
          </a:p>
          <a:p xmlns:a="http://schemas.openxmlformats.org/drawingml/2006/main">
            <a:r>
              <a:t>- Project-relative: outputs/evaluation/split_summary.csv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Myetchae Thu</a:t>
            </a:r>
          </a:p>
          <a:p xmlns:a="http://schemas.openxmlformats.org/drawingml/2006/main">
            <a:r>
              <a:t>Target time: 50 seconds</a:t>
            </a:r>
          </a:p>
          <a:p xmlns:a="http://schemas.openxmlformats.org/drawingml/2006/main">
            <a:r>
              <a:t>Key message: The local stack keeps model, detector, OCR, policy, and audit evidence separate so a reviewer can inspect each contribution.</a:t>
            </a:r>
          </a:p>
          <a:p xmlns:a="http://schemas.openxmlformats.org/drawingml/2006/main">
            <a:r>
              <a:t/>
            </a:r>
          </a:p>
          <a:p xmlns:a="http://schemas.openxmlformats.org/drawingml/2006/main">
            <a:r>
              <a:t>[Speaker script]</a:t>
            </a:r>
          </a:p>
          <a:p xmlns:a="http://schemas.openxmlformats.org/drawingml/2006/main">
            <a:r>
              <a:t>The system runs locally and has three parts. PyTorch and timm run a frozen vision transformer, while Grounding DINO and Tesseract add optional object and text evidence. FastAPI coordinates those services, and Streamlit gives the reviewer one workspace for the image, scores, boxes, text, and timing. A versioned YAML policy then returns approve, review, or block with reason codes and a JSON audit record. Keeping the signals separate lets a reviewer inspect what each component contributed. It does not prove causation, but it is clearer than one unexplained score. Bickramjit will explain how we trained and tested the models.</a:t>
            </a:r>
          </a:p>
          <a:p xmlns:a="http://schemas.openxmlformats.org/drawingml/2006/main">
            <a:r>
              <a:t/>
            </a:r>
          </a:p>
          <a:p xmlns:a="http://schemas.openxmlformats.org/drawingml/2006/main">
            <a:r>
              <a:t>[Sources]</a:t>
            </a:r>
          </a:p>
          <a:p xmlns:a="http://schemas.openxmlformats.org/drawingml/2006/main">
            <a:r>
              <a:t>- Project-relative: README.md</a:t>
            </a:r>
          </a:p>
          <a:p xmlns:a="http://schemas.openxmlformats.org/drawingml/2006/main">
            <a:r>
              <a:t>- Project-relative: src/ad_safety/inference.py</a:t>
            </a:r>
          </a:p>
          <a:p xmlns:a="http://schemas.openxmlformats.org/drawingml/2006/main">
            <a:r>
              <a:t>- Project-relative: configs/policy.yaml</a:t>
            </a:r>
          </a:p>
          <a:p xmlns:a="http://schemas.openxmlformats.org/drawingml/2006/main">
            <a:r>
              <a:t>- https://huggingface.co/IDEA-Research/grounding-dino-tiny</a:t>
            </a:r>
          </a:p>
          <a:p xmlns:a="http://schemas.openxmlformats.org/drawingml/2006/main">
            <a:r>
              <a:t>- https://github.com/tesseract-ocr/tesseract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Bickramjit Basu</a:t>
            </a:r>
          </a:p>
          <a:p xmlns:a="http://schemas.openxmlformats.org/drawingml/2006/main">
            <a:r>
              <a:t>Target time: 50 seconds</a:t>
            </a:r>
          </a:p>
          <a:p xmlns:a="http://schemas.openxmlformats.org/drawingml/2006/main">
            <a:r>
              <a:t>Key message: Model selection and threshold calibration use validation data only; the final 48-image test remains untouched until evaluation.</a:t>
            </a:r>
          </a:p>
          <a:p xmlns:a="http://schemas.openxmlformats.org/drawingml/2006/main">
            <a:r>
              <a:t/>
            </a:r>
          </a:p>
          <a:p xmlns:a="http://schemas.openxmlformats.org/drawingml/2006/main">
            <a:r>
              <a:t>[Speaker script]</a:t>
            </a:r>
          </a:p>
          <a:p xmlns:a="http://schemas.openxmlformats.org/drawingml/2006/main">
            <a:r>
              <a:t>Because the dataset is small, we froze the ViT and ResNet-50 backbones instead of fine-tuning millions of weights. We then trained small logistic classifiers on training embeddings. We chose class thresholds only with the validation split. The 48-image test split was not used to train, choose a model, or tune a threshold, and we ran the final evaluation after those choices were locked. The chart shows the validation-only explosives threshold, about 0.173, with recall and precision both at 1.0 on that small validation sample. I will stay on for one slide to explain how prior research shaped the design.</a:t>
            </a:r>
          </a:p>
          <a:p xmlns:a="http://schemas.openxmlformats.org/drawingml/2006/main">
            <a:r>
              <a:t/>
            </a:r>
          </a:p>
          <a:p xmlns:a="http://schemas.openxmlformats.org/drawingml/2006/main">
            <a:r>
              <a:t>[Sources]</a:t>
            </a:r>
          </a:p>
          <a:p xmlns:a="http://schemas.openxmlformats.org/drawingml/2006/main">
            <a:r>
              <a:t>- Project-relative: scripts/train_and_evaluate.py</a:t>
            </a:r>
          </a:p>
          <a:p xmlns:a="http://schemas.openxmlformats.org/drawingml/2006/main">
            <a:r>
              <a:t>- Project-relative: outputs/evaluation/threshold_calibration.png</a:t>
            </a:r>
          </a:p>
          <a:p xmlns:a="http://schemas.openxmlformats.org/drawingml/2006/main">
            <a:r>
              <a:t>- Project-relative: outputs/evaluation/thresholds.csv</a:t>
            </a:r>
          </a:p>
          <a:p xmlns:a="http://schemas.openxmlformats.org/drawingml/2006/main">
            <a:r>
              <a:t>- Project-relative: outputs/evaluation/evaluation_manifest.json</a:t>
            </a:r>
          </a:p>
          <a:p xmlns:a="http://schemas.openxmlformats.org/drawingml/2006/main">
            <a:r>
              <a:t>- https://huggingface.co/timm/vit_base_patch16_224.augreg2_in21k_ft_in1k</a:t>
            </a:r>
          </a:p>
          <a:p xmlns:a="http://schemas.openxmlformats.org/drawingml/2006/main">
            <a:r>
              <a:t>- https://huggingface.co/timm/resnet50.a1_in1k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Bickramjit Basu</a:t>
            </a:r>
          </a:p>
          <a:p xmlns:a="http://schemas.openxmlformats.org/drawingml/2006/main">
            <a:r>
              <a:t>Target time: 40 seconds</a:t>
            </a:r>
          </a:p>
          <a:p xmlns:a="http://schemas.openxmlformats.org/drawingml/2006/main">
            <a:r>
              <a:t>Key message: The literature justifies the selected mechanisms, but it does not transfer benchmark performance to our dataset or policy task.</a:t>
            </a:r>
          </a:p>
          <a:p xmlns:a="http://schemas.openxmlformats.org/drawingml/2006/main">
            <a:r>
              <a:t/>
            </a:r>
          </a:p>
          <a:p xmlns:a="http://schemas.openxmlformats.org/drawingml/2006/main">
            <a:r>
              <a:t>[Speaker script]</a:t>
            </a:r>
          </a:p>
          <a:p xmlns:a="http://schemas.openxmlformats.org/drawingml/2006/main">
            <a:r>
              <a:t>Prior work helped us choose credible building blocks. The Vision Transformer paper supports transferable whole-image features. Grounding DINO supports text-guided object localization, and Tesseract provides visible-text extraction. We did not find an outside benchmark that was directly comparable to our four-label policy task, so the proposal targets are the benchmarks we report against. The papers explain why the components are reasonable choices. Only our saved evaluation supports the numbers in this presentation. Swarnaditya will now take us through those results.</a:t>
            </a:r>
          </a:p>
          <a:p xmlns:a="http://schemas.openxmlformats.org/drawingml/2006/main">
            <a:r>
              <a:t/>
            </a:r>
          </a:p>
          <a:p xmlns:a="http://schemas.openxmlformats.org/drawingml/2006/main">
            <a:r>
              <a:t>[Sources]</a:t>
            </a:r>
          </a:p>
          <a:p xmlns:a="http://schemas.openxmlformats.org/drawingml/2006/main">
            <a:r>
              <a:t>- https://arxiv.org/abs/2010.11929</a:t>
            </a:r>
          </a:p>
          <a:p xmlns:a="http://schemas.openxmlformats.org/drawingml/2006/main">
            <a:r>
              <a:t>- https://arxiv.org/abs/2303.05499</a:t>
            </a:r>
          </a:p>
          <a:p xmlns:a="http://schemas.openxmlformats.org/drawingml/2006/main">
            <a:r>
              <a:t>- https://huggingface.co/IDEA-Research/grounding-dino-tiny</a:t>
            </a:r>
          </a:p>
          <a:p xmlns:a="http://schemas.openxmlformats.org/drawingml/2006/main">
            <a:r>
              <a:t>- https://github.com/tesseract-ocr/tesseract</a:t>
            </a:r>
          </a:p>
          <a:p xmlns:a="http://schemas.openxmlformats.org/drawingml/2006/main">
            <a:r>
              <a:t>- https://huggingface.co/timm/vit_base_patch16_224.augreg2_in21k_ft_in1k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Swarnaditya Maitra</a:t>
            </a:r>
          </a:p>
          <a:p xmlns:a="http://schemas.openxmlformats.org/drawingml/2006/main">
            <a:r>
              <a:t>Target time: 70 seconds</a:t>
            </a:r>
          </a:p>
          <a:p xmlns:a="http://schemas.openxmlformats.org/drawingml/2006/main">
            <a:r>
              <a:t>Key message: The ViT leads the ResNet baseline on the untouched 48-image test. Safe precision is 1.0, so the proposal's &gt;0.98 Safe-class precision benchmark passes. Recall semantics differ: 0.97222 is multiclass-argmax restricted class-average recall, while validation-threshold operating recall averages 0.94444 and has a 0.91667 worst class. The threshold code used a validation tuning floor of &gt;=0.90; that is not the proposal acceptance target of per-class restricted recall &gt;0.95, which fails on the untouched test for firearms and explosives. ViT classifier-path p95 is 71.527 ms, above 50 ms; full end-to-end p95 is unassessed.</a:t>
            </a:r>
          </a:p>
          <a:p xmlns:a="http://schemas.openxmlformats.org/drawingml/2006/main">
            <a:r>
              <a:t/>
            </a:r>
          </a:p>
          <a:p xmlns:a="http://schemas.openxmlformats.org/drawingml/2006/main">
            <a:r>
              <a:t>[Speaker script]</a:t>
            </a:r>
          </a:p>
          <a:p xmlns:a="http://schemas.openxmlformats.org/drawingml/2006/main">
            <a:r>
              <a:t>On the untouched 48-image test, ViT reached 0.97913 macro F1, compared with 0.87315 for the ResNet-50 baseline. Safe precision was 1.0, so it passed the proposal target above 0.98, and none of the 12 safe test images crossed into a restricted class. The main caveat is recall. Under the operating thresholds, restricted-class recall averaged 0.94444, with a low value of 0.91667. Firearms and explosives were both below the proposal target of greater than 0.95 for every restricted class. The 0.97222 number uses simple highest-score classification, so it is a different metric. Speed also favors ResNet. ViT classifier-path p95 was 71.527 milliseconds, above the 50-millisecond target, while ResNet was 40.064. This benchmark excludes decoding, OCR, detection, network time, and rendering, so full end-to-end p95 is still unknown. Vijay will look at the one formal error.</a:t>
            </a:r>
          </a:p>
          <a:p xmlns:a="http://schemas.openxmlformats.org/drawingml/2006/main">
            <a:r>
              <a:t/>
            </a:r>
          </a:p>
          <a:p xmlns:a="http://schemas.openxmlformats.org/drawingml/2006/main">
            <a:r>
              <a:t>[Sources]</a:t>
            </a:r>
          </a:p>
          <a:p xmlns:a="http://schemas.openxmlformats.org/drawingml/2006/main">
            <a:r>
              <a:t>- Project-relative: Capstone Project Idea - Ad Safety.pdf</a:t>
            </a:r>
          </a:p>
          <a:p xmlns:a="http://schemas.openxmlformats.org/drawingml/2006/main">
            <a:r>
              <a:t>- Project-relative: outputs/evaluation/metrics.json</a:t>
            </a:r>
          </a:p>
          <a:p xmlns:a="http://schemas.openxmlformats.org/drawingml/2006/main">
            <a:r>
              <a:t>- Project-relative: outputs/evaluation/model_comparison.csv</a:t>
            </a:r>
          </a:p>
          <a:p xmlns:a="http://schemas.openxmlformats.org/drawingml/2006/main">
            <a:r>
              <a:t>- Project-relative: outputs/evaluation/model_comparison.png</a:t>
            </a:r>
          </a:p>
          <a:p xmlns:a="http://schemas.openxmlformats.org/drawingml/2006/main">
            <a:r>
              <a:t>- Project-relative: outputs/evaluation/latency.json</a:t>
            </a:r>
          </a:p>
          <a:p xmlns:a="http://schemas.openxmlformats.org/drawingml/2006/main">
            <a:r>
              <a:t>- Project-relative: outputs/evaluation/thresholds.csv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Vijay Agnihotri</a:t>
            </a:r>
          </a:p>
          <a:p xmlns:a="http://schemas.openxmlformats.org/drawingml/2006/main">
            <a:r>
              <a:t>Target time: 45 seconds</a:t>
            </a:r>
          </a:p>
          <a:p xmlns:a="http://schemas.openxmlformats.org/drawingml/2006/main">
            <a:r>
              <a:t>Key message: The only wrong class label went to REVIEW, but it still exposes fragile separation between firearms and explosives.</a:t>
            </a:r>
          </a:p>
          <a:p xmlns:a="http://schemas.openxmlformats.org/drawingml/2006/main">
            <a:r>
              <a:t/>
            </a:r>
          </a:p>
          <a:p xmlns:a="http://schemas.openxmlformats.org/drawingml/2006/main">
            <a:r>
              <a:t>[Speaker script]</a:t>
            </a:r>
          </a:p>
          <a:p xmlns:a="http://schemas.openxmlformats.org/drawingml/2006/main">
            <a:r>
              <a:t>The formal test had one wrong class label. A grenade image labeled explosives was predicted as firearms, while the other 47 labels were correct. More importantly, its firearm and explosive scores did not cross either class-specific block threshold. In the saved policy run, the case went to REVIEW rather than an automatic block or approval. The optional detector found restricted-object cues, but the class separation was still fragile. This is exactly the kind of edge case that makes the human review step necessary. Myetchae will now show what happened outside the pilot sources.</a:t>
            </a:r>
          </a:p>
          <a:p xmlns:a="http://schemas.openxmlformats.org/drawingml/2006/main">
            <a:r>
              <a:t/>
            </a:r>
          </a:p>
          <a:p xmlns:a="http://schemas.openxmlformats.org/drawingml/2006/main">
            <a:r>
              <a:t>[Sources]</a:t>
            </a:r>
          </a:p>
          <a:p xmlns:a="http://schemas.openxmlformats.org/drawingml/2006/main">
            <a:r>
              <a:t>- Project-relative: outputs/evaluation/per_class_metrics.csv</a:t>
            </a:r>
          </a:p>
          <a:p xmlns:a="http://schemas.openxmlformats.org/drawingml/2006/main">
            <a:r>
              <a:t>- Project-relative: outputs/evaluation/failure_cases.csv</a:t>
            </a:r>
          </a:p>
          <a:p xmlns:a="http://schemas.openxmlformats.org/drawingml/2006/main">
            <a:r>
              <a:t>- Project-relative: outputs/evaluation/confusion_matrix_vit.png</a:t>
            </a:r>
          </a:p>
          <a:p xmlns:a="http://schemas.openxmlformats.org/drawingml/2006/main">
            <a:r>
              <a:t>- Project-relative: data/capstone_dataset/test/explosives/explosives-a847a50b677d3214.jpg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Myetchae Thu</a:t>
            </a:r>
          </a:p>
          <a:p xmlns:a="http://schemas.openxmlformats.org/drawingml/2006/main">
            <a:r>
              <a:t>Target time: 60 seconds</a:t>
            </a:r>
          </a:p>
          <a:p xmlns:a="http://schemas.openxmlformats.org/drawingml/2006/main">
            <a:r>
              <a:t>Key message: In the small selected Wikimedia diagnostic, macro F1 falls to 0.55489 and 90 percent of nonweapon images receive a false detector signal.</a:t>
            </a:r>
          </a:p>
          <a:p xmlns:a="http://schemas.openxmlformats.org/drawingml/2006/main">
            <a:r>
              <a:t/>
            </a:r>
          </a:p>
          <a:p xmlns:a="http://schemas.openxmlformats.org/drawingml/2006/main">
            <a:r>
              <a:t>[Speaker script]</a:t>
            </a:r>
          </a:p>
          <a:p xmlns:a="http://schemas.openxmlformats.org/drawingml/2006/main">
            <a:r>
              <a:t>The external check used 26 manually reviewed Wikimedia images for diagnosis, not as a second formal test set. Macro F1 fell to 0.55489. At the current detector threshold, 90 percent of the nonweapon images in this small sample received a false detector signal. The examples show the pattern. A historical safe ad was blocked, one explosives image was classified as safe, and a financial example received a false box even though its policy route remained review. These images have different languages, layouts, ages, and photographic context from our training sources. The sample is small and selected, so this is not a population estimate. It is still enough to show that the formal score does not generalize reliably. Bickramjit will show what the app already does well.</a:t>
            </a:r>
          </a:p>
          <a:p xmlns:a="http://schemas.openxmlformats.org/drawingml/2006/main">
            <a:r>
              <a:t/>
            </a:r>
          </a:p>
          <a:p xmlns:a="http://schemas.openxmlformats.org/drawingml/2006/main">
            <a:r>
              <a:t>[Sources]</a:t>
            </a:r>
          </a:p>
          <a:p xmlns:a="http://schemas.openxmlformats.org/drawingml/2006/main">
            <a:r>
              <a:t>- Project-relative: outputs/evaluation/external_spot_check.json</a:t>
            </a:r>
          </a:p>
          <a:p xmlns:a="http://schemas.openxmlformats.org/drawingml/2006/main">
            <a:r>
              <a:t>- Project-relative: outputs/evaluation/external_spot_check.csv</a:t>
            </a:r>
          </a:p>
          <a:p xmlns:a="http://schemas.openxmlformats.org/drawingml/2006/main">
            <a:r>
              <a:t>- Project-relative: outputs/evaluation/external_annotated</a:t>
            </a:r>
          </a:p>
          <a:p xmlns:a="http://schemas.openxmlformats.org/drawingml/2006/main">
            <a:r>
              <a:t>- https://www.mediawiki.org/wiki/API:Imageinfo</a:t>
            </a:r>
          </a:p>
          <a:p xmlns:a="http://schemas.openxmlformats.org/drawingml/2006/main">
            <a:r>
              <a:t>- https://commons.wikimedia.org/wiki/Commons:Reusing_content_outside_Wikimedia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Bickramjit Basu</a:t>
            </a:r>
          </a:p>
          <a:p xmlns:a="http://schemas.openxmlformats.org/drawingml/2006/main">
            <a:r>
              <a:t>Target time: 50 seconds</a:t>
            </a:r>
          </a:p>
          <a:p xmlns:a="http://schemas.openxmlformats.org/drawingml/2006/main">
            <a:r>
              <a:t>Key message: The browser-validated workspace keeps the decision, evidence, timing, and exact audit record together while preserving human control over review cases.</a:t>
            </a:r>
          </a:p>
          <a:p xmlns:a="http://schemas.openxmlformats.org/drawingml/2006/main">
            <a:r>
              <a:t/>
            </a:r>
          </a:p>
          <a:p xmlns:a="http://schemas.openxmlformats.org/drawingml/2006/main">
            <a:r>
              <a:t>[Speaker script]</a:t>
            </a:r>
          </a:p>
          <a:p xmlns:a="http://schemas.openxmlformats.org/drawingml/2006/main">
            <a:r>
              <a:t>The working app keeps one case in one place. A reviewer uploads an image, turns optional evidence on or off, reviews the decision and the raw versus fused scores, and exports an audit record with hashes, model versions, options, and thresholds. This screenshot is a browser-validated firearm case that returned BLOCK. The 2,448-millisecond total shown here is one app run with optional stages. It is not the same measurement as the classifier-only p95 on slide 10. The session charts summarize cases from the current session only. They are not production monitoring or population evidence. Myetchae will connect those limits to the controls we still need.</a:t>
            </a:r>
          </a:p>
          <a:p xmlns:a="http://schemas.openxmlformats.org/drawingml/2006/main">
            <a:r>
              <a:t/>
            </a:r>
          </a:p>
          <a:p xmlns:a="http://schemas.openxmlformats.org/drawingml/2006/main">
            <a:r>
              <a:t>[Sources]</a:t>
            </a:r>
          </a:p>
          <a:p xmlns:a="http://schemas.openxmlformats.org/drawingml/2006/main">
            <a:r>
              <a:t>- Project-relative: app.py</a:t>
            </a:r>
          </a:p>
          <a:p xmlns:a="http://schemas.openxmlformats.org/drawingml/2006/main">
            <a:r>
              <a:t>- Project-relative: api.py</a:t>
            </a:r>
          </a:p>
          <a:p xmlns:a="http://schemas.openxmlformats.org/drawingml/2006/main">
            <a:r>
              <a:t>- Project-relative: outputs/app/browser_validation.json</a:t>
            </a:r>
          </a:p>
          <a:p xmlns:a="http://schemas.openxmlformats.org/drawingml/2006/main">
            <a:r>
              <a:t>- Project-relative: outputs/app/app_firearm_result.png</a:t>
            </a:r>
          </a:p>
          <a:p xmlns:a="http://schemas.openxmlformats.org/drawingml/2006/main">
            <a:r>
              <a:t>- Project-relative: src/ad_safety/inference.py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Myetchae Thu</a:t>
            </a:r>
          </a:p>
          <a:p xmlns:a="http://schemas.openxmlformats.org/drawingml/2006/main">
            <a:r>
              <a:t>Target time: 50 seconds</a:t>
            </a:r>
          </a:p>
          <a:p xmlns:a="http://schemas.openxmlformats.org/drawingml/2006/main">
            <a:r>
              <a:t>Key message: The main risks are source confounding, an uncalibrated detector, and classifier-only latency evidence. Full end-to-end p95, concurrent throughput, CPU and GPU load, MPS acceleration, and memory use were not measured; each needs an explicit control before a trial.</a:t>
            </a:r>
          </a:p>
          <a:p xmlns:a="http://schemas.openxmlformats.org/drawingml/2006/main">
            <a:r>
              <a:t/>
            </a:r>
          </a:p>
          <a:p xmlns:a="http://schemas.openxmlformats.org/drawingml/2006/main">
            <a:r>
              <a:t>[Speaker script]</a:t>
            </a:r>
          </a:p>
          <a:p xmlns:a="http://schemas.openxmlformats.org/drawingml/2006/main">
            <a:r>
              <a:t>Before a real pilot, we need controls in three areas. For data, we need diverse real campaigns and independent annotation, not source-linked synthetic shortcuts. For the detector, we need local box labels and recalibration, and we should not let the detector block by itself. For operations, we still need full end-to-end p95, concurrent throughput, and CPU, Apple GPU, and memory measurements. Today's controls reduce the chance of harm, but they do not remove the uncertainty. Our decision is no-go for autonomous use and go only for further human-reviewed validation. Swarnaditya will close with that path.</a:t>
            </a:r>
          </a:p>
          <a:p xmlns:a="http://schemas.openxmlformats.org/drawingml/2006/main">
            <a:r>
              <a:t/>
            </a:r>
          </a:p>
          <a:p xmlns:a="http://schemas.openxmlformats.org/drawingml/2006/main">
            <a:r>
              <a:t>[Sources]</a:t>
            </a:r>
          </a:p>
          <a:p xmlns:a="http://schemas.openxmlformats.org/drawingml/2006/main">
            <a:r>
              <a:t>- Project-relative: outputs/evaluation/external_spot_check.json</a:t>
            </a:r>
          </a:p>
          <a:p xmlns:a="http://schemas.openxmlformats.org/drawingml/2006/main">
            <a:r>
              <a:t>- Project-relative: outputs/evaluation/latency.json</a:t>
            </a:r>
          </a:p>
          <a:p xmlns:a="http://schemas.openxmlformats.org/drawingml/2006/main">
            <a:r>
              <a:t>- Project-relative: data/capstone_registry.csv</a:t>
            </a:r>
          </a:p>
          <a:p xmlns:a="http://schemas.openxmlformats.org/drawingml/2006/main">
            <a:r>
              <a:t>- Project-relative: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Swarnaditya Maitra</a:t>
            </a:r>
          </a:p>
          <a:p xmlns:a="http://schemas.openxmlformats.org/drawingml/2006/main">
            <a:r>
              <a:t>Target time: 55 seconds</a:t>
            </a:r>
          </a:p>
          <a:p xmlns:a="http://schemas.openxmlformats.org/drawingml/2006/main">
            <a:r>
              <a:t>Key message: This is a recommended 10-week plan and staffing assumption, not a measured commitment. A human-gated pilot starts only after evidence, quality, and explicit capacity gates pass.</a:t>
            </a:r>
          </a:p>
          <a:p xmlns:a="http://schemas.openxmlformats.org/drawingml/2006/main">
            <a:r>
              <a:t/>
            </a:r>
          </a:p>
          <a:p xmlns:a="http://schemas.openxmlformats.org/drawingml/2006/main">
            <a:r>
              <a:t>[Speaker script]</a:t>
            </a:r>
          </a:p>
          <a:p xmlns:a="http://schemas.openxmlformats.org/drawingml/2006/main">
            <a:r>
              <a:t>The 10-week roadmap is our planning recommendation, not a measured delivery promise. In weeks one through three, we would collect at least 1,000 real ads and lock an independent campaign-grouped holdout. In weeks four through six, we would recalibrate and require greater than 0.95 recall for every restricted class, with fewer than 2 percent safe crossings. In weeks seven through ten, we would run a shadow, human-reviewed pilot and test 10 concurrent requests with full end-to-end latency and resource tracking. If any gate fails, we stop and fix it before scaling. The project is complete as a reproducible demo, but the evidence tells us that the responsible next step is stronger validation, not autonomous enforcement. Thank you. We are ready for questions.</a:t>
            </a:r>
          </a:p>
          <a:p xmlns:a="http://schemas.openxmlformats.org/drawingml/2006/main">
            <a:r>
              <a:t/>
            </a:r>
          </a:p>
          <a:p xmlns:a="http://schemas.openxmlformats.org/drawingml/2006/main">
            <a:r>
              <a:t>[Sources]</a:t>
            </a:r>
          </a:p>
          <a:p xmlns:a="http://schemas.openxmlformats.org/drawingml/2006/main">
            <a:r>
              <a:t>- Project-relative: README.md</a:t>
            </a:r>
          </a:p>
          <a:p xmlns:a="http://schemas.openxmlformats.org/drawingml/2006/main">
            <a:r>
              <a:t>- Project-relative: outputs/evaluation/metrics.json</a:t>
            </a:r>
          </a:p>
          <a:p xmlns:a="http://schemas.openxmlformats.org/drawingml/2006/main">
            <a:r>
              <a:t>- Project-relative: outputs/evaluation/external_spot_check.json</a:t>
            </a:r>
          </a:p>
          <a:p xmlns:a="http://schemas.openxmlformats.org/drawingml/2006/main">
            <a:r>
              <a:t>- https://support.google.com/adspolicy/answer/6008942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a038258a11429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e04ef8bf174522" /><Relationship Type="http://schemas.openxmlformats.org/officeDocument/2006/relationships/slideLayout" Target="/ppt/slideLayouts/slideLayout1.xml" Id="R922a4b450391466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2a4b450391466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Ad Safety Project">
  <a:themeElements>
    <a:clrScheme name="Ad Safety Projec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Ad Safety Projec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537346cc01c4a27" /><Relationship Type="http://schemas.openxmlformats.org/officeDocument/2006/relationships/image" Target="/ppt/media/image.png" Id="Rf4b5061aa20f41cd" /><Relationship Type="http://schemas.openxmlformats.org/officeDocument/2006/relationships/notesSlide" Target="/ppt/notesSlides/notesSlide1.xml" Id="Re1e6eee973184b5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c58de26b5f744fb" /><Relationship Type="http://schemas.openxmlformats.org/officeDocument/2006/relationships/chart" Target="/ppt/slides/charts/chart1.xml" Id="Rb26e8869dee74824" /><Relationship Type="http://schemas.openxmlformats.org/officeDocument/2006/relationships/notesSlide" Target="/ppt/notesSlides/notesSlide2.xml" Id="R0afaf79bb69e451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d63d2c8360d47ad" /><Relationship Type="http://schemas.openxmlformats.org/officeDocument/2006/relationships/notesSlide" Target="/ppt/notesSlides/notesSlide3.xml" Id="R444e095f8c6649a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8c8270d791f404e" /><Relationship Type="http://schemas.openxmlformats.org/officeDocument/2006/relationships/notesSlide" Target="/ppt/notesSlides/notesSlide4.xml" Id="R76a9c73d236247b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064aa1901664715" /><Relationship Type="http://schemas.openxmlformats.org/officeDocument/2006/relationships/chart" Target="/ppt/slides/charts/chart2.xml" Id="R2a62e380847646ab" /><Relationship Type="http://schemas.openxmlformats.org/officeDocument/2006/relationships/notesSlide" Target="/ppt/notesSlides/notesSlide5.xml" Id="Rcdf847f005764f4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6c7b7d240de4867" /><Relationship Type="http://schemas.openxmlformats.org/officeDocument/2006/relationships/image" Target="/ppt/media/image.jpeg" Id="Re54c90783a5c40a3" /><Relationship Type="http://schemas.openxmlformats.org/officeDocument/2006/relationships/notesSlide" Target="/ppt/notesSlides/notesSlide6.xml" Id="R9a9acd6b5cc2456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75f77f4608d45bf" /><Relationship Type="http://schemas.openxmlformats.org/officeDocument/2006/relationships/notesSlide" Target="/ppt/notesSlides/notesSlide7.xml" Id="Ra3c27f8276a344c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b6cbd10def440e1" /><Relationship Type="http://schemas.openxmlformats.org/officeDocument/2006/relationships/image" Target="/ppt/media/image2.png" Id="R1e71ea8177634ecc" /><Relationship Type="http://schemas.openxmlformats.org/officeDocument/2006/relationships/notesSlide" Target="/ppt/notesSlides/notesSlide8.xml" Id="Rc9ce24205b7d4e6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ec1679c83774407" /><Relationship Type="http://schemas.openxmlformats.org/officeDocument/2006/relationships/notesSlide" Target="/ppt/notesSlides/notesSlide9.xml" Id="R3ba3cb985140487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6890a4aaebf4eea" /><Relationship Type="http://schemas.openxmlformats.org/officeDocument/2006/relationships/image" Target="/ppt/media/image3.png" Id="R90e706e5f58e48be" /><Relationship Type="http://schemas.openxmlformats.org/officeDocument/2006/relationships/notesSlide" Target="/ppt/notesSlides/notesSlide10.xml" Id="Rb18d56f03162478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5465ce1f0544f19" /><Relationship Type="http://schemas.openxmlformats.org/officeDocument/2006/relationships/chart" Target="/ppt/slides/charts/chart3.xml" Id="Rea05b542081344e2" /><Relationship Type="http://schemas.openxmlformats.org/officeDocument/2006/relationships/image" Target="/ppt/media/image2.jpeg" Id="Ra8ee64158c0c4b29" /><Relationship Type="http://schemas.openxmlformats.org/officeDocument/2006/relationships/notesSlide" Target="/ppt/notesSlides/notesSlide11.xml" Id="R33c8063e85d64dd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5affffc05034957" /><Relationship Type="http://schemas.openxmlformats.org/officeDocument/2006/relationships/image" Target="/ppt/media/image3.jpeg" Id="Rb087a065f4414ee3" /><Relationship Type="http://schemas.openxmlformats.org/officeDocument/2006/relationships/image" Target="/ppt/media/image4.jpeg" Id="Rc0979efeb96743b7" /><Relationship Type="http://schemas.openxmlformats.org/officeDocument/2006/relationships/image" Target="/ppt/media/image5.jpeg" Id="Rafff97483a46433f" /><Relationship Type="http://schemas.openxmlformats.org/officeDocument/2006/relationships/notesSlide" Target="/ppt/notesSlides/notesSlide12.xml" Id="R4ba0174833b34e2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8884270777044d4" /><Relationship Type="http://schemas.openxmlformats.org/officeDocument/2006/relationships/image" Target="/ppt/media/image4.png" Id="R6d3ca943c86f4ab7" /><Relationship Type="http://schemas.openxmlformats.org/officeDocument/2006/relationships/notesSlide" Target="/ppt/notesSlides/notesSlide13.xml" Id="Rab89a24c8bc54c3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2845d29a1c947c4" /><Relationship Type="http://schemas.openxmlformats.org/officeDocument/2006/relationships/notesSlide" Target="/ppt/notesSlides/notesSlide14.xml" Id="R22c48f880174461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eb74849d07e4cc5" /><Relationship Type="http://schemas.openxmlformats.org/officeDocument/2006/relationships/notesSlide" Target="/ppt/notesSlides/notesSlide15.xml" Id="Rc5600efdf2c04c00" /></Relationships>
</file>

<file path=ppt/slides/charts/chart1.xml><?xml version="1.0" encoding="utf-8"?>
<c:chartSpace xmlns:c="http://schemas.openxmlformats.org/drawingml/2006/chart">
  <c:lang val="en-US"/>
  <c:chart>
    <c:plotArea>
      <c:barChart>
        <c:barDir val="bar"/>
        <c:grouping val="clustered"/>
        <c:varyColors val="0"/>
        <c:ser>
          <c:idx val="0"/>
          <c:order val="0"/>
          <c:tx>
            <c:v>Assigned slides</c:v>
          </c:tx>
          <c:spPr>
            <a:solidFill xmlns:a="http://schemas.openxmlformats.org/drawingml/2006/main">
              <a:srgbClr val="3D8DFF"/>
            </a:solidFill>
          </c:spPr>
          <c:cat>
            <c:strLit>
              <c:ptCount val="4"/>
              <c:pt idx="0">
                <c:v>Swarnaditya</c:v>
              </c:pt>
              <c:pt idx="1">
                <c:v>Vijay</c:v>
              </c:pt>
              <c:pt idx="2">
                <c:v>Myetchae</c:v>
              </c:pt>
              <c:pt idx="3">
                <c:v>Bickramjit</c:v>
              </c:pt>
            </c:strLit>
          </c:cat>
          <c:val>
            <c:numLit>
              <c:formatCode>General</c:formatCode>
              <c:ptCount val="4"/>
              <c:pt idx="0">
                <c:v>4</c:v>
              </c:pt>
              <c:pt idx="1">
                <c:v>4</c:v>
              </c:pt>
              <c:pt idx="2">
                <c:v>4</c:v>
              </c:pt>
              <c:pt idx="3">
                <c:v>3</c:v>
              </c:pt>
            </c:numLit>
          </c:val>
        </c:ser>
        <c:ser>
          <c:idx val="1"/>
          <c:order val="1"/>
          <c:spPr>
            <a:solidFill xmlns:a="http://schemas.openxmlformats.org/drawingml/2006/main">
              <a:srgbClr val="6DCBF4"/>
            </a:solidFill>
          </c:spPr>
          <c:cat>
            <c:strLit>
              <c:ptCount val="4"/>
              <c:pt idx="0">
                <c:v>Swarnaditya</c:v>
              </c:pt>
              <c:pt idx="1">
                <c:v>Vijay</c:v>
              </c:pt>
              <c:pt idx="2">
                <c:v>Myetchae</c:v>
              </c:pt>
              <c:pt idx="3">
                <c:v>Bickramjit</c:v>
              </c:pt>
            </c:strLit>
          </c:cat>
          <c:val>
            <c:numLit>
              <c:formatCode>General</c:formatCode>
              <c:ptCount val="4"/>
              <c:pt idx="0">
                <c:v>0</c:v>
              </c:pt>
              <c:pt idx="1">
                <c:v>0</c:v>
              </c:pt>
              <c:pt idx="2">
                <c:v>0</c:v>
              </c:pt>
              <c:pt idx="3">
                <c:v>0</c:v>
              </c:pt>
            </c:numLit>
          </c:val>
        </c:ser>
        <c:dLbls>
          <c:txPr>
            <a:bodyPr xmlns:a="http://schemas.openxmlformats.org/drawingml/2006/main" anchorCtr="1"/>
            <a:lstStyle xmlns:a="http://schemas.openxmlformats.org/drawingml/2006/main"/>
            <a:p xmlns:a="http://schemas.openxmlformats.org/drawingml/2006/main">
              <a:pPr>
                <a:defRPr sz="1600" b="1">
                  <a:solidFill>
                    <a:srgbClr val="000000"/>
                  </a:solidFill>
                  <a:latin typeface="Arial"/>
                  <a:ea typeface="Arial"/>
                  <a:cs typeface="Arial"/>
                </a:defRPr>
              </a:pPr>
            </a:p>
          </c:txPr>
          <c:dLblPos val="outEnd"/>
          <c:showLegendKey val="0"/>
          <c:showVal val="0"/>
          <c:showCatName val="0"/>
          <c:showSerName val="0"/>
          <c:showPercent val="0"/>
          <c:showBubbleSize val="0"/>
          <c:showLeaderLines val="0"/>
        </c:dLbls>
        <c:gapWidth val="82"/>
        <c:axId val="48650112"/>
        <c:axId val="48672768"/>
      </c:barChart>
      <c:catAx>
        <c:axId val="48650112"/>
        <c:scaling>
          <c:orientation val="minMax"/>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600">
                <a:solidFill>
                  <a:srgbClr val="000000"/>
                </a:solidFill>
                <a:latin typeface="Arial"/>
                <a:ea typeface="Arial"/>
                <a:cs typeface="Arial"/>
              </a:defRPr>
            </a:pPr>
          </a:p>
        </c:txPr>
        <c:crossAx val="48672768"/>
      </c:catAx>
      <c:valAx>
        <c:axId val="48672768"/>
        <c:scaling>
          <c:orientation val="minMax"/>
          <c:max val="8"/>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600">
                <a:solidFill>
                  <a:srgbClr val="000000"/>
                </a:solidFill>
                <a:latin typeface="Arial"/>
                <a:ea typeface="Arial"/>
                <a:cs typeface="Arial"/>
              </a:defRPr>
            </a:pPr>
          </a:p>
        </c:txPr>
        <c:crossAx val="48650112"/>
        <c:crossBetween val="between"/>
        <c:majorUnit val="2"/>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Train</c:v>
          </c:tx>
          <c:spPr>
            <a:solidFill xmlns:a="http://schemas.openxmlformats.org/drawingml/2006/main">
              <a:srgbClr val="3D8DFF"/>
            </a:solidFill>
          </c:spPr>
          <c:cat>
            <c:strLit>
              <c:ptCount val="4"/>
              <c:pt idx="0">
                <c:v>Safe</c:v>
              </c:pt>
              <c:pt idx="1">
                <c:v>Firearms</c:v>
              </c:pt>
              <c:pt idx="2">
                <c:v>Explosives</c:v>
              </c:pt>
              <c:pt idx="3">
                <c:v>Financial</c:v>
              </c:pt>
            </c:strLit>
          </c:cat>
          <c:val>
            <c:numLit>
              <c:formatCode>General</c:formatCode>
              <c:ptCount val="4"/>
              <c:pt idx="0">
                <c:v>48</c:v>
              </c:pt>
              <c:pt idx="1">
                <c:v>48</c:v>
              </c:pt>
              <c:pt idx="2">
                <c:v>48</c:v>
              </c:pt>
              <c:pt idx="3">
                <c:v>48</c:v>
              </c:pt>
            </c:numLit>
          </c:val>
        </c:ser>
        <c:ser>
          <c:idx val="1"/>
          <c:order val="1"/>
          <c:tx>
            <c:v>Validation + test</c:v>
          </c:tx>
          <c:spPr>
            <a:solidFill xmlns:a="http://schemas.openxmlformats.org/drawingml/2006/main">
              <a:srgbClr val="6DCBF4"/>
            </a:solidFill>
          </c:spPr>
          <c:cat>
            <c:strLit>
              <c:ptCount val="4"/>
              <c:pt idx="0">
                <c:v>Safe</c:v>
              </c:pt>
              <c:pt idx="1">
                <c:v>Firearms</c:v>
              </c:pt>
              <c:pt idx="2">
                <c:v>Explosives</c:v>
              </c:pt>
              <c:pt idx="3">
                <c:v>Financial</c:v>
              </c:pt>
            </c:strLit>
          </c:cat>
          <c:val>
            <c:numLit>
              <c:formatCode>General</c:formatCode>
              <c:ptCount val="4"/>
              <c:pt idx="0">
                <c:v>24</c:v>
              </c:pt>
              <c:pt idx="1">
                <c:v>24</c:v>
              </c:pt>
              <c:pt idx="2">
                <c:v>24</c:v>
              </c:pt>
              <c:pt idx="3">
                <c:v>24</c:v>
              </c:pt>
            </c:numLit>
          </c:val>
        </c:ser>
        <c:dLbls>
          <c:txPr>
            <a:bodyPr xmlns:a="http://schemas.openxmlformats.org/drawingml/2006/main" anchorCtr="1"/>
            <a:lstStyle xmlns:a="http://schemas.openxmlformats.org/drawingml/2006/main"/>
            <a:p xmlns:a="http://schemas.openxmlformats.org/drawingml/2006/main">
              <a:pPr>
                <a:defRPr sz="1600" b="1">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8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600">
                <a:solidFill>
                  <a:srgbClr val="000000"/>
                </a:solidFill>
                <a:latin typeface="Arial"/>
                <a:ea typeface="Arial"/>
                <a:cs typeface="Arial"/>
              </a:defRPr>
            </a:pPr>
          </a:p>
        </c:txPr>
        <c:crossAx val="48672768"/>
      </c:catAx>
      <c:valAx>
        <c:axId val="48672768"/>
        <c:scaling>
          <c:orientation val="minMax"/>
          <c:max val="60"/>
          <c:min val="0"/>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600">
                <a:solidFill>
                  <a:srgbClr val="000000"/>
                </a:solidFill>
                <a:latin typeface="Arial"/>
                <a:ea typeface="Arial"/>
                <a:cs typeface="Arial"/>
              </a:defRPr>
            </a:pPr>
          </a:p>
        </c:txPr>
        <c:crossAx val="48650112"/>
        <c:crossBetween val="between"/>
        <c:majorUnit val="20"/>
      </c:valAx>
      <c:spPr>
        <a:noFill xmlns:a="http://schemas.openxmlformats.org/drawingml/2006/main"/>
        <a:ln xmlns:a="http://schemas.openxmlformats.org/drawingml/2006/main" w="0">
          <a:solidFill>
            <a:srgbClr val="FFFFFF"/>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600">
              <a:solidFill>
                <a:srgbClr val="00000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3.xml><?xml version="1.0" encoding="utf-8"?>
<c:chartSpace xmlns:c="http://schemas.openxmlformats.org/drawingml/2006/chart">
  <c:lang val="en-US"/>
  <c:chart>
    <c:plotArea>
      <c:barChart>
        <c:barDir val="col"/>
        <c:grouping val="clustered"/>
        <c:varyColors val="0"/>
        <c:ser>
          <c:idx val="0"/>
          <c:order val="0"/>
          <c:tx>
            <c:v>ViT F1</c:v>
          </c:tx>
          <c:spPr>
            <a:solidFill xmlns:a="http://schemas.openxmlformats.org/drawingml/2006/main">
              <a:srgbClr val="3D8DFF"/>
            </a:solidFill>
          </c:spPr>
          <c:cat>
            <c:strLit>
              <c:ptCount val="4"/>
              <c:pt idx="0">
                <c:v>Safe</c:v>
              </c:pt>
              <c:pt idx="1">
                <c:v>Firearms</c:v>
              </c:pt>
              <c:pt idx="2">
                <c:v>Explosives</c:v>
              </c:pt>
              <c:pt idx="3">
                <c:v>Financial</c:v>
              </c:pt>
            </c:strLit>
          </c:cat>
          <c:val>
            <c:numLit>
              <c:formatCode>0.00</c:formatCode>
              <c:ptCount val="4"/>
              <c:pt idx="0">
                <c:v>1</c:v>
              </c:pt>
              <c:pt idx="1">
                <c:v>0.96</c:v>
              </c:pt>
              <c:pt idx="2">
                <c:v>0.9565217391</c:v>
              </c:pt>
              <c:pt idx="3">
                <c:v>1</c:v>
              </c:pt>
            </c:numLit>
          </c:val>
        </c:ser>
        <c:ser>
          <c:idx val="1"/>
          <c:order val="1"/>
          <c:tx>
            <c:v>ResNet F1</c:v>
          </c:tx>
          <c:spPr>
            <a:solidFill xmlns:a="http://schemas.openxmlformats.org/drawingml/2006/main">
              <a:srgbClr val="6DCBF4"/>
            </a:solidFill>
          </c:spPr>
          <c:cat>
            <c:strLit>
              <c:ptCount val="4"/>
              <c:pt idx="0">
                <c:v>Safe</c:v>
              </c:pt>
              <c:pt idx="1">
                <c:v>Firearms</c:v>
              </c:pt>
              <c:pt idx="2">
                <c:v>Explosives</c:v>
              </c:pt>
              <c:pt idx="3">
                <c:v>Financial</c:v>
              </c:pt>
            </c:strLit>
          </c:cat>
          <c:val>
            <c:numLit>
              <c:formatCode>0.00</c:formatCode>
              <c:ptCount val="4"/>
              <c:pt idx="0">
                <c:v>0.7826086957</c:v>
              </c:pt>
              <c:pt idx="1">
                <c:v>0.96</c:v>
              </c:pt>
              <c:pt idx="2">
                <c:v>0.75</c:v>
              </c:pt>
              <c:pt idx="3">
                <c:v>1</c:v>
              </c:pt>
            </c:numLit>
          </c:val>
        </c:ser>
        <c:dLbls>
          <c:txPr>
            <a:bodyPr xmlns:a="http://schemas.openxmlformats.org/drawingml/2006/main" anchorCtr="1"/>
            <a:lstStyle xmlns:a="http://schemas.openxmlformats.org/drawingml/2006/main"/>
            <a:p xmlns:a="http://schemas.openxmlformats.org/drawingml/2006/main">
              <a:pPr>
                <a:defRPr sz="1600" b="1">
                  <a:solidFill>
                    <a:srgbClr val="000000"/>
                  </a:solidFill>
                  <a:latin typeface="Arial"/>
                  <a:ea typeface="Arial"/>
                  <a:cs typeface="Arial"/>
                </a:defRPr>
              </a:pPr>
            </a:p>
          </c:txPr>
          <c:dLblPos val="outEnd"/>
          <c:showLegendKey val="0"/>
          <c:showVal val="0"/>
          <c:showCatName val="0"/>
          <c:showSerName val="0"/>
          <c:showPercent val="0"/>
          <c:showBubbleSize val="0"/>
          <c:showLeaderLines val="0"/>
        </c:dLbls>
        <c:gapWidth val="82"/>
        <c:axId val="48650112"/>
        <c:axId val="48672768"/>
      </c:barChart>
      <c:catAx>
        <c:axId val="48650112"/>
        <c:scaling>
          <c:orientation val="minMax"/>
        </c:scaling>
        <c:delete val="0"/>
        <c:axPos val="b"/>
        <c:numFmt formatCode="0.00"/>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600">
                <a:solidFill>
                  <a:srgbClr val="000000"/>
                </a:solidFill>
                <a:latin typeface="Arial"/>
                <a:ea typeface="Arial"/>
                <a:cs typeface="Arial"/>
              </a:defRPr>
            </a:pPr>
          </a:p>
        </c:txPr>
        <c:crossAx val="48672768"/>
      </c:catAx>
      <c:valAx>
        <c:axId val="48672768"/>
        <c:scaling>
          <c:orientation val="minMax"/>
          <c:max val="1.1"/>
          <c:min val="0"/>
        </c:scaling>
        <c:delete val="0"/>
        <c:axPos val="l"/>
        <c:majorGridlines>
          <c:spPr>
            <a:ln xmlns:a="http://schemas.openxmlformats.org/drawingml/2006/main" w="9525">
              <a:solidFill>
                <a:srgbClr val="EDEDED"/>
              </a:solidFill>
              <a:prstDash val="solid"/>
            </a:ln>
          </c:spPr>
        </c:majorGridlines>
        <c:numFmt formatCode="0.00"/>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600">
                <a:solidFill>
                  <a:srgbClr val="000000"/>
                </a:solidFill>
                <a:latin typeface="Arial"/>
                <a:ea typeface="Arial"/>
                <a:cs typeface="Arial"/>
              </a:defRPr>
            </a:pPr>
          </a:p>
        </c:txPr>
        <c:crossAx val="48650112"/>
        <c:crossBetween val="between"/>
        <c:majorUnit val="0.25"/>
      </c:valAx>
      <c:spPr>
        <a:noFill xmlns:a="http://schemas.openxmlformats.org/drawingml/2006/main"/>
        <a:ln xmlns:a="http://schemas.openxmlformats.org/drawingml/2006/main" w="0">
          <a:solidFill>
            <a:srgbClr val="FFFFFF"/>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600">
              <a:solidFill>
                <a:srgbClr val="00000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Google-Shape-532-p58-2">
            <a:extLst xmlns:a="http://schemas.openxmlformats.org/drawingml/2006/main">
              <a:ext uri="{FF2B5EF4-FFF2-40B4-BE49-F238E27FC236}">
                <a16:creationId xmlns:a16="http://schemas.microsoft.com/office/drawing/2014/main" id="{0A95DE35-8D1A-4D7F-8164-85638184EAC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a:t>
            </a:r>
          </a:p>
        </p:txBody>
      </p:sp>
      <p:sp>
        <p:nvSpPr>
          <p:cNvPr id="2" name="Google-Shape-533-p58-3">
            <a:extLst xmlns:a="http://schemas.openxmlformats.org/drawingml/2006/main">
              <a:ext uri="{FF2B5EF4-FFF2-40B4-BE49-F238E27FC236}">
                <a16:creationId xmlns:a16="http://schemas.microsoft.com/office/drawing/2014/main" id="{198619D2-D20A-4BB8-A85B-69B295C23F4A}"/>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900">
                <a:solidFill>
                  <a:srgbClr val="000000"/>
                </a:solidFill>
                <a:latin typeface="Helvetica Neue"/>
                <a:ea typeface="Helvetica Neue"/>
                <a:cs typeface="Helvetica Neue"/>
              </a:defRPr>
            </a:pPr>
            <a:r>
              <a:rPr sz="1400">
                <a:solidFill>
                  <a:srgbClr val="000000"/>
                </a:solidFill>
                <a:latin typeface="Arial"/>
                <a:ea typeface="Arial"/>
                <a:cs typeface="Arial"/>
              </a:rPr>
              <a:t>MS_DSP_462 · REVIEW QUEUE DECISION SUPPORT</a:t>
            </a:r>
          </a:p>
        </p:txBody>
      </p:sp>
      <p:sp>
        <p:nvSpPr>
          <p:cNvPr id="3" name="Picture-3-4-backing">
            <a:extLst xmlns:a="http://schemas.openxmlformats.org/drawingml/2006/main">
              <a:ext uri="{FF2B5EF4-FFF2-40B4-BE49-F238E27FC236}">
                <a16:creationId xmlns:a16="http://schemas.microsoft.com/office/drawing/2014/main" id="{E1AEBF40-B241-4D17-9652-FBB013EC1041}"/>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pic>
        <p:nvPicPr>
          <p:cNvPr id="23" name="Picture-3-4"/>
          <p:cNvPicPr>
            <a:picLocks xmlns:a="http://schemas.openxmlformats.org/drawingml/2006/main" noChangeAspect="1"/>
          </p:cNvPicPr>
          <p:nvPr/>
        </p:nvPicPr>
        <p:blipFill>
          <a:blip xmlns:r="http://schemas.openxmlformats.org/officeDocument/2006/relationships" xmlns:a="http://schemas.openxmlformats.org/drawingml/2006/main" r:embed="Rf4b5061aa20f41cd"/>
          <a:srcRect xmlns:a="http://schemas.openxmlformats.org/drawingml/2006/main" l="0" t="0" r="0" b="0"/>
          <a:stretch xmlns:a="http://schemas.openxmlformats.org/drawingml/2006/main">
            <a:fillRect l="0" t="0" r="0" b="0"/>
          </a:stretch>
        </p:blipFill>
        <p:spPr>
          <a:xfrm xmlns:a="http://schemas.openxmlformats.org/drawingml/2006/main">
            <a:off x="6269069" y="1066800"/>
            <a:ext cx="5539740" cy="3116104"/>
          </a:xfrm>
          <a:prstGeom xmlns:a="http://schemas.openxmlformats.org/drawingml/2006/main" prst="rect">
            <a:avLst/>
          </a:prstGeom>
        </p:spPr>
      </p:pic>
      <p:sp>
        <p:nvSpPr>
          <p:cNvPr id="5" name="Google-Shape-534-p58-5">
            <a:extLst xmlns:a="http://schemas.openxmlformats.org/drawingml/2006/main">
              <a:ext uri="{FF2B5EF4-FFF2-40B4-BE49-F238E27FC236}">
                <a16:creationId xmlns:a16="http://schemas.microsoft.com/office/drawing/2014/main" id="{3CD64203-8C49-49AF-B445-1A88D940B14C}"/>
              </a:ext>
            </a:extLst>
          </p:cNvPr>
          <p:cNvSpPr>
            <a:spLocks xmlns:a="http://schemas.openxmlformats.org/drawingml/2006/main" noGrp="1"/>
          </p:cNvSpPr>
          <p:nvPr/>
        </p:nvSpPr>
        <p:spPr>
          <a:xfrm xmlns:a="http://schemas.openxmlformats.org/drawingml/2006/main">
            <a:off x="393668" y="2031968"/>
            <a:ext cx="5537168" cy="3962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800" b="1">
                <a:solidFill>
                  <a:srgbClr val="000000"/>
                </a:solidFill>
                <a:latin typeface="Arial"/>
                <a:ea typeface="Arial"/>
                <a:cs typeface="Arial"/>
              </a:rPr>
              <a:t/>
            </a:r>
          </a:p>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7FA93B07-58FA-4C81-A0F3-E9BB1008D9E0}"/>
              </a:ext>
            </a:extLst>
          </p:cNvPr>
          <p:cNvSpPr>
            <a:spLocks xmlns:a="http://schemas.openxmlformats.org/drawingml/2006/main" noGrp="1"/>
          </p:cNvSpPr>
          <p:nvPr/>
        </p:nvSpPr>
        <p:spPr>
          <a:xfrm xmlns:a="http://schemas.openxmlformats.org/drawingml/2006/main">
            <a:off x="393668" y="1066800"/>
            <a:ext cx="5381625"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050" b="0">
                <a:solidFill>
                  <a:srgbClr val="000000"/>
                </a:solidFill>
                <a:latin typeface="Arial"/>
                <a:ea typeface="Arial"/>
                <a:cs typeface="Arial"/>
              </a:defRPr>
            </a:pPr>
            <a:r>
              <a:rPr sz="4050" b="0">
                <a:solidFill>
                  <a:srgbClr val="000000"/>
                </a:solidFill>
                <a:latin typeface="Arial"/>
                <a:ea typeface="Arial"/>
                <a:cs typeface="Arial"/>
              </a:rPr>
              <a:t>Ad Safety Moderation</a:t>
            </a:r>
          </a:p>
          <a:p xmlns:a="http://schemas.openxmlformats.org/drawingml/2006/main">
            <a:pPr algn="l">
              <a:defRPr sz="4050" b="0">
                <a:solidFill>
                  <a:srgbClr val="000000"/>
                </a:solidFill>
                <a:latin typeface="Arial"/>
                <a:ea typeface="Arial"/>
                <a:cs typeface="Arial"/>
              </a:defRPr>
            </a:pPr>
            <a:r>
              <a:rPr sz="4050" b="0">
                <a:solidFill>
                  <a:srgbClr val="000000"/>
                </a:solidFill>
                <a:latin typeface="Arial"/>
                <a:ea typeface="Arial"/>
                <a:cs typeface="Arial"/>
              </a:rPr>
              <a:t>Pilot results and next steps</a:t>
            </a:r>
          </a:p>
        </p:txBody>
      </p:sp>
      <p:sp>
        <p:nvSpPr>
          <p:cNvPr id="7" name="">
            <a:extLst xmlns:a="http://schemas.openxmlformats.org/drawingml/2006/main">
              <a:ext uri="{FF2B5EF4-FFF2-40B4-BE49-F238E27FC236}">
                <a16:creationId xmlns:a16="http://schemas.microsoft.com/office/drawing/2014/main" id="{BB1A3AD1-DB7F-423E-9E57-5CC2E8F852A2}"/>
              </a:ext>
            </a:extLst>
          </p:cNvPr>
          <p:cNvSpPr>
            <a:spLocks xmlns:a="http://schemas.openxmlformats.org/drawingml/2006/main" noGrp="1"/>
          </p:cNvSpPr>
          <p:nvPr/>
        </p:nvSpPr>
        <p:spPr>
          <a:xfrm xmlns:a="http://schemas.openxmlformats.org/drawingml/2006/main">
            <a:off x="393668" y="3333750"/>
            <a:ext cx="5381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00000"/>
                </a:solidFill>
                <a:latin typeface="Arial"/>
                <a:ea typeface="Arial"/>
                <a:cs typeface="Arial"/>
              </a:defRPr>
            </a:pPr>
            <a:r>
              <a:rPr sz="1725" b="1">
                <a:solidFill>
                  <a:srgbClr val="000000"/>
                </a:solidFill>
                <a:latin typeface="Arial"/>
                <a:ea typeface="Arial"/>
                <a:cs typeface="Arial"/>
              </a:rPr>
              <a:t>0.979 macro F1 on our 48-image test</a:t>
            </a:r>
          </a:p>
          <a:p xmlns:a="http://schemas.openxmlformats.org/drawingml/2006/main">
            <a:pPr algn="l">
              <a:defRPr sz="1725" b="1">
                <a:solidFill>
                  <a:srgbClr val="000000"/>
                </a:solidFill>
                <a:latin typeface="Arial"/>
                <a:ea typeface="Arial"/>
                <a:cs typeface="Arial"/>
              </a:defRPr>
            </a:pPr>
            <a:r>
              <a:rPr sz="1725" b="1">
                <a:solidFill>
                  <a:srgbClr val="000000"/>
                </a:solidFill>
                <a:latin typeface="Arial"/>
                <a:ea typeface="Arial"/>
                <a:cs typeface="Arial"/>
              </a:rPr>
              <a:t>0.555 macro F1 on the external check</a:t>
            </a:r>
          </a:p>
        </p:txBody>
      </p:sp>
      <p:sp>
        <p:nvSpPr>
          <p:cNvPr id="8" name="">
            <a:extLst xmlns:a="http://schemas.openxmlformats.org/drawingml/2006/main">
              <a:ext uri="{FF2B5EF4-FFF2-40B4-BE49-F238E27FC236}">
                <a16:creationId xmlns:a16="http://schemas.microsoft.com/office/drawing/2014/main" id="{89A04D98-8B08-48F5-8FCA-9F0FEF8B8682}"/>
              </a:ext>
            </a:extLst>
          </p:cNvPr>
          <p:cNvSpPr>
            <a:spLocks xmlns:a="http://schemas.openxmlformats.org/drawingml/2006/main" noGrp="1"/>
          </p:cNvSpPr>
          <p:nvPr/>
        </p:nvSpPr>
        <p:spPr>
          <a:xfrm xmlns:a="http://schemas.openxmlformats.org/drawingml/2006/main">
            <a:off x="393668" y="4619625"/>
            <a:ext cx="5381625" cy="1009650"/>
          </a:xfrm>
          <a:prstGeom xmlns:a="http://schemas.openxmlformats.org/drawingml/2006/main" prst="rect">
            <a:avLst/>
          </a:prstGeom>
          <a:solidFill xmlns:a="http://schemas.openxmlformats.org/drawingml/2006/main">
            <a:srgbClr val="EAF5FB"/>
          </a:solidFill>
          <a:ln xmlns:a="http://schemas.openxmlformats.org/drawingml/2006/main" w="9525">
            <a:solidFill>
              <a:srgbClr val="6DCBF4"/>
            </a:solidFill>
            <a:prstDash val="solid"/>
          </a:ln>
        </p:spPr>
      </p:sp>
      <p:sp>
        <p:nvSpPr>
          <p:cNvPr id="9" name="">
            <a:extLst xmlns:a="http://schemas.openxmlformats.org/drawingml/2006/main">
              <a:ext uri="{FF2B5EF4-FFF2-40B4-BE49-F238E27FC236}">
                <a16:creationId xmlns:a16="http://schemas.microsoft.com/office/drawing/2014/main" id="{B2719DEA-DAA8-4431-BF0D-FB89EA6E4E89}"/>
              </a:ext>
            </a:extLst>
          </p:cNvPr>
          <p:cNvSpPr>
            <a:spLocks xmlns:a="http://schemas.openxmlformats.org/drawingml/2006/main" noGrp="1"/>
          </p:cNvSpPr>
          <p:nvPr/>
        </p:nvSpPr>
        <p:spPr>
          <a:xfrm xmlns:a="http://schemas.openxmlformats.org/drawingml/2006/main">
            <a:off x="581025" y="4733925"/>
            <a:ext cx="5000625"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00000"/>
                </a:solidFill>
                <a:latin typeface="Arial"/>
                <a:ea typeface="Arial"/>
                <a:cs typeface="Arial"/>
              </a:defRPr>
            </a:pPr>
            <a:r>
              <a:rPr sz="1500" b="1">
                <a:solidFill>
                  <a:srgbClr val="000000"/>
                </a:solidFill>
                <a:latin typeface="Arial"/>
                <a:ea typeface="Arial"/>
                <a:cs typeface="Arial"/>
              </a:rPr>
              <a:t>Recommendation</a:t>
            </a:r>
          </a:p>
          <a:p xmlns:a="http://schemas.openxmlformats.org/drawingml/2006/main">
            <a:pPr algn="l">
              <a:defRPr sz="1500" b="1">
                <a:solidFill>
                  <a:srgbClr val="000000"/>
                </a:solidFill>
                <a:latin typeface="Arial"/>
                <a:ea typeface="Arial"/>
                <a:cs typeface="Arial"/>
              </a:defRPr>
            </a:pPr>
            <a:r>
              <a:rPr sz="1500" b="1">
                <a:solidFill>
                  <a:srgbClr val="000000"/>
                </a:solidFill>
                <a:latin typeface="Arial"/>
                <a:ea typeface="Arial"/>
                <a:cs typeface="Arial"/>
              </a:rPr>
              <a:t>Keep this as a human-reviewed demo. It is not ready to make decisions on its own.</a:t>
            </a:r>
          </a:p>
        </p:txBody>
      </p:sp>
      <p:sp>
        <p:nvSpPr>
          <p:cNvPr id="10" name="">
            <a:extLst xmlns:a="http://schemas.openxmlformats.org/drawingml/2006/main">
              <a:ext uri="{FF2B5EF4-FFF2-40B4-BE49-F238E27FC236}">
                <a16:creationId xmlns:a16="http://schemas.microsoft.com/office/drawing/2014/main" id="{22FB7AEC-1C77-405F-B6BE-B5CAE1B96ABB}"/>
              </a:ext>
            </a:extLst>
          </p:cNvPr>
          <p:cNvSpPr>
            <a:spLocks xmlns:a="http://schemas.openxmlformats.org/drawingml/2006/main" noGrp="1"/>
          </p:cNvSpPr>
          <p:nvPr/>
        </p:nvSpPr>
        <p:spPr>
          <a:xfrm xmlns:a="http://schemas.openxmlformats.org/drawingml/2006/main">
            <a:off x="6269069" y="4429125"/>
            <a:ext cx="5539740" cy="1200150"/>
          </a:xfrm>
          <a:prstGeom xmlns:a="http://schemas.openxmlformats.org/drawingml/2006/main" prst="rect">
            <a:avLst/>
          </a:prstGeom>
          <a:solidFill xmlns:a="http://schemas.openxmlformats.org/drawingml/2006/main">
            <a:srgbClr val="EAF5FB"/>
          </a:solidFill>
          <a:ln xmlns:a="http://schemas.openxmlformats.org/drawingml/2006/main" w="9525">
            <a:solidFill>
              <a:srgbClr val="6DCBF4"/>
            </a:solidFill>
            <a:prstDash val="solid"/>
          </a:ln>
        </p:spPr>
      </p:sp>
      <p:sp>
        <p:nvSpPr>
          <p:cNvPr id="11" name="">
            <a:extLst xmlns:a="http://schemas.openxmlformats.org/drawingml/2006/main">
              <a:ext uri="{FF2B5EF4-FFF2-40B4-BE49-F238E27FC236}">
                <a16:creationId xmlns:a16="http://schemas.microsoft.com/office/drawing/2014/main" id="{E5780A0C-6115-4F6A-9306-3A0351E24460}"/>
              </a:ext>
            </a:extLst>
          </p:cNvPr>
          <p:cNvSpPr>
            <a:spLocks xmlns:a="http://schemas.openxmlformats.org/drawingml/2006/main" noGrp="1"/>
          </p:cNvSpPr>
          <p:nvPr/>
        </p:nvSpPr>
        <p:spPr>
          <a:xfrm xmlns:a="http://schemas.openxmlformats.org/drawingml/2006/main">
            <a:off x="6419850" y="4619625"/>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3D8DFF"/>
                </a:solidFill>
                <a:latin typeface="Arial"/>
                <a:ea typeface="Arial"/>
                <a:cs typeface="Arial"/>
              </a:defRPr>
            </a:pPr>
            <a:r>
              <a:rPr sz="1200" b="1">
                <a:solidFill>
                  <a:srgbClr val="3D8DFF"/>
                </a:solidFill>
                <a:latin typeface="Arial"/>
                <a:ea typeface="Arial"/>
                <a:cs typeface="Arial"/>
              </a:rPr>
              <a:t>FASTER FIRST PASS</a:t>
            </a:r>
          </a:p>
        </p:txBody>
      </p:sp>
      <p:sp>
        <p:nvSpPr>
          <p:cNvPr id="12" name="">
            <a:extLst xmlns:a="http://schemas.openxmlformats.org/drawingml/2006/main">
              <a:ext uri="{FF2B5EF4-FFF2-40B4-BE49-F238E27FC236}">
                <a16:creationId xmlns:a16="http://schemas.microsoft.com/office/drawing/2014/main" id="{61FC13B4-6BF2-4798-B918-C8579BB5B65C}"/>
              </a:ext>
            </a:extLst>
          </p:cNvPr>
          <p:cNvSpPr>
            <a:spLocks xmlns:a="http://schemas.openxmlformats.org/drawingml/2006/main" noGrp="1"/>
          </p:cNvSpPr>
          <p:nvPr/>
        </p:nvSpPr>
        <p:spPr>
          <a:xfrm xmlns:a="http://schemas.openxmlformats.org/drawingml/2006/main">
            <a:off x="8191500" y="4619625"/>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3D8DFF"/>
                </a:solidFill>
                <a:latin typeface="Arial"/>
                <a:ea typeface="Arial"/>
                <a:cs typeface="Arial"/>
              </a:defRPr>
            </a:pPr>
            <a:r>
              <a:rPr sz="1200" b="1">
                <a:solidFill>
                  <a:srgbClr val="3D8DFF"/>
                </a:solidFill>
                <a:latin typeface="Arial"/>
                <a:ea typeface="Arial"/>
                <a:cs typeface="Arial"/>
              </a:rPr>
              <a:t>CLEARER REVIEW</a:t>
            </a:r>
          </a:p>
        </p:txBody>
      </p:sp>
      <p:sp>
        <p:nvSpPr>
          <p:cNvPr id="13" name="">
            <a:extLst xmlns:a="http://schemas.openxmlformats.org/drawingml/2006/main">
              <a:ext uri="{FF2B5EF4-FFF2-40B4-BE49-F238E27FC236}">
                <a16:creationId xmlns:a16="http://schemas.microsoft.com/office/drawing/2014/main" id="{C93CDCF2-7DEC-4D47-B9B1-3720560D061E}"/>
              </a:ext>
            </a:extLst>
          </p:cNvPr>
          <p:cNvSpPr>
            <a:spLocks xmlns:a="http://schemas.openxmlformats.org/drawingml/2006/main" noGrp="1"/>
          </p:cNvSpPr>
          <p:nvPr/>
        </p:nvSpPr>
        <p:spPr>
          <a:xfrm xmlns:a="http://schemas.openxmlformats.org/drawingml/2006/main">
            <a:off x="9963150" y="4619625"/>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3D8DFF"/>
                </a:solidFill>
                <a:latin typeface="Arial"/>
                <a:ea typeface="Arial"/>
                <a:cs typeface="Arial"/>
              </a:defRPr>
            </a:pPr>
            <a:r>
              <a:rPr sz="1200" b="1">
                <a:solidFill>
                  <a:srgbClr val="3D8DFF"/>
                </a:solidFill>
                <a:latin typeface="Arial"/>
                <a:ea typeface="Arial"/>
                <a:cs typeface="Arial"/>
              </a:rPr>
              <a:t>HUMAN CONTROL</a:t>
            </a:r>
          </a:p>
        </p:txBody>
      </p:sp>
      <p:sp>
        <p:nvSpPr>
          <p:cNvPr id="14" name="">
            <a:extLst xmlns:a="http://schemas.openxmlformats.org/drawingml/2006/main">
              <a:ext uri="{FF2B5EF4-FFF2-40B4-BE49-F238E27FC236}">
                <a16:creationId xmlns:a16="http://schemas.microsoft.com/office/drawing/2014/main" id="{7137EB8F-60B7-44BE-B947-3BBE8A4A86EE}"/>
              </a:ext>
            </a:extLst>
          </p:cNvPr>
          <p:cNvSpPr>
            <a:spLocks xmlns:a="http://schemas.openxmlformats.org/drawingml/2006/main" noGrp="1"/>
          </p:cNvSpPr>
          <p:nvPr/>
        </p:nvSpPr>
        <p:spPr>
          <a:xfrm xmlns:a="http://schemas.openxmlformats.org/drawingml/2006/main">
            <a:off x="6457950" y="5019675"/>
            <a:ext cx="1562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00" b="0">
                <a:solidFill>
                  <a:srgbClr val="5B6470"/>
                </a:solidFill>
                <a:latin typeface="Arial"/>
                <a:ea typeface="Arial"/>
                <a:cs typeface="Arial"/>
              </a:defRPr>
            </a:pPr>
            <a:r>
              <a:rPr sz="1100" b="0">
                <a:solidFill>
                  <a:srgbClr val="5B6470"/>
                </a:solidFill>
                <a:latin typeface="Arial"/>
                <a:ea typeface="Arial"/>
                <a:cs typeface="Arial"/>
              </a:rPr>
              <a:t>Sorts the queue</a:t>
            </a:r>
          </a:p>
        </p:txBody>
      </p:sp>
      <p:sp>
        <p:nvSpPr>
          <p:cNvPr id="15" name="">
            <a:extLst xmlns:a="http://schemas.openxmlformats.org/drawingml/2006/main">
              <a:ext uri="{FF2B5EF4-FFF2-40B4-BE49-F238E27FC236}">
                <a16:creationId xmlns:a16="http://schemas.microsoft.com/office/drawing/2014/main" id="{71490BCD-7107-49E7-81A6-28AE195C18D9}"/>
              </a:ext>
            </a:extLst>
          </p:cNvPr>
          <p:cNvSpPr>
            <a:spLocks xmlns:a="http://schemas.openxmlformats.org/drawingml/2006/main" noGrp="1"/>
          </p:cNvSpPr>
          <p:nvPr/>
        </p:nvSpPr>
        <p:spPr>
          <a:xfrm xmlns:a="http://schemas.openxmlformats.org/drawingml/2006/main">
            <a:off x="8172450" y="5019675"/>
            <a:ext cx="1771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00" b="0">
                <a:solidFill>
                  <a:srgbClr val="5B6470"/>
                </a:solidFill>
                <a:latin typeface="Arial"/>
                <a:ea typeface="Arial"/>
                <a:cs typeface="Arial"/>
              </a:defRPr>
            </a:pPr>
            <a:r>
              <a:rPr sz="1100" b="0">
                <a:solidFill>
                  <a:srgbClr val="5B6470"/>
                </a:solidFill>
                <a:latin typeface="Arial"/>
                <a:ea typeface="Arial"/>
                <a:cs typeface="Arial"/>
              </a:rPr>
              <a:t>Keeps scores + reasons</a:t>
            </a:r>
          </a:p>
        </p:txBody>
      </p:sp>
      <p:sp>
        <p:nvSpPr>
          <p:cNvPr id="16" name="">
            <a:extLst xmlns:a="http://schemas.openxmlformats.org/drawingml/2006/main">
              <a:ext uri="{FF2B5EF4-FFF2-40B4-BE49-F238E27FC236}">
                <a16:creationId xmlns:a16="http://schemas.microsoft.com/office/drawing/2014/main" id="{07754771-6463-41EB-B5B5-78251A427A12}"/>
              </a:ext>
            </a:extLst>
          </p:cNvPr>
          <p:cNvSpPr>
            <a:spLocks xmlns:a="http://schemas.openxmlformats.org/drawingml/2006/main" noGrp="1"/>
          </p:cNvSpPr>
          <p:nvPr/>
        </p:nvSpPr>
        <p:spPr>
          <a:xfrm xmlns:a="http://schemas.openxmlformats.org/drawingml/2006/main">
            <a:off x="9906000" y="5019675"/>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00" b="0">
                <a:solidFill>
                  <a:srgbClr val="5B6470"/>
                </a:solidFill>
                <a:latin typeface="Arial"/>
                <a:ea typeface="Arial"/>
                <a:cs typeface="Arial"/>
              </a:defRPr>
            </a:pPr>
            <a:r>
              <a:rPr sz="1100" b="0">
                <a:solidFill>
                  <a:srgbClr val="5B6470"/>
                </a:solidFill>
                <a:latin typeface="Arial"/>
                <a:ea typeface="Arial"/>
                <a:cs typeface="Arial"/>
              </a:rPr>
              <a:t>Reviewer makes final call</a:t>
            </a:r>
          </a:p>
        </p:txBody>
      </p:sp>
      <p:sp>
        <p:nvSpPr>
          <p:cNvPr id="17" name="">
            <a:extLst xmlns:a="http://schemas.openxmlformats.org/drawingml/2006/main">
              <a:ext uri="{FF2B5EF4-FFF2-40B4-BE49-F238E27FC236}">
                <a16:creationId xmlns:a16="http://schemas.microsoft.com/office/drawing/2014/main" id="{37A3FB37-603F-462A-ADAD-F8005C4FAD35}"/>
              </a:ext>
            </a:extLst>
          </p:cNvPr>
          <p:cNvSpPr>
            <a:spLocks xmlns:a="http://schemas.openxmlformats.org/drawingml/2006/main" noGrp="1"/>
          </p:cNvSpPr>
          <p:nvPr/>
        </p:nvSpPr>
        <p:spPr>
          <a:xfrm xmlns:a="http://schemas.openxmlformats.org/drawingml/2006/main">
            <a:off x="393668" y="171450"/>
            <a:ext cx="457200" cy="381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8" name="">
            <a:extLst xmlns:a="http://schemas.openxmlformats.org/drawingml/2006/main">
              <a:ext uri="{FF2B5EF4-FFF2-40B4-BE49-F238E27FC236}">
                <a16:creationId xmlns:a16="http://schemas.microsoft.com/office/drawing/2014/main" id="{D8615916-56D6-4DD8-A9E9-3DE8EADE6265}"/>
              </a:ext>
            </a:extLst>
          </p:cNvPr>
          <p:cNvSpPr>
            <a:spLocks xmlns:a="http://schemas.openxmlformats.org/drawingml/2006/main" noGrp="1"/>
          </p:cNvSpPr>
          <p:nvPr/>
        </p:nvSpPr>
        <p:spPr>
          <a:xfrm xmlns:a="http://schemas.openxmlformats.org/drawingml/2006/main">
            <a:off x="8715375" y="104775"/>
            <a:ext cx="30765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00" b="1">
                <a:solidFill>
                  <a:srgbClr val="5B6470"/>
                </a:solidFill>
                <a:latin typeface="Arial"/>
                <a:ea typeface="Arial"/>
                <a:cs typeface="Arial"/>
              </a:defRPr>
            </a:pPr>
            <a:r>
              <a:rPr sz="1000" b="1">
                <a:solidFill>
                  <a:srgbClr val="5B6470"/>
                </a:solidFill>
                <a:latin typeface="Arial"/>
                <a:ea typeface="Arial"/>
                <a:cs typeface="Arial"/>
              </a:rPr>
              <a:t>01 · EXECUTIVE SUMMARY</a:t>
            </a:r>
          </a:p>
        </p:txBody>
      </p:sp>
      <p:sp>
        <p:nvSpPr>
          <p:cNvPr id="19" name="">
            <a:extLst xmlns:a="http://schemas.openxmlformats.org/drawingml/2006/main">
              <a:ext uri="{FF2B5EF4-FFF2-40B4-BE49-F238E27FC236}">
                <a16:creationId xmlns:a16="http://schemas.microsoft.com/office/drawing/2014/main" id="{F96DBB86-F37F-49D2-A174-F786ED1A7211}"/>
              </a:ext>
            </a:extLst>
          </p:cNvPr>
          <p:cNvSpPr>
            <a:spLocks xmlns:a="http://schemas.openxmlformats.org/drawingml/2006/main" noGrp="1"/>
          </p:cNvSpPr>
          <p:nvPr/>
        </p:nvSpPr>
        <p:spPr>
          <a:xfrm xmlns:a="http://schemas.openxmlformats.org/drawingml/2006/main">
            <a:off x="609600" y="6553200"/>
            <a:ext cx="5118068"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00" b="1">
                <a:solidFill>
                  <a:srgbClr val="5B6470"/>
                </a:solidFill>
                <a:latin typeface="Arial"/>
                <a:ea typeface="Arial"/>
                <a:cs typeface="Arial"/>
              </a:defRPr>
            </a:pPr>
            <a:r>
              <a:rPr sz="1000" b="1">
                <a:solidFill>
                  <a:srgbClr val="5B6470"/>
                </a:solidFill>
                <a:latin typeface="Arial"/>
                <a:ea typeface="Arial"/>
                <a:cs typeface="Arial"/>
              </a:rPr>
              <a:t>PRESENTER  Swarnaditya Maitra</a:t>
            </a:r>
          </a:p>
        </p:txBody>
      </p:sp>
    </p:spTree>
    <p:extLst>
      <p:ext uri="{BB962C8B-B14F-4D97-AF65-F5344CB8AC3E}">
        <p14:creationId xmlns:p14="http://schemas.microsoft.com/office/powerpoint/2010/main" val="252282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Google-Shape-532-p58-2">
            <a:extLst xmlns:a="http://schemas.openxmlformats.org/drawingml/2006/main">
              <a:ext uri="{FF2B5EF4-FFF2-40B4-BE49-F238E27FC236}">
                <a16:creationId xmlns:a16="http://schemas.microsoft.com/office/drawing/2014/main" id="{A89C8B22-465D-4B49-90F7-3A5FE97DA91F}"/>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2</a:t>
            </a:r>
          </a:p>
        </p:txBody>
      </p:sp>
      <p:sp>
        <p:nvSpPr>
          <p:cNvPr id="2" name="Google-Shape-533-p58-3">
            <a:extLst xmlns:a="http://schemas.openxmlformats.org/drawingml/2006/main">
              <a:ext uri="{FF2B5EF4-FFF2-40B4-BE49-F238E27FC236}">
                <a16:creationId xmlns:a16="http://schemas.microsoft.com/office/drawing/2014/main" id="{26FD5E02-2EDF-408D-956A-95B0F459F742}"/>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900">
                <a:solidFill>
                  <a:srgbClr val="000000"/>
                </a:solidFill>
                <a:latin typeface="Helvetica Neue"/>
                <a:ea typeface="Helvetica Neue"/>
                <a:cs typeface="Helvetica Neue"/>
              </a:defRPr>
            </a:pPr>
            <a:r>
              <a:rPr sz="3600">
                <a:solidFill>
                  <a:srgbClr val="000000"/>
                </a:solidFill>
                <a:latin typeface="Arial"/>
                <a:ea typeface="Arial"/>
                <a:cs typeface="Arial"/>
              </a:rPr>
              <a:t>Team and
presentation plan</a:t>
            </a:r>
          </a:p>
        </p:txBody>
      </p:sp>
      <p:sp>
        <p:nvSpPr>
          <p:cNvPr id="3" name="Rounded-Rectangle-6-4">
            <a:extLst xmlns:a="http://schemas.openxmlformats.org/drawingml/2006/main">
              <a:ext uri="{FF2B5EF4-FFF2-40B4-BE49-F238E27FC236}">
                <a16:creationId xmlns:a16="http://schemas.microsoft.com/office/drawing/2014/main" id="{00586AF2-D0F7-4D44-BC63-FAC16001E9B1}"/>
              </a:ext>
            </a:extLst>
          </p:cNvPr>
          <p:cNvSpPr>
            <a:spLocks xmlns:a="http://schemas.openxmlformats.org/drawingml/2006/main" noGrp="1"/>
          </p:cNvSpPr>
          <p:nvPr/>
        </p:nvSpPr>
        <p:spPr>
          <a:xfrm xmlns:a="http://schemas.openxmlformats.org/drawingml/2006/main">
            <a:off x="6264402" y="236982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303939A1-6859-4EE5-919F-627C96081BD8}"/>
              </a:ext>
            </a:extLst>
          </p:cNvPr>
          <p:cNvSpPr>
            <a:spLocks xmlns:a="http://schemas.openxmlformats.org/drawingml/2006/main" noGrp="1"/>
          </p:cNvSpPr>
          <p:nvPr/>
        </p:nvSpPr>
        <p:spPr>
          <a:xfrm xmlns:a="http://schemas.openxmlformats.org/drawingml/2006/main">
            <a:off x="6561677" y="266480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800" b="1">
                <a:solidFill>
                  <a:srgbClr val="000000"/>
                </a:solidFill>
                <a:latin typeface="Arial"/>
                <a:ea typeface="Arial"/>
                <a:cs typeface="Arial"/>
              </a:rPr>
              <a:t>Vijay Agnihotri</a:t>
            </a:r>
          </a:p>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Arial"/>
                <a:ea typeface="Arial"/>
                <a:cs typeface="Arial"/>
              </a:rPr>
              <a:t>Team · data · EDA · error analysis</a:t>
            </a:r>
          </a:p>
        </p:txBody>
      </p:sp>
      <p:sp>
        <p:nvSpPr>
          <p:cNvPr id="5" name="Rounded-Rectangle-8-6">
            <a:extLst xmlns:a="http://schemas.openxmlformats.org/drawingml/2006/main">
              <a:ext uri="{FF2B5EF4-FFF2-40B4-BE49-F238E27FC236}">
                <a16:creationId xmlns:a16="http://schemas.microsoft.com/office/drawing/2014/main" id="{91884788-B953-457D-B9ED-43527F6ABBC1}"/>
              </a:ext>
            </a:extLst>
          </p:cNvPr>
          <p:cNvSpPr>
            <a:spLocks xmlns:a="http://schemas.openxmlformats.org/drawingml/2006/main" noGrp="1"/>
          </p:cNvSpPr>
          <p:nvPr/>
        </p:nvSpPr>
        <p:spPr>
          <a:xfrm xmlns:a="http://schemas.openxmlformats.org/drawingml/2006/main">
            <a:off x="6264402" y="393668"/>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6" name="Content-Placeholder-10-7">
            <a:extLst xmlns:a="http://schemas.openxmlformats.org/drawingml/2006/main">
              <a:ext uri="{FF2B5EF4-FFF2-40B4-BE49-F238E27FC236}">
                <a16:creationId xmlns:a16="http://schemas.microsoft.com/office/drawing/2014/main" id="{4AD2B4B5-9CE4-4C47-AAC0-74ACE46BD31E}"/>
              </a:ext>
            </a:extLst>
          </p:cNvPr>
          <p:cNvSpPr>
            <a:spLocks xmlns:a="http://schemas.openxmlformats.org/drawingml/2006/main" noGrp="1"/>
          </p:cNvSpPr>
          <p:nvPr/>
        </p:nvSpPr>
        <p:spPr>
          <a:xfrm xmlns:a="http://schemas.openxmlformats.org/drawingml/2006/main">
            <a:off x="6561677" y="688658"/>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800" b="1">
                <a:solidFill>
                  <a:srgbClr val="000000"/>
                </a:solidFill>
                <a:latin typeface="Arial"/>
                <a:ea typeface="Arial"/>
                <a:cs typeface="Arial"/>
              </a:rPr>
              <a:t>Swarnaditya Maitra</a:t>
            </a:r>
          </a:p>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Arial"/>
                <a:ea typeface="Arial"/>
                <a:cs typeface="Arial"/>
              </a:rPr>
              <a:t>Opening · problem · formal results · recommendation</a:t>
            </a:r>
          </a:p>
        </p:txBody>
      </p:sp>
      <p:sp>
        <p:nvSpPr>
          <p:cNvPr id="7" name="Rounded-Rectangle-1-8">
            <a:extLst xmlns:a="http://schemas.openxmlformats.org/drawingml/2006/main">
              <a:ext uri="{FF2B5EF4-FFF2-40B4-BE49-F238E27FC236}">
                <a16:creationId xmlns:a16="http://schemas.microsoft.com/office/drawing/2014/main" id="{D181EF54-8BE2-4877-94A8-00BADD9374B4}"/>
              </a:ext>
            </a:extLst>
          </p:cNvPr>
          <p:cNvSpPr>
            <a:spLocks xmlns:a="http://schemas.openxmlformats.org/drawingml/2006/main" noGrp="1"/>
          </p:cNvSpPr>
          <p:nvPr/>
        </p:nvSpPr>
        <p:spPr>
          <a:xfrm xmlns:a="http://schemas.openxmlformats.org/drawingml/2006/main">
            <a:off x="6264402" y="438150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8" name="Content-Placeholder-10-9">
            <a:extLst xmlns:a="http://schemas.openxmlformats.org/drawingml/2006/main">
              <a:ext uri="{FF2B5EF4-FFF2-40B4-BE49-F238E27FC236}">
                <a16:creationId xmlns:a16="http://schemas.microsoft.com/office/drawing/2014/main" id="{325D0B16-9A58-4BCB-866E-B4802577AEB7}"/>
              </a:ext>
            </a:extLst>
          </p:cNvPr>
          <p:cNvSpPr>
            <a:spLocks xmlns:a="http://schemas.openxmlformats.org/drawingml/2006/main" noGrp="1"/>
          </p:cNvSpPr>
          <p:nvPr/>
        </p:nvSpPr>
        <p:spPr>
          <a:xfrm xmlns:a="http://schemas.openxmlformats.org/drawingml/2006/main">
            <a:off x="6561677" y="467648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800" b="1">
                <a:solidFill>
                  <a:srgbClr val="000000"/>
                </a:solidFill>
                <a:latin typeface="Arial"/>
                <a:ea typeface="Arial"/>
                <a:cs typeface="Arial"/>
              </a:rPr>
              <a:t>Myetchae Thu + Bickramjit Basu</a:t>
            </a:r>
          </a:p>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Arial"/>
                <a:ea typeface="Arial"/>
                <a:cs typeface="Arial"/>
              </a:rPr>
              <a:t>Policy · architecture · external check · risks | method · research · app</a:t>
            </a:r>
          </a:p>
        </p:txBody>
      </p:sp>
      <p:graphicFrame>
        <p:nvGraphicFramePr>
          <p:cNvPr id="21" name="Chart"/>
          <p:cNvGraphicFramePr/>
          <p:nvPr/>
        </p:nvGraphicFramePr>
        <p:xfrm>
          <a:off xmlns:a="http://schemas.openxmlformats.org/drawingml/2006/main" x="408718" y="1409700"/>
          <a:ext xmlns:a="http://schemas.openxmlformats.org/drawingml/2006/main" cx="5124164" cy="5095875"/>
        </p:xfrm>
        <a:graphic xmlns:a="http://schemas.openxmlformats.org/drawingml/2006/main">
          <a:graphicData uri="http://schemas.openxmlformats.org/drawingml/2006/chart">
            <c:chart xmlns:r="http://schemas.openxmlformats.org/officeDocument/2006/relationships" xmlns:c="http://schemas.openxmlformats.org/drawingml/2006/chart" r:id="Rb26e8869dee74824"/>
          </a:graphicData>
        </a:graphic>
      </p:graphicFrame>
      <p:sp>
        <p:nvSpPr>
          <p:cNvPr id="10" name="">
            <a:extLst xmlns:a="http://schemas.openxmlformats.org/drawingml/2006/main">
              <a:ext uri="{FF2B5EF4-FFF2-40B4-BE49-F238E27FC236}">
                <a16:creationId xmlns:a16="http://schemas.microsoft.com/office/drawing/2014/main" id="{2E57EA05-B212-4BF8-929A-9C623B5E21C1}"/>
              </a:ext>
            </a:extLst>
          </p:cNvPr>
          <p:cNvSpPr>
            <a:spLocks xmlns:a="http://schemas.openxmlformats.org/drawingml/2006/main" noGrp="1"/>
          </p:cNvSpPr>
          <p:nvPr/>
        </p:nvSpPr>
        <p:spPr>
          <a:xfrm xmlns:a="http://schemas.openxmlformats.org/drawingml/2006/main">
            <a:off x="393668" y="171450"/>
            <a:ext cx="457200" cy="381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1" name="">
            <a:extLst xmlns:a="http://schemas.openxmlformats.org/drawingml/2006/main">
              <a:ext uri="{FF2B5EF4-FFF2-40B4-BE49-F238E27FC236}">
                <a16:creationId xmlns:a16="http://schemas.microsoft.com/office/drawing/2014/main" id="{1BAB18F4-F520-4052-BD98-79537BBD86B1}"/>
              </a:ext>
            </a:extLst>
          </p:cNvPr>
          <p:cNvSpPr>
            <a:spLocks xmlns:a="http://schemas.openxmlformats.org/drawingml/2006/main" noGrp="1"/>
          </p:cNvSpPr>
          <p:nvPr/>
        </p:nvSpPr>
        <p:spPr>
          <a:xfrm xmlns:a="http://schemas.openxmlformats.org/drawingml/2006/main">
            <a:off x="8715375" y="104775"/>
            <a:ext cx="30765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00" b="1">
                <a:solidFill>
                  <a:srgbClr val="5B6470"/>
                </a:solidFill>
                <a:latin typeface="Arial"/>
                <a:ea typeface="Arial"/>
                <a:cs typeface="Arial"/>
              </a:defRPr>
            </a:pPr>
            <a:r>
              <a:rPr sz="1000" b="1">
                <a:solidFill>
                  <a:srgbClr val="5B6470"/>
                </a:solidFill>
                <a:latin typeface="Arial"/>
                <a:ea typeface="Arial"/>
                <a:cs typeface="Arial"/>
              </a:rPr>
              <a:t>02 · TEAM</a:t>
            </a:r>
          </a:p>
        </p:txBody>
      </p:sp>
      <p:sp>
        <p:nvSpPr>
          <p:cNvPr id="12" name="">
            <a:extLst xmlns:a="http://schemas.openxmlformats.org/drawingml/2006/main">
              <a:ext uri="{FF2B5EF4-FFF2-40B4-BE49-F238E27FC236}">
                <a16:creationId xmlns:a16="http://schemas.microsoft.com/office/drawing/2014/main" id="{8C9FFA04-991E-49CB-9A8B-7D9565FDDE00}"/>
              </a:ext>
            </a:extLst>
          </p:cNvPr>
          <p:cNvSpPr>
            <a:spLocks xmlns:a="http://schemas.openxmlformats.org/drawingml/2006/main" noGrp="1"/>
          </p:cNvSpPr>
          <p:nvPr/>
        </p:nvSpPr>
        <p:spPr>
          <a:xfrm xmlns:a="http://schemas.openxmlformats.org/drawingml/2006/main">
            <a:off x="609600" y="6553200"/>
            <a:ext cx="5118068"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00" b="1">
                <a:solidFill>
                  <a:srgbClr val="5B6470"/>
                </a:solidFill>
                <a:latin typeface="Arial"/>
                <a:ea typeface="Arial"/>
                <a:cs typeface="Arial"/>
              </a:defRPr>
            </a:pPr>
            <a:r>
              <a:rPr sz="1000" b="1">
                <a:solidFill>
                  <a:srgbClr val="5B6470"/>
                </a:solidFill>
                <a:latin typeface="Arial"/>
                <a:ea typeface="Arial"/>
                <a:cs typeface="Arial"/>
              </a:rPr>
              <a:t>PRESENTER  Vijay Agnihotri</a:t>
            </a:r>
          </a:p>
        </p:txBody>
      </p:sp>
    </p:spTree>
    <p:extLst>
      <p:ext uri="{BB962C8B-B14F-4D97-AF65-F5344CB8AC3E}">
        <p14:creationId xmlns:p14="http://schemas.microsoft.com/office/powerpoint/2010/main" val="7706588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Rounded-Rectangle-5-1">
            <a:extLst xmlns:a="http://schemas.openxmlformats.org/drawingml/2006/main">
              <a:ext uri="{FF2B5EF4-FFF2-40B4-BE49-F238E27FC236}">
                <a16:creationId xmlns:a16="http://schemas.microsoft.com/office/drawing/2014/main" id="{DAE42554-5A0B-4749-A04C-EB0A04C10A84}"/>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6A70D334-66F0-4E13-9B06-C2F012A4C00A}"/>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7E2FB48F-3354-47BA-ABDC-F3E15577B928}"/>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175EAE2D-8A51-4BC0-83ED-58744118E81F}"/>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3</a:t>
            </a:r>
          </a:p>
        </p:txBody>
      </p:sp>
      <p:sp>
        <p:nvSpPr>
          <p:cNvPr id="5" name="Title-2-5">
            <a:extLst xmlns:a="http://schemas.openxmlformats.org/drawingml/2006/main">
              <a:ext uri="{FF2B5EF4-FFF2-40B4-BE49-F238E27FC236}">
                <a16:creationId xmlns:a16="http://schemas.microsoft.com/office/drawing/2014/main" id="{31E37B2F-0E9B-4F8A-B4AA-BF2B868C8896}"/>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900">
                <a:solidFill>
                  <a:srgbClr val="000000"/>
                </a:solidFill>
                <a:latin typeface="Helvetica Neue"/>
                <a:ea typeface="Helvetica Neue"/>
                <a:cs typeface="Helvetica Neue"/>
              </a:defRPr>
            </a:pPr>
            <a:r>
              <a:rPr sz="3450">
                <a:solidFill>
                  <a:srgbClr val="000000"/>
                </a:solidFill>
                <a:latin typeface="Arial"/>
                <a:ea typeface="Arial"/>
                <a:cs typeface="Arial"/>
              </a:rPr>
              <a:t>Ambiguous ads are hard to review consistently</a:t>
            </a:r>
          </a:p>
        </p:txBody>
      </p:sp>
      <p:sp>
        <p:nvSpPr>
          <p:cNvPr id="6" name="Content-Placeholder-9-6">
            <a:extLst xmlns:a="http://schemas.openxmlformats.org/drawingml/2006/main">
              <a:ext uri="{FF2B5EF4-FFF2-40B4-BE49-F238E27FC236}">
                <a16:creationId xmlns:a16="http://schemas.microsoft.com/office/drawing/2014/main" id="{9B5523F7-55F2-44AC-9356-1303043D7F2D}"/>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Arial"/>
                <a:ea typeface="Arial"/>
                <a:cs typeface="Arial"/>
              </a:rPr>
              <a:t>Move likely high-risk images to the front of the queue.</a:t>
            </a:r>
          </a:p>
        </p:txBody>
      </p:sp>
      <p:sp>
        <p:nvSpPr>
          <p:cNvPr id="7" name="Content-Placeholder-10-7">
            <a:extLst xmlns:a="http://schemas.openxmlformats.org/drawingml/2006/main">
              <a:ext uri="{FF2B5EF4-FFF2-40B4-BE49-F238E27FC236}">
                <a16:creationId xmlns:a16="http://schemas.microsoft.com/office/drawing/2014/main" id="{D0C803A0-5442-4A40-BA1E-978064B973E3}"/>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Arial"/>
                <a:ea typeface="Arial"/>
                <a:cs typeface="Arial"/>
              </a:rPr>
              <a:t>Send questions that pixels cannot answer to a reviewer.</a:t>
            </a:r>
          </a:p>
        </p:txBody>
      </p:sp>
      <p:sp>
        <p:nvSpPr>
          <p:cNvPr id="8" name="Content-Placeholder-11-8">
            <a:extLst xmlns:a="http://schemas.openxmlformats.org/drawingml/2006/main">
              <a:ext uri="{FF2B5EF4-FFF2-40B4-BE49-F238E27FC236}">
                <a16:creationId xmlns:a16="http://schemas.microsoft.com/office/drawing/2014/main" id="{F629701F-77D7-4AD0-B2A6-1EBDA276E1C3}"/>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Arial"/>
                <a:ea typeface="Arial"/>
                <a:cs typeface="Arial"/>
              </a:rPr>
              <a:t>Apply the same first-pass review to every image.</a:t>
            </a:r>
          </a:p>
        </p:txBody>
      </p:sp>
      <p:sp>
        <p:nvSpPr>
          <p:cNvPr id="9" name="Content-Placeholder-9-9">
            <a:extLst xmlns:a="http://schemas.openxmlformats.org/drawingml/2006/main">
              <a:ext uri="{FF2B5EF4-FFF2-40B4-BE49-F238E27FC236}">
                <a16:creationId xmlns:a16="http://schemas.microsoft.com/office/drawing/2014/main" id="{BCFC6A8B-D8FF-4E8B-B399-BDA10FE88483}"/>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3000" b="1">
                <a:solidFill>
                  <a:srgbClr val="3D8DFF"/>
                </a:solidFill>
                <a:latin typeface="Arial"/>
                <a:ea typeface="Arial"/>
                <a:cs typeface="Arial"/>
              </a:rPr>
              <a:t>PRIORITY</a:t>
            </a:r>
          </a:p>
        </p:txBody>
      </p:sp>
      <p:sp>
        <p:nvSpPr>
          <p:cNvPr id="10" name="Content-Placeholder-9-10">
            <a:extLst xmlns:a="http://schemas.openxmlformats.org/drawingml/2006/main">
              <a:ext uri="{FF2B5EF4-FFF2-40B4-BE49-F238E27FC236}">
                <a16:creationId xmlns:a16="http://schemas.microsoft.com/office/drawing/2014/main" id="{B72BF75E-5D4D-40D0-9B1F-46982A13FACA}"/>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2850" b="1">
                <a:solidFill>
                  <a:srgbClr val="3D8DFF"/>
                </a:solidFill>
                <a:latin typeface="Arial"/>
                <a:ea typeface="Arial"/>
                <a:cs typeface="Arial"/>
              </a:rPr>
              <a:t>CONSISTENCY</a:t>
            </a:r>
          </a:p>
        </p:txBody>
      </p:sp>
      <p:sp>
        <p:nvSpPr>
          <p:cNvPr id="11" name="Content-Placeholder-9-11">
            <a:extLst xmlns:a="http://schemas.openxmlformats.org/drawingml/2006/main">
              <a:ext uri="{FF2B5EF4-FFF2-40B4-BE49-F238E27FC236}">
                <a16:creationId xmlns:a16="http://schemas.microsoft.com/office/drawing/2014/main" id="{DA697907-FB72-4382-8B6A-38E1C3011D09}"/>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3150" b="1">
                <a:solidFill>
                  <a:srgbClr val="3D8DFF"/>
                </a:solidFill>
                <a:latin typeface="Arial"/>
                <a:ea typeface="Arial"/>
                <a:cs typeface="Arial"/>
              </a:rPr>
              <a:t>CONTEXT</a:t>
            </a:r>
          </a:p>
        </p:txBody>
      </p:sp>
      <p:sp>
        <p:nvSpPr>
          <p:cNvPr id="12" name="Content-Placeholder-15-12">
            <a:extLst xmlns:a="http://schemas.openxmlformats.org/drawingml/2006/main">
              <a:ext uri="{FF2B5EF4-FFF2-40B4-BE49-F238E27FC236}">
                <a16:creationId xmlns:a16="http://schemas.microsoft.com/office/drawing/2014/main" id="{BF978855-255F-4564-B551-1D7FF9670A17}"/>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000000"/>
                </a:solidFill>
                <a:latin typeface="Helvetica Neue"/>
                <a:ea typeface="Helvetica Neue"/>
                <a:cs typeface="Helvetica Neue"/>
              </a:defRPr>
            </a:pPr>
            <a:r>
              <a:rPr sz="1600" b="1">
                <a:solidFill>
                  <a:srgbClr val="3D8DFF"/>
                </a:solidFill>
                <a:latin typeface="Arial"/>
                <a:ea typeface="Arial"/>
                <a:cs typeface="Arial"/>
              </a:rPr>
              <a:t>BUSINESS PROBLEM</a:t>
            </a:r>
          </a:p>
          <a:p xmlns:a="http://schemas.openxmlformats.org/drawingml/2006/main">
            <a:pPr algn="l">
              <a:lnSpc>
                <a:spcPct val="100000"/>
              </a:lnSpc>
              <a:buNone/>
              <a:defRPr sz="1600">
                <a:solidFill>
                  <a:srgbClr val="000000"/>
                </a:solidFill>
                <a:latin typeface="Helvetica Neue"/>
                <a:ea typeface="Helvetica Neue"/>
                <a:cs typeface="Helvetica Neue"/>
              </a:defRPr>
            </a:pPr>
            <a:r>
              <a:rPr sz="1600">
                <a:solidFill>
                  <a:srgbClr val="000000"/>
                </a:solidFill>
                <a:latin typeface="Arial"/>
                <a:ea typeface="Arial"/>
                <a:cs typeface="Arial"/>
              </a:rPr>
              <a:t>An image may contain an obvious object, small text, or context that is easy to miss. Our prototype helps reviewers sort cases consistently and sends uncertain cases to a person.</a:t>
            </a:r>
          </a:p>
        </p:txBody>
      </p:sp>
      <p:sp>
        <p:nvSpPr>
          <p:cNvPr id="13" name="">
            <a:extLst xmlns:a="http://schemas.openxmlformats.org/drawingml/2006/main">
              <a:ext uri="{FF2B5EF4-FFF2-40B4-BE49-F238E27FC236}">
                <a16:creationId xmlns:a16="http://schemas.microsoft.com/office/drawing/2014/main" id="{9E730BE5-3182-4F7C-8139-CED2A38E13A3}"/>
              </a:ext>
            </a:extLst>
          </p:cNvPr>
          <p:cNvSpPr>
            <a:spLocks xmlns:a="http://schemas.openxmlformats.org/drawingml/2006/main" noGrp="1"/>
          </p:cNvSpPr>
          <p:nvPr/>
        </p:nvSpPr>
        <p:spPr>
          <a:xfrm xmlns:a="http://schemas.openxmlformats.org/drawingml/2006/main">
            <a:off x="393668" y="171450"/>
            <a:ext cx="457200" cy="381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4" name="">
            <a:extLst xmlns:a="http://schemas.openxmlformats.org/drawingml/2006/main">
              <a:ext uri="{FF2B5EF4-FFF2-40B4-BE49-F238E27FC236}">
                <a16:creationId xmlns:a16="http://schemas.microsoft.com/office/drawing/2014/main" id="{784B9FE4-DA55-48A8-9254-BC8011BCBCE9}"/>
              </a:ext>
            </a:extLst>
          </p:cNvPr>
          <p:cNvSpPr>
            <a:spLocks xmlns:a="http://schemas.openxmlformats.org/drawingml/2006/main" noGrp="1"/>
          </p:cNvSpPr>
          <p:nvPr/>
        </p:nvSpPr>
        <p:spPr>
          <a:xfrm xmlns:a="http://schemas.openxmlformats.org/drawingml/2006/main">
            <a:off x="8715375" y="104775"/>
            <a:ext cx="30765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00" b="1">
                <a:solidFill>
                  <a:srgbClr val="5B6470"/>
                </a:solidFill>
                <a:latin typeface="Arial"/>
                <a:ea typeface="Arial"/>
                <a:cs typeface="Arial"/>
              </a:defRPr>
            </a:pPr>
            <a:r>
              <a:rPr sz="1000" b="1">
                <a:solidFill>
                  <a:srgbClr val="5B6470"/>
                </a:solidFill>
                <a:latin typeface="Arial"/>
                <a:ea typeface="Arial"/>
                <a:cs typeface="Arial"/>
              </a:rPr>
              <a:t>03 · BUSINESS PROBLEM</a:t>
            </a:r>
          </a:p>
        </p:txBody>
      </p:sp>
      <p:sp>
        <p:nvSpPr>
          <p:cNvPr id="15" name="">
            <a:extLst xmlns:a="http://schemas.openxmlformats.org/drawingml/2006/main">
              <a:ext uri="{FF2B5EF4-FFF2-40B4-BE49-F238E27FC236}">
                <a16:creationId xmlns:a16="http://schemas.microsoft.com/office/drawing/2014/main" id="{89CFF82A-262B-4E60-BCFC-07A75BAA46AC}"/>
              </a:ext>
            </a:extLst>
          </p:cNvPr>
          <p:cNvSpPr>
            <a:spLocks xmlns:a="http://schemas.openxmlformats.org/drawingml/2006/main" noGrp="1"/>
          </p:cNvSpPr>
          <p:nvPr/>
        </p:nvSpPr>
        <p:spPr>
          <a:xfrm xmlns:a="http://schemas.openxmlformats.org/drawingml/2006/main">
            <a:off x="609600" y="6553200"/>
            <a:ext cx="5118068"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00" b="1">
                <a:solidFill>
                  <a:srgbClr val="5B6470"/>
                </a:solidFill>
                <a:latin typeface="Arial"/>
                <a:ea typeface="Arial"/>
                <a:cs typeface="Arial"/>
              </a:defRPr>
            </a:pPr>
            <a:r>
              <a:rPr sz="1000" b="1">
                <a:solidFill>
                  <a:srgbClr val="5B6470"/>
                </a:solidFill>
                <a:latin typeface="Arial"/>
                <a:ea typeface="Arial"/>
                <a:cs typeface="Arial"/>
              </a:rPr>
              <a:t>PRESENTER  Swarnaditya Maitra</a:t>
            </a:r>
          </a:p>
        </p:txBody>
      </p:sp>
    </p:spTree>
    <p:extLst>
      <p:ext uri="{BB962C8B-B14F-4D97-AF65-F5344CB8AC3E}">
        <p14:creationId xmlns:p14="http://schemas.microsoft.com/office/powerpoint/2010/main" val="207946546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Number-Placeholder-3-2">
            <a:extLst xmlns:a="http://schemas.openxmlformats.org/drawingml/2006/main">
              <a:ext uri="{FF2B5EF4-FFF2-40B4-BE49-F238E27FC236}">
                <a16:creationId xmlns:a16="http://schemas.microsoft.com/office/drawing/2014/main" id="{5D54924A-73A9-4B76-A4C4-F5ADCA285A02}"/>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4</a:t>
            </a:r>
          </a:p>
        </p:txBody>
      </p:sp>
      <p:sp>
        <p:nvSpPr>
          <p:cNvPr id="2" name="Title-10-3">
            <a:extLst xmlns:a="http://schemas.openxmlformats.org/drawingml/2006/main">
              <a:ext uri="{FF2B5EF4-FFF2-40B4-BE49-F238E27FC236}">
                <a16:creationId xmlns:a16="http://schemas.microsoft.com/office/drawing/2014/main" id="{5D49B424-2704-4404-9D8E-D8F1B6CD85F4}"/>
              </a:ext>
            </a:extLst>
          </p:cNvPr>
          <p:cNvSpPr>
            <a:spLocks xmlns:a="http://schemas.openxmlformats.org/drawingml/2006/main" noGrp="1"/>
          </p:cNvSpPr>
          <p:nvPr/>
        </p:nvSpPr>
        <p:spPr>
          <a:xfrm xmlns:a="http://schemas.openxmlformats.org/drawingml/2006/main">
            <a:off x="609600" y="344043"/>
            <a:ext cx="11188637"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900">
                <a:solidFill>
                  <a:srgbClr val="000000"/>
                </a:solidFill>
                <a:latin typeface="Helvetica Neue"/>
                <a:ea typeface="Helvetica Neue"/>
                <a:cs typeface="Helvetica Neue"/>
              </a:defRPr>
            </a:pPr>
            <a:r>
              <a:rPr sz="3600">
                <a:solidFill>
                  <a:srgbClr val="000000"/>
                </a:solidFill>
                <a:latin typeface="Arial"/>
                <a:ea typeface="Arial"/>
                <a:cs typeface="Arial"/>
              </a:rPr>
              <a:t>Four labels are not a full ad policy</a:t>
            </a:r>
          </a:p>
        </p:txBody>
      </p:sp>
      <p:cxnSp>
        <p:nvCxnSpPr>
          <p:cNvPr id="21" name="Google-Shape-2259-p159-4"/>
          <p:cNvCxnSpPr/>
          <p:nvPr/>
        </p:nvCxnSpPr>
        <p:spPr>
          <a:xfrm xmlns:a="http://schemas.openxmlformats.org/drawingml/2006/main">
            <a:off x="393668" y="5341620"/>
            <a:ext cx="11404568"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F4CE9FBD-C396-4862-ACEC-4086A1FAC97A}"/>
              </a:ext>
            </a:extLst>
          </p:cNvPr>
          <p:cNvSpPr>
            <a:spLocks xmlns:a="http://schemas.openxmlformats.org/drawingml/2006/main" noGrp="1"/>
          </p:cNvSpPr>
          <p:nvPr/>
        </p:nvSpPr>
        <p:spPr>
          <a:xfrm xmlns:a="http://schemas.openxmlformats.org/drawingml/2006/main">
            <a:off x="337757" y="5288089"/>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FF9D494D-948F-45EA-938F-BD6933797213}"/>
              </a:ext>
            </a:extLst>
          </p:cNvPr>
          <p:cNvSpPr>
            <a:spLocks xmlns:a="http://schemas.openxmlformats.org/drawingml/2006/main" noGrp="1"/>
          </p:cNvSpPr>
          <p:nvPr/>
        </p:nvSpPr>
        <p:spPr>
          <a:xfrm xmlns:a="http://schemas.openxmlformats.org/drawingml/2006/main">
            <a:off x="4251770" y="5288089"/>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F75DEECE-1B5C-477D-9253-3200F67ED641}"/>
              </a:ext>
            </a:extLst>
          </p:cNvPr>
          <p:cNvSpPr>
            <a:spLocks xmlns:a="http://schemas.openxmlformats.org/drawingml/2006/main" noGrp="1"/>
          </p:cNvSpPr>
          <p:nvPr/>
        </p:nvSpPr>
        <p:spPr>
          <a:xfrm xmlns:a="http://schemas.openxmlformats.org/drawingml/2006/main">
            <a:off x="8176070" y="5288089"/>
            <a:ext cx="107061" cy="107061"/>
          </a:xfrm>
          <a:prstGeom xmlns:a="http://schemas.openxmlformats.org/drawingml/2006/main" prst="ellipse">
            <a:avLst/>
          </a:prstGeom>
          <a:solidFill xmlns:a="http://schemas.openxmlformats.org/drawingml/2006/main">
            <a:srgbClr val="000000"/>
          </a:solidFill>
        </p:spPr>
      </p:sp>
      <p:sp>
        <p:nvSpPr>
          <p:cNvPr id="7" name="Rounded-Rectangle-19-8">
            <a:extLst xmlns:a="http://schemas.openxmlformats.org/drawingml/2006/main">
              <a:ext uri="{FF2B5EF4-FFF2-40B4-BE49-F238E27FC236}">
                <a16:creationId xmlns:a16="http://schemas.microsoft.com/office/drawing/2014/main" id="{07419737-A807-4923-97EF-DC637F7DBA37}"/>
              </a:ext>
            </a:extLst>
          </p:cNvPr>
          <p:cNvSpPr>
            <a:spLocks xmlns:a="http://schemas.openxmlformats.org/drawingml/2006/main" noGrp="1"/>
          </p:cNvSpPr>
          <p:nvPr/>
        </p:nvSpPr>
        <p:spPr>
          <a:xfrm xmlns:a="http://schemas.openxmlformats.org/drawingml/2006/main">
            <a:off x="393668"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8" name="Content-Placeholder-8-9">
            <a:extLst xmlns:a="http://schemas.openxmlformats.org/drawingml/2006/main">
              <a:ext uri="{FF2B5EF4-FFF2-40B4-BE49-F238E27FC236}">
                <a16:creationId xmlns:a16="http://schemas.microsoft.com/office/drawing/2014/main" id="{C348D9C5-5425-4F5B-96C6-F269B36AB1AB}"/>
              </a:ext>
            </a:extLst>
          </p:cNvPr>
          <p:cNvSpPr>
            <a:spLocks xmlns:a="http://schemas.openxmlformats.org/drawingml/2006/main" noGrp="1"/>
          </p:cNvSpPr>
          <p:nvPr/>
        </p:nvSpPr>
        <p:spPr>
          <a:xfrm xmlns:a="http://schemas.openxmlformats.org/drawingml/2006/main">
            <a:off x="703421"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000000"/>
                </a:solidFill>
                <a:latin typeface="Helvetica Neue"/>
                <a:ea typeface="Helvetica Neue"/>
                <a:cs typeface="Helvetica Neue"/>
              </a:defRPr>
            </a:pPr>
            <a:r>
              <a:rPr sz="1800" b="1">
                <a:solidFill>
                  <a:srgbClr val="000000"/>
                </a:solidFill>
                <a:latin typeface="Arial"/>
                <a:ea typeface="Arial"/>
                <a:cs typeface="Arial"/>
              </a:rPr>
              <a:t>IN SCOPE</a:t>
            </a:r>
          </a:p>
          <a:p xmlns:a="http://schemas.openxmlformats.org/drawingml/2006/main">
            <a:pPr algn="l">
              <a:lnSpc>
                <a:spcPct val="100000"/>
              </a:lnSpc>
              <a:buNone/>
              <a:defRPr sz="1600">
                <a:solidFill>
                  <a:srgbClr val="000000"/>
                </a:solidFill>
                <a:latin typeface="Helvetica Neue"/>
                <a:ea typeface="Helvetica Neue"/>
                <a:cs typeface="Helvetica Neue"/>
              </a:defRPr>
            </a:pPr>
            <a:r>
              <a:rPr sz="1600">
                <a:solidFill>
                  <a:srgbClr val="000000"/>
                </a:solidFill>
                <a:latin typeface="Arial"/>
                <a:ea typeface="Arial"/>
                <a:cs typeface="Arial"/>
              </a:rPr>
              <a:t>Safe · firearms · explosives · financial-promotion cues. The last label means visible promotion, not fraud or illegality.</a:t>
            </a:r>
          </a:p>
        </p:txBody>
      </p:sp>
      <p:sp>
        <p:nvSpPr>
          <p:cNvPr id="9" name="Rounded-Rectangle-21-10">
            <a:extLst xmlns:a="http://schemas.openxmlformats.org/drawingml/2006/main">
              <a:ext uri="{FF2B5EF4-FFF2-40B4-BE49-F238E27FC236}">
                <a16:creationId xmlns:a16="http://schemas.microsoft.com/office/drawing/2014/main" id="{998D251E-51B5-47BD-BD68-3ADE8E2AC807}"/>
              </a:ext>
            </a:extLst>
          </p:cNvPr>
          <p:cNvSpPr>
            <a:spLocks xmlns:a="http://schemas.openxmlformats.org/drawingml/2006/main" noGrp="1"/>
          </p:cNvSpPr>
          <p:nvPr/>
        </p:nvSpPr>
        <p:spPr>
          <a:xfrm xmlns:a="http://schemas.openxmlformats.org/drawingml/2006/main">
            <a:off x="4308443"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10" name="Content-Placeholder-8-11">
            <a:extLst xmlns:a="http://schemas.openxmlformats.org/drawingml/2006/main">
              <a:ext uri="{FF2B5EF4-FFF2-40B4-BE49-F238E27FC236}">
                <a16:creationId xmlns:a16="http://schemas.microsoft.com/office/drawing/2014/main" id="{74272118-7A3E-4B6D-BC3A-610CA10A8D17}"/>
              </a:ext>
            </a:extLst>
          </p:cNvPr>
          <p:cNvSpPr>
            <a:spLocks xmlns:a="http://schemas.openxmlformats.org/drawingml/2006/main" noGrp="1"/>
          </p:cNvSpPr>
          <p:nvPr/>
        </p:nvSpPr>
        <p:spPr>
          <a:xfrm xmlns:a="http://schemas.openxmlformats.org/drawingml/2006/main">
            <a:off x="4618196"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000000"/>
                </a:solidFill>
                <a:latin typeface="Helvetica Neue"/>
                <a:ea typeface="Helvetica Neue"/>
                <a:cs typeface="Helvetica Neue"/>
              </a:defRPr>
            </a:pPr>
            <a:r>
              <a:rPr sz="1800" b="1">
                <a:solidFill>
                  <a:srgbClr val="000000"/>
                </a:solidFill>
                <a:latin typeface="Arial"/>
                <a:ea typeface="Arial"/>
                <a:cs typeface="Arial"/>
              </a:rPr>
              <a:t>DECISION LAYER</a:t>
            </a:r>
          </a:p>
          <a:p xmlns:a="http://schemas.openxmlformats.org/drawingml/2006/main">
            <a:pPr algn="l">
              <a:lnSpc>
                <a:spcPct val="100000"/>
              </a:lnSpc>
              <a:buNone/>
              <a:defRPr sz="1600">
                <a:solidFill>
                  <a:srgbClr val="000000"/>
                </a:solidFill>
                <a:latin typeface="Helvetica Neue"/>
                <a:ea typeface="Helvetica Neue"/>
                <a:cs typeface="Helvetica Neue"/>
              </a:defRPr>
            </a:pPr>
            <a:r>
              <a:rPr sz="1600">
                <a:solidFill>
                  <a:srgbClr val="000000"/>
                </a:solidFill>
                <a:latin typeface="Arial"/>
                <a:ea typeface="Arial"/>
                <a:cs typeface="Arial"/>
              </a:rPr>
              <a:t>APPROVE · REVIEW · BLOCK. Financial cases always route to review. Restricted classes require calibrated evidence.</a:t>
            </a:r>
          </a:p>
        </p:txBody>
      </p:sp>
      <p:sp>
        <p:nvSpPr>
          <p:cNvPr id="11" name="Rounded-Rectangle-23-12">
            <a:extLst xmlns:a="http://schemas.openxmlformats.org/drawingml/2006/main">
              <a:ext uri="{FF2B5EF4-FFF2-40B4-BE49-F238E27FC236}">
                <a16:creationId xmlns:a16="http://schemas.microsoft.com/office/drawing/2014/main" id="{1E07852F-A65F-4A53-9827-3727265CF7D8}"/>
              </a:ext>
            </a:extLst>
          </p:cNvPr>
          <p:cNvSpPr>
            <a:spLocks xmlns:a="http://schemas.openxmlformats.org/drawingml/2006/main" noGrp="1"/>
          </p:cNvSpPr>
          <p:nvPr/>
        </p:nvSpPr>
        <p:spPr>
          <a:xfrm xmlns:a="http://schemas.openxmlformats.org/drawingml/2006/main">
            <a:off x="8237506"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12" name="Content-Placeholder-8-13">
            <a:extLst xmlns:a="http://schemas.openxmlformats.org/drawingml/2006/main">
              <a:ext uri="{FF2B5EF4-FFF2-40B4-BE49-F238E27FC236}">
                <a16:creationId xmlns:a16="http://schemas.microsoft.com/office/drawing/2014/main" id="{B03F856D-6277-4DA7-9D10-D6C5205972D4}"/>
              </a:ext>
            </a:extLst>
          </p:cNvPr>
          <p:cNvSpPr>
            <a:spLocks xmlns:a="http://schemas.openxmlformats.org/drawingml/2006/main" noGrp="1"/>
          </p:cNvSpPr>
          <p:nvPr/>
        </p:nvSpPr>
        <p:spPr>
          <a:xfrm xmlns:a="http://schemas.openxmlformats.org/drawingml/2006/main">
            <a:off x="8547259"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000000"/>
                </a:solidFill>
                <a:latin typeface="Helvetica Neue"/>
                <a:ea typeface="Helvetica Neue"/>
                <a:cs typeface="Helvetica Neue"/>
              </a:defRPr>
            </a:pPr>
            <a:r>
              <a:rPr sz="1800" b="1">
                <a:solidFill>
                  <a:srgbClr val="000000"/>
                </a:solidFill>
                <a:latin typeface="Arial"/>
                <a:ea typeface="Arial"/>
                <a:cs typeface="Arial"/>
              </a:rPr>
              <a:t>OUT OF SCOPE</a:t>
            </a:r>
          </a:p>
          <a:p xmlns:a="http://schemas.openxmlformats.org/drawingml/2006/main">
            <a:pPr algn="l">
              <a:lnSpc>
                <a:spcPct val="100000"/>
              </a:lnSpc>
              <a:buNone/>
              <a:defRPr sz="1600">
                <a:solidFill>
                  <a:srgbClr val="000000"/>
                </a:solidFill>
                <a:latin typeface="Helvetica Neue"/>
                <a:ea typeface="Helvetica Neue"/>
                <a:cs typeface="Helvetica Neue"/>
              </a:defRPr>
            </a:pPr>
            <a:r>
              <a:rPr sz="1600">
                <a:solidFill>
                  <a:srgbClr val="000000"/>
                </a:solidFill>
                <a:latin typeface="Arial"/>
                <a:ea typeface="Arial"/>
                <a:cs typeface="Arial"/>
              </a:rPr>
              <a:t>Explicit content, general violence, alcohol, tobacco, landing pages, age, geography, legality, and advertiser identity.</a:t>
            </a:r>
          </a:p>
        </p:txBody>
      </p:sp>
      <p:sp>
        <p:nvSpPr>
          <p:cNvPr id="13" name="Text-Placeholder-16-14">
            <a:extLst xmlns:a="http://schemas.openxmlformats.org/drawingml/2006/main">
              <a:ext uri="{FF2B5EF4-FFF2-40B4-BE49-F238E27FC236}">
                <a16:creationId xmlns:a16="http://schemas.microsoft.com/office/drawing/2014/main" id="{59D9027D-2E37-4900-8496-D08B674FE885}"/>
              </a:ext>
            </a:extLst>
          </p:cNvPr>
          <p:cNvSpPr>
            <a:spLocks xmlns:a="http://schemas.openxmlformats.org/drawingml/2006/main" noGrp="1"/>
          </p:cNvSpPr>
          <p:nvPr/>
        </p:nvSpPr>
        <p:spPr>
          <a:xfrm xmlns:a="http://schemas.openxmlformats.org/drawingml/2006/main">
            <a:off x="4251770"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650" b="1">
                <a:solidFill>
                  <a:srgbClr val="3D8DFF"/>
                </a:solidFill>
                <a:latin typeface="Arial"/>
                <a:ea typeface="Arial"/>
                <a:cs typeface="Arial"/>
              </a:rPr>
              <a:t>POLICY ROUTES</a:t>
            </a:r>
          </a:p>
        </p:txBody>
      </p:sp>
      <p:sp>
        <p:nvSpPr>
          <p:cNvPr id="14" name="Text-Placeholder-16-15">
            <a:extLst xmlns:a="http://schemas.openxmlformats.org/drawingml/2006/main">
              <a:ext uri="{FF2B5EF4-FFF2-40B4-BE49-F238E27FC236}">
                <a16:creationId xmlns:a16="http://schemas.microsoft.com/office/drawing/2014/main" id="{1596F2EA-3D45-4448-9A32-D8C486E3B53F}"/>
              </a:ext>
            </a:extLst>
          </p:cNvPr>
          <p:cNvSpPr>
            <a:spLocks xmlns:a="http://schemas.openxmlformats.org/drawingml/2006/main" noGrp="1"/>
          </p:cNvSpPr>
          <p:nvPr/>
        </p:nvSpPr>
        <p:spPr>
          <a:xfrm xmlns:a="http://schemas.openxmlformats.org/drawingml/2006/main">
            <a:off x="390906"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650" b="1">
                <a:solidFill>
                  <a:srgbClr val="3D8DFF"/>
                </a:solidFill>
                <a:latin typeface="Arial"/>
                <a:ea typeface="Arial"/>
                <a:cs typeface="Arial"/>
              </a:rPr>
              <a:t>MODEL PREDICTS</a:t>
            </a:r>
          </a:p>
        </p:txBody>
      </p:sp>
      <p:sp>
        <p:nvSpPr>
          <p:cNvPr id="15" name="Text-Placeholder-16-16">
            <a:extLst xmlns:a="http://schemas.openxmlformats.org/drawingml/2006/main">
              <a:ext uri="{FF2B5EF4-FFF2-40B4-BE49-F238E27FC236}">
                <a16:creationId xmlns:a16="http://schemas.microsoft.com/office/drawing/2014/main" id="{AE7884E6-FB93-4EE4-BE8D-3907E9742423}"/>
              </a:ext>
            </a:extLst>
          </p:cNvPr>
          <p:cNvSpPr>
            <a:spLocks xmlns:a="http://schemas.openxmlformats.org/drawingml/2006/main" noGrp="1"/>
          </p:cNvSpPr>
          <p:nvPr/>
        </p:nvSpPr>
        <p:spPr>
          <a:xfrm xmlns:a="http://schemas.openxmlformats.org/drawingml/2006/main">
            <a:off x="8225409"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650" b="1">
                <a:solidFill>
                  <a:srgbClr val="D9485F"/>
                </a:solidFill>
                <a:latin typeface="Arial"/>
                <a:ea typeface="Arial"/>
                <a:cs typeface="Arial"/>
              </a:rPr>
              <a:t>REVIEWER / FUTURE</a:t>
            </a:r>
          </a:p>
        </p:txBody>
      </p:sp>
      <p:sp>
        <p:nvSpPr>
          <p:cNvPr id="16" name="">
            <a:extLst xmlns:a="http://schemas.openxmlformats.org/drawingml/2006/main">
              <a:ext uri="{FF2B5EF4-FFF2-40B4-BE49-F238E27FC236}">
                <a16:creationId xmlns:a16="http://schemas.microsoft.com/office/drawing/2014/main" id="{80736A13-56E9-404D-8EDA-930114A902BF}"/>
              </a:ext>
            </a:extLst>
          </p:cNvPr>
          <p:cNvSpPr>
            <a:spLocks xmlns:a="http://schemas.openxmlformats.org/drawingml/2006/main" noGrp="1"/>
          </p:cNvSpPr>
          <p:nvPr/>
        </p:nvSpPr>
        <p:spPr>
          <a:xfrm xmlns:a="http://schemas.openxmlformats.org/drawingml/2006/main">
            <a:off x="393668" y="171450"/>
            <a:ext cx="457200" cy="381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7" name="">
            <a:extLst xmlns:a="http://schemas.openxmlformats.org/drawingml/2006/main">
              <a:ext uri="{FF2B5EF4-FFF2-40B4-BE49-F238E27FC236}">
                <a16:creationId xmlns:a16="http://schemas.microsoft.com/office/drawing/2014/main" id="{695AA60E-F76A-4174-BF41-B895E97C70FA}"/>
              </a:ext>
            </a:extLst>
          </p:cNvPr>
          <p:cNvSpPr>
            <a:spLocks xmlns:a="http://schemas.openxmlformats.org/drawingml/2006/main" noGrp="1"/>
          </p:cNvSpPr>
          <p:nvPr/>
        </p:nvSpPr>
        <p:spPr>
          <a:xfrm xmlns:a="http://schemas.openxmlformats.org/drawingml/2006/main">
            <a:off x="8715375" y="104775"/>
            <a:ext cx="30765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00" b="1">
                <a:solidFill>
                  <a:srgbClr val="5B6470"/>
                </a:solidFill>
                <a:latin typeface="Arial"/>
                <a:ea typeface="Arial"/>
                <a:cs typeface="Arial"/>
              </a:defRPr>
            </a:pPr>
            <a:r>
              <a:rPr sz="1000" b="1">
                <a:solidFill>
                  <a:srgbClr val="5B6470"/>
                </a:solidFill>
                <a:latin typeface="Arial"/>
                <a:ea typeface="Arial"/>
                <a:cs typeface="Arial"/>
              </a:rPr>
              <a:t>04 · POLICY BOUNDARY</a:t>
            </a:r>
          </a:p>
        </p:txBody>
      </p:sp>
      <p:sp>
        <p:nvSpPr>
          <p:cNvPr id="18" name="">
            <a:extLst xmlns:a="http://schemas.openxmlformats.org/drawingml/2006/main">
              <a:ext uri="{FF2B5EF4-FFF2-40B4-BE49-F238E27FC236}">
                <a16:creationId xmlns:a16="http://schemas.microsoft.com/office/drawing/2014/main" id="{FE01900B-CCA4-4191-B066-A3667ED5C163}"/>
              </a:ext>
            </a:extLst>
          </p:cNvPr>
          <p:cNvSpPr>
            <a:spLocks xmlns:a="http://schemas.openxmlformats.org/drawingml/2006/main" noGrp="1"/>
          </p:cNvSpPr>
          <p:nvPr/>
        </p:nvSpPr>
        <p:spPr>
          <a:xfrm xmlns:a="http://schemas.openxmlformats.org/drawingml/2006/main">
            <a:off x="609600" y="6553200"/>
            <a:ext cx="5118068"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00" b="1">
                <a:solidFill>
                  <a:srgbClr val="5B6470"/>
                </a:solidFill>
                <a:latin typeface="Arial"/>
                <a:ea typeface="Arial"/>
                <a:cs typeface="Arial"/>
              </a:defRPr>
            </a:pPr>
            <a:r>
              <a:rPr sz="1000" b="1">
                <a:solidFill>
                  <a:srgbClr val="5B6470"/>
                </a:solidFill>
                <a:latin typeface="Arial"/>
                <a:ea typeface="Arial"/>
                <a:cs typeface="Arial"/>
              </a:rPr>
              <a:t>PRESENTER  Myetchae Thu</a:t>
            </a:r>
          </a:p>
        </p:txBody>
      </p:sp>
    </p:spTree>
    <p:extLst>
      <p:ext uri="{BB962C8B-B14F-4D97-AF65-F5344CB8AC3E}">
        <p14:creationId xmlns:p14="http://schemas.microsoft.com/office/powerpoint/2010/main" val="121112254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Google-Shape-532-p58-2">
            <a:extLst xmlns:a="http://schemas.openxmlformats.org/drawingml/2006/main">
              <a:ext uri="{FF2B5EF4-FFF2-40B4-BE49-F238E27FC236}">
                <a16:creationId xmlns:a16="http://schemas.microsoft.com/office/drawing/2014/main" id="{420478B4-8784-4729-BA16-36320F8EC80B}"/>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5</a:t>
            </a:r>
          </a:p>
        </p:txBody>
      </p:sp>
      <p:sp>
        <p:nvSpPr>
          <p:cNvPr id="2" name="Google-Shape-533-p58-3">
            <a:extLst xmlns:a="http://schemas.openxmlformats.org/drawingml/2006/main">
              <a:ext uri="{FF2B5EF4-FFF2-40B4-BE49-F238E27FC236}">
                <a16:creationId xmlns:a16="http://schemas.microsoft.com/office/drawing/2014/main" id="{82D1716B-C7C5-4BC2-B469-4FB81A5D4696}"/>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900">
                <a:solidFill>
                  <a:srgbClr val="000000"/>
                </a:solidFill>
                <a:latin typeface="Helvetica Neue"/>
                <a:ea typeface="Helvetica Neue"/>
                <a:cs typeface="Helvetica Neue"/>
              </a:defRPr>
            </a:pPr>
            <a:r>
              <a:rPr sz="3600">
                <a:solidFill>
                  <a:srgbClr val="000000"/>
                </a:solidFill>
                <a:latin typeface="Arial"/>
                <a:ea typeface="Arial"/>
                <a:cs typeface="Arial"/>
              </a:rPr>
              <a:t>Balanced counts,
unbalanced sources</a:t>
            </a:r>
          </a:p>
        </p:txBody>
      </p:sp>
      <p:sp>
        <p:nvSpPr>
          <p:cNvPr id="3" name="Rounded-Rectangle-6-4">
            <a:extLst xmlns:a="http://schemas.openxmlformats.org/drawingml/2006/main">
              <a:ext uri="{FF2B5EF4-FFF2-40B4-BE49-F238E27FC236}">
                <a16:creationId xmlns:a16="http://schemas.microsoft.com/office/drawing/2014/main" id="{2C046478-30A9-4B6D-A15C-50C0A118DDBA}"/>
              </a:ext>
            </a:extLst>
          </p:cNvPr>
          <p:cNvSpPr>
            <a:spLocks xmlns:a="http://schemas.openxmlformats.org/drawingml/2006/main" noGrp="1"/>
          </p:cNvSpPr>
          <p:nvPr/>
        </p:nvSpPr>
        <p:spPr>
          <a:xfrm xmlns:a="http://schemas.openxmlformats.org/drawingml/2006/main">
            <a:off x="6264402" y="236982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0CC69E5F-A94A-4DEB-AAC9-B50C0080D664}"/>
              </a:ext>
            </a:extLst>
          </p:cNvPr>
          <p:cNvSpPr>
            <a:spLocks xmlns:a="http://schemas.openxmlformats.org/drawingml/2006/main" noGrp="1"/>
          </p:cNvSpPr>
          <p:nvPr/>
        </p:nvSpPr>
        <p:spPr>
          <a:xfrm xmlns:a="http://schemas.openxmlformats.org/drawingml/2006/main">
            <a:off x="6561677" y="266480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800" b="1">
                <a:solidFill>
                  <a:srgbClr val="000000"/>
                </a:solidFill>
                <a:latin typeface="Arial"/>
                <a:ea typeface="Arial"/>
                <a:cs typeface="Arial"/>
              </a:rPr>
              <a:t>215 source groups</a:t>
            </a:r>
          </a:p>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Arial"/>
                <a:ea typeface="Arial"/>
                <a:cs typeface="Arial"/>
              </a:rPr>
              <a:t>Campaign and source groups stay inside one split; exact hashes do not overlap.</a:t>
            </a:r>
          </a:p>
        </p:txBody>
      </p:sp>
      <p:sp>
        <p:nvSpPr>
          <p:cNvPr id="5" name="Rounded-Rectangle-8-6">
            <a:extLst xmlns:a="http://schemas.openxmlformats.org/drawingml/2006/main">
              <a:ext uri="{FF2B5EF4-FFF2-40B4-BE49-F238E27FC236}">
                <a16:creationId xmlns:a16="http://schemas.microsoft.com/office/drawing/2014/main" id="{276B0E82-6CFD-493A-A1E0-D428923B3770}"/>
              </a:ext>
            </a:extLst>
          </p:cNvPr>
          <p:cNvSpPr>
            <a:spLocks xmlns:a="http://schemas.openxmlformats.org/drawingml/2006/main" noGrp="1"/>
          </p:cNvSpPr>
          <p:nvPr/>
        </p:nvSpPr>
        <p:spPr>
          <a:xfrm xmlns:a="http://schemas.openxmlformats.org/drawingml/2006/main">
            <a:off x="6264402" y="393668"/>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6" name="Content-Placeholder-10-7">
            <a:extLst xmlns:a="http://schemas.openxmlformats.org/drawingml/2006/main">
              <a:ext uri="{FF2B5EF4-FFF2-40B4-BE49-F238E27FC236}">
                <a16:creationId xmlns:a16="http://schemas.microsoft.com/office/drawing/2014/main" id="{65BFB276-EC82-486A-99EB-5AADCCE4EBD9}"/>
              </a:ext>
            </a:extLst>
          </p:cNvPr>
          <p:cNvSpPr>
            <a:spLocks xmlns:a="http://schemas.openxmlformats.org/drawingml/2006/main" noGrp="1"/>
          </p:cNvSpPr>
          <p:nvPr/>
        </p:nvSpPr>
        <p:spPr>
          <a:xfrm xmlns:a="http://schemas.openxmlformats.org/drawingml/2006/main">
            <a:off x="6561677" y="688658"/>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800" b="1">
                <a:solidFill>
                  <a:srgbClr val="000000"/>
                </a:solidFill>
                <a:latin typeface="Arial"/>
                <a:ea typeface="Arial"/>
                <a:cs typeface="Arial"/>
              </a:rPr>
              <a:t>288 JPEG images</a:t>
            </a:r>
          </a:p>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Arial"/>
                <a:ea typeface="Arial"/>
                <a:cs typeface="Arial"/>
              </a:rPr>
              <a:t>48 / 12 / 12 per class for train · validation · final test.</a:t>
            </a:r>
          </a:p>
        </p:txBody>
      </p:sp>
      <p:sp>
        <p:nvSpPr>
          <p:cNvPr id="7" name="Rounded-Rectangle-1-8">
            <a:extLst xmlns:a="http://schemas.openxmlformats.org/drawingml/2006/main">
              <a:ext uri="{FF2B5EF4-FFF2-40B4-BE49-F238E27FC236}">
                <a16:creationId xmlns:a16="http://schemas.microsoft.com/office/drawing/2014/main" id="{BAC34795-3BA7-40BC-9C96-046F802AF2B3}"/>
              </a:ext>
            </a:extLst>
          </p:cNvPr>
          <p:cNvSpPr>
            <a:spLocks xmlns:a="http://schemas.openxmlformats.org/drawingml/2006/main" noGrp="1"/>
          </p:cNvSpPr>
          <p:nvPr/>
        </p:nvSpPr>
        <p:spPr>
          <a:xfrm xmlns:a="http://schemas.openxmlformats.org/drawingml/2006/main">
            <a:off x="6264402" y="438150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8" name="Content-Placeholder-10-9">
            <a:extLst xmlns:a="http://schemas.openxmlformats.org/drawingml/2006/main">
              <a:ext uri="{FF2B5EF4-FFF2-40B4-BE49-F238E27FC236}">
                <a16:creationId xmlns:a16="http://schemas.microsoft.com/office/drawing/2014/main" id="{505C17C4-50B9-47C3-AEBD-CDAA461BE15C}"/>
              </a:ext>
            </a:extLst>
          </p:cNvPr>
          <p:cNvSpPr>
            <a:spLocks xmlns:a="http://schemas.openxmlformats.org/drawingml/2006/main" noGrp="1"/>
          </p:cNvSpPr>
          <p:nvPr/>
        </p:nvSpPr>
        <p:spPr>
          <a:xfrm xmlns:a="http://schemas.openxmlformats.org/drawingml/2006/main">
            <a:off x="6561677" y="467648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800" b="1">
                <a:solidFill>
                  <a:srgbClr val="000000"/>
                </a:solidFill>
                <a:latin typeface="Arial"/>
                <a:ea typeface="Arial"/>
                <a:cs typeface="Arial"/>
              </a:rPr>
              <a:t>Source shortcut risk</a:t>
            </a:r>
          </a:p>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Arial"/>
                <a:ea typeface="Arial"/>
                <a:cs typeface="Arial"/>
              </a:rPr>
              <a:t>ADautoGen supplies Safe; our builder supplies Finance; Weapons Set 1 supplies both weapon classes.</a:t>
            </a:r>
          </a:p>
        </p:txBody>
      </p:sp>
      <p:graphicFrame>
        <p:nvGraphicFramePr>
          <p:cNvPr id="21" name="Chart"/>
          <p:cNvGraphicFramePr/>
          <p:nvPr/>
        </p:nvGraphicFramePr>
        <p:xfrm>
          <a:off xmlns:a="http://schemas.openxmlformats.org/drawingml/2006/main" x="408718" y="1409700"/>
          <a:ext xmlns:a="http://schemas.openxmlformats.org/drawingml/2006/main" cx="5124164" cy="5095875"/>
        </p:xfrm>
        <a:graphic xmlns:a="http://schemas.openxmlformats.org/drawingml/2006/main">
          <a:graphicData uri="http://schemas.openxmlformats.org/drawingml/2006/chart">
            <c:chart xmlns:r="http://schemas.openxmlformats.org/officeDocument/2006/relationships" xmlns:c="http://schemas.openxmlformats.org/drawingml/2006/chart" r:id="R2a62e380847646ab"/>
          </a:graphicData>
        </a:graphic>
      </p:graphicFrame>
      <p:sp>
        <p:nvSpPr>
          <p:cNvPr id="10" name="">
            <a:extLst xmlns:a="http://schemas.openxmlformats.org/drawingml/2006/main">
              <a:ext uri="{FF2B5EF4-FFF2-40B4-BE49-F238E27FC236}">
                <a16:creationId xmlns:a16="http://schemas.microsoft.com/office/drawing/2014/main" id="{6CB5CBBB-1040-4F99-B987-3068B2F31046}"/>
              </a:ext>
            </a:extLst>
          </p:cNvPr>
          <p:cNvSpPr>
            <a:spLocks xmlns:a="http://schemas.openxmlformats.org/drawingml/2006/main" noGrp="1"/>
          </p:cNvSpPr>
          <p:nvPr/>
        </p:nvSpPr>
        <p:spPr>
          <a:xfrm xmlns:a="http://schemas.openxmlformats.org/drawingml/2006/main">
            <a:off x="393668" y="171450"/>
            <a:ext cx="457200" cy="381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1" name="">
            <a:extLst xmlns:a="http://schemas.openxmlformats.org/drawingml/2006/main">
              <a:ext uri="{FF2B5EF4-FFF2-40B4-BE49-F238E27FC236}">
                <a16:creationId xmlns:a16="http://schemas.microsoft.com/office/drawing/2014/main" id="{2BBE0985-0B86-4A46-AD8A-6E3D2049A63E}"/>
              </a:ext>
            </a:extLst>
          </p:cNvPr>
          <p:cNvSpPr>
            <a:spLocks xmlns:a="http://schemas.openxmlformats.org/drawingml/2006/main" noGrp="1"/>
          </p:cNvSpPr>
          <p:nvPr/>
        </p:nvSpPr>
        <p:spPr>
          <a:xfrm xmlns:a="http://schemas.openxmlformats.org/drawingml/2006/main">
            <a:off x="8715375" y="104775"/>
            <a:ext cx="30765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00" b="1">
                <a:solidFill>
                  <a:srgbClr val="5B6470"/>
                </a:solidFill>
                <a:latin typeface="Arial"/>
                <a:ea typeface="Arial"/>
                <a:cs typeface="Arial"/>
              </a:defRPr>
            </a:pPr>
            <a:r>
              <a:rPr sz="1000" b="1">
                <a:solidFill>
                  <a:srgbClr val="5B6470"/>
                </a:solidFill>
                <a:latin typeface="Arial"/>
                <a:ea typeface="Arial"/>
                <a:cs typeface="Arial"/>
              </a:rPr>
              <a:t>05 · DATA PROFILE</a:t>
            </a:r>
          </a:p>
        </p:txBody>
      </p:sp>
      <p:sp>
        <p:nvSpPr>
          <p:cNvPr id="12" name="">
            <a:extLst xmlns:a="http://schemas.openxmlformats.org/drawingml/2006/main">
              <a:ext uri="{FF2B5EF4-FFF2-40B4-BE49-F238E27FC236}">
                <a16:creationId xmlns:a16="http://schemas.microsoft.com/office/drawing/2014/main" id="{13155605-2E8D-406D-8C6D-629772737490}"/>
              </a:ext>
            </a:extLst>
          </p:cNvPr>
          <p:cNvSpPr>
            <a:spLocks xmlns:a="http://schemas.openxmlformats.org/drawingml/2006/main" noGrp="1"/>
          </p:cNvSpPr>
          <p:nvPr/>
        </p:nvSpPr>
        <p:spPr>
          <a:xfrm xmlns:a="http://schemas.openxmlformats.org/drawingml/2006/main">
            <a:off x="609600" y="6553200"/>
            <a:ext cx="5118068"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00" b="1">
                <a:solidFill>
                  <a:srgbClr val="5B6470"/>
                </a:solidFill>
                <a:latin typeface="Arial"/>
                <a:ea typeface="Arial"/>
                <a:cs typeface="Arial"/>
              </a:defRPr>
            </a:pPr>
            <a:r>
              <a:rPr sz="1000" b="1">
                <a:solidFill>
                  <a:srgbClr val="5B6470"/>
                </a:solidFill>
                <a:latin typeface="Arial"/>
                <a:ea typeface="Arial"/>
                <a:cs typeface="Arial"/>
              </a:rPr>
              <a:t>PRESENTER  Vijay Agnihotri</a:t>
            </a:r>
          </a:p>
        </p:txBody>
      </p:sp>
    </p:spTree>
    <p:extLst>
      <p:ext uri="{BB962C8B-B14F-4D97-AF65-F5344CB8AC3E}">
        <p14:creationId xmlns:p14="http://schemas.microsoft.com/office/powerpoint/2010/main" val="109471971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oogle-Shape-532-p58-2">
            <a:extLst xmlns:a="http://schemas.openxmlformats.org/drawingml/2006/main">
              <a:ext uri="{FF2B5EF4-FFF2-40B4-BE49-F238E27FC236}">
                <a16:creationId xmlns:a16="http://schemas.microsoft.com/office/drawing/2014/main" id="{C7E58A6A-A34F-4E00-A804-31D597984DA6}"/>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6</a:t>
            </a:r>
          </a:p>
        </p:txBody>
      </p:sp>
      <p:sp>
        <p:nvSpPr>
          <p:cNvPr id="2" name="Google-Shape-533-p58-3">
            <a:extLst xmlns:a="http://schemas.openxmlformats.org/drawingml/2006/main">
              <a:ext uri="{FF2B5EF4-FFF2-40B4-BE49-F238E27FC236}">
                <a16:creationId xmlns:a16="http://schemas.microsoft.com/office/drawing/2014/main" id="{B544DF54-46F0-4E17-81BA-D513FD867A33}"/>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900">
                <a:solidFill>
                  <a:srgbClr val="000000"/>
                </a:solidFill>
                <a:latin typeface="Helvetica Neue"/>
                <a:ea typeface="Helvetica Neue"/>
                <a:cs typeface="Helvetica Neue"/>
              </a:defRPr>
            </a:pPr>
            <a:r>
              <a:rPr sz="3450">
                <a:solidFill>
                  <a:srgbClr val="000000"/>
                </a:solidFill>
                <a:latin typeface="Arial"/>
                <a:ea typeface="Arial"/>
                <a:cs typeface="Arial"/>
              </a:rPr>
              <a:t>The classes look different
for reasons unrelated to policy</a:t>
            </a:r>
          </a:p>
        </p:txBody>
      </p:sp>
      <p:sp>
        <p:nvSpPr>
          <p:cNvPr id="3" name="Picture-3-4-backing">
            <a:extLst xmlns:a="http://schemas.openxmlformats.org/drawingml/2006/main">
              <a:ext uri="{FF2B5EF4-FFF2-40B4-BE49-F238E27FC236}">
                <a16:creationId xmlns:a16="http://schemas.microsoft.com/office/drawing/2014/main" id="{C038387F-BED7-44FA-9FF0-3BC299A48FEA}"/>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pic>
        <p:nvPicPr>
          <p:cNvPr id="12" name="Picture-3-4"/>
          <p:cNvPicPr>
            <a:picLocks xmlns:a="http://schemas.openxmlformats.org/drawingml/2006/main" noChangeAspect="1"/>
          </p:cNvPicPr>
          <p:nvPr/>
        </p:nvPicPr>
        <p:blipFill>
          <a:blip xmlns:r="http://schemas.openxmlformats.org/officeDocument/2006/relationships" xmlns:a="http://schemas.openxmlformats.org/drawingml/2006/main" r:embed="Re54c90783a5c40a3"/>
          <a:stretch xmlns:a="http://schemas.openxmlformats.org/drawingml/2006/main"/>
        </p:blipFill>
        <p:spPr>
          <a:xfrm xmlns:a="http://schemas.openxmlformats.org/drawingml/2006/main">
            <a:off x="7171595" y="396431"/>
            <a:ext cx="3734689" cy="5602034"/>
          </a:xfrm>
          <a:prstGeom xmlns:a="http://schemas.openxmlformats.org/drawingml/2006/main" prst="rect">
            <a:avLst/>
          </a:prstGeom>
        </p:spPr>
      </p:pic>
      <p:sp>
        <p:nvSpPr>
          <p:cNvPr id="5" name="Google-Shape-534-p58-5">
            <a:extLst xmlns:a="http://schemas.openxmlformats.org/drawingml/2006/main">
              <a:ext uri="{FF2B5EF4-FFF2-40B4-BE49-F238E27FC236}">
                <a16:creationId xmlns:a16="http://schemas.microsoft.com/office/drawing/2014/main" id="{210CDB9A-E119-4ED5-95DF-27DC0BCD0CA4}"/>
              </a:ext>
            </a:extLst>
          </p:cNvPr>
          <p:cNvSpPr>
            <a:spLocks xmlns:a="http://schemas.openxmlformats.org/drawingml/2006/main" noGrp="1"/>
          </p:cNvSpPr>
          <p:nvPr/>
        </p:nvSpPr>
        <p:spPr>
          <a:xfrm xmlns:a="http://schemas.openxmlformats.org/drawingml/2006/main">
            <a:off x="393668" y="2031968"/>
            <a:ext cx="5537168" cy="3962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800" b="1">
                <a:solidFill>
                  <a:srgbClr val="000000"/>
                </a:solidFill>
                <a:latin typeface="Arial"/>
                <a:ea typeface="Arial"/>
                <a:cs typeface="Arial"/>
              </a:rPr>
              <a:t>WHAT THE CONTACT SHEET REVEALS</a:t>
            </a:r>
          </a:p>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Arial"/>
                <a:ea typeface="Arial"/>
                <a:cs typeface="Arial"/>
              </a:rPr>
              <a:t>Safe images look like generated product scenes. Weapon images are often isolated objects. Finance images reuse synthetic layouts.
Risk: the classifier may learn visual source style instead of the intended policy category.</a:t>
            </a:r>
          </a:p>
        </p:txBody>
      </p:sp>
      <p:sp>
        <p:nvSpPr>
          <p:cNvPr id="6" name="">
            <a:extLst xmlns:a="http://schemas.openxmlformats.org/drawingml/2006/main">
              <a:ext uri="{FF2B5EF4-FFF2-40B4-BE49-F238E27FC236}">
                <a16:creationId xmlns:a16="http://schemas.microsoft.com/office/drawing/2014/main" id="{1B59C69A-6673-4935-B73F-14EFD3FE1660}"/>
              </a:ext>
            </a:extLst>
          </p:cNvPr>
          <p:cNvSpPr>
            <a:spLocks xmlns:a="http://schemas.openxmlformats.org/drawingml/2006/main" noGrp="1"/>
          </p:cNvSpPr>
          <p:nvPr/>
        </p:nvSpPr>
        <p:spPr>
          <a:xfrm xmlns:a="http://schemas.openxmlformats.org/drawingml/2006/main">
            <a:off x="393668" y="171450"/>
            <a:ext cx="457200" cy="381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7" name="">
            <a:extLst xmlns:a="http://schemas.openxmlformats.org/drawingml/2006/main">
              <a:ext uri="{FF2B5EF4-FFF2-40B4-BE49-F238E27FC236}">
                <a16:creationId xmlns:a16="http://schemas.microsoft.com/office/drawing/2014/main" id="{0B06F86D-322E-4CE6-A8B6-A7945DE28C1C}"/>
              </a:ext>
            </a:extLst>
          </p:cNvPr>
          <p:cNvSpPr>
            <a:spLocks xmlns:a="http://schemas.openxmlformats.org/drawingml/2006/main" noGrp="1"/>
          </p:cNvSpPr>
          <p:nvPr/>
        </p:nvSpPr>
        <p:spPr>
          <a:xfrm xmlns:a="http://schemas.openxmlformats.org/drawingml/2006/main">
            <a:off x="8715375" y="104775"/>
            <a:ext cx="30765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00" b="1">
                <a:solidFill>
                  <a:srgbClr val="5B6470"/>
                </a:solidFill>
                <a:latin typeface="Arial"/>
                <a:ea typeface="Arial"/>
                <a:cs typeface="Arial"/>
              </a:defRPr>
            </a:pPr>
            <a:r>
              <a:rPr sz="1000" b="1">
                <a:solidFill>
                  <a:srgbClr val="5B6470"/>
                </a:solidFill>
                <a:latin typeface="Arial"/>
                <a:ea typeface="Arial"/>
                <a:cs typeface="Arial"/>
              </a:rPr>
              <a:t>06 · EDA</a:t>
            </a:r>
          </a:p>
        </p:txBody>
      </p:sp>
      <p:sp>
        <p:nvSpPr>
          <p:cNvPr id="8" name="">
            <a:extLst xmlns:a="http://schemas.openxmlformats.org/drawingml/2006/main">
              <a:ext uri="{FF2B5EF4-FFF2-40B4-BE49-F238E27FC236}">
                <a16:creationId xmlns:a16="http://schemas.microsoft.com/office/drawing/2014/main" id="{DA13FF86-A386-4056-938B-1CBA28205055}"/>
              </a:ext>
            </a:extLst>
          </p:cNvPr>
          <p:cNvSpPr>
            <a:spLocks xmlns:a="http://schemas.openxmlformats.org/drawingml/2006/main" noGrp="1"/>
          </p:cNvSpPr>
          <p:nvPr/>
        </p:nvSpPr>
        <p:spPr>
          <a:xfrm xmlns:a="http://schemas.openxmlformats.org/drawingml/2006/main">
            <a:off x="609600" y="6553200"/>
            <a:ext cx="5118068"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00" b="1">
                <a:solidFill>
                  <a:srgbClr val="5B6470"/>
                </a:solidFill>
                <a:latin typeface="Arial"/>
                <a:ea typeface="Arial"/>
                <a:cs typeface="Arial"/>
              </a:defRPr>
            </a:pPr>
            <a:r>
              <a:rPr sz="1000" b="1">
                <a:solidFill>
                  <a:srgbClr val="5B6470"/>
                </a:solidFill>
                <a:latin typeface="Arial"/>
                <a:ea typeface="Arial"/>
                <a:cs typeface="Arial"/>
              </a:rPr>
              <a:t>PRESENTER  Vijay Agnihotri</a:t>
            </a:r>
          </a:p>
        </p:txBody>
      </p:sp>
    </p:spTree>
    <p:extLst>
      <p:ext uri="{BB962C8B-B14F-4D97-AF65-F5344CB8AC3E}">
        <p14:creationId xmlns:p14="http://schemas.microsoft.com/office/powerpoint/2010/main" val="210508311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lide-Number-Placeholder-3-2">
            <a:extLst xmlns:a="http://schemas.openxmlformats.org/drawingml/2006/main">
              <a:ext uri="{FF2B5EF4-FFF2-40B4-BE49-F238E27FC236}">
                <a16:creationId xmlns:a16="http://schemas.microsoft.com/office/drawing/2014/main" id="{06C87779-34A3-4EDB-A24A-6190656DB0E5}"/>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7</a:t>
            </a:r>
          </a:p>
        </p:txBody>
      </p:sp>
      <p:sp>
        <p:nvSpPr>
          <p:cNvPr id="2" name="Title-10-3">
            <a:extLst xmlns:a="http://schemas.openxmlformats.org/drawingml/2006/main">
              <a:ext uri="{FF2B5EF4-FFF2-40B4-BE49-F238E27FC236}">
                <a16:creationId xmlns:a16="http://schemas.microsoft.com/office/drawing/2014/main" id="{9880C525-9604-4052-A700-60B6D0979CFC}"/>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900">
                <a:solidFill>
                  <a:srgbClr val="000000"/>
                </a:solidFill>
                <a:latin typeface="Helvetica Neue"/>
                <a:ea typeface="Helvetica Neue"/>
                <a:cs typeface="Helvetica Neue"/>
              </a:defRPr>
            </a:pPr>
            <a:r>
              <a:rPr sz="3600">
                <a:solidFill>
                  <a:srgbClr val="000000"/>
                </a:solidFill>
                <a:latin typeface="Arial"/>
                <a:ea typeface="Arial"/>
                <a:cs typeface="Arial"/>
              </a:rPr>
              <a:t>How the system reaches a decision</a:t>
            </a:r>
          </a:p>
        </p:txBody>
      </p:sp>
      <p:cxnSp>
        <p:nvCxnSpPr>
          <p:cNvPr id="23" name="Google-Shape-2259-p159-4"/>
          <p:cNvCxnSpPr/>
          <p:nvPr/>
        </p:nvCxnSpPr>
        <p:spPr>
          <a:xfrm xmlns:a="http://schemas.openxmlformats.org/drawingml/2006/main">
            <a:off x="393668" y="5341620"/>
            <a:ext cx="11404568"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90D7DED0-8BB0-4C74-BA95-DEFF9ECEADF6}"/>
              </a:ext>
            </a:extLst>
          </p:cNvPr>
          <p:cNvSpPr>
            <a:spLocks xmlns:a="http://schemas.openxmlformats.org/drawingml/2006/main" noGrp="1"/>
          </p:cNvSpPr>
          <p:nvPr/>
        </p:nvSpPr>
        <p:spPr>
          <a:xfrm xmlns:a="http://schemas.openxmlformats.org/drawingml/2006/main">
            <a:off x="337757" y="5288089"/>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0B28EC32-01F4-4B16-B8EB-FF03FED2F231}"/>
              </a:ext>
            </a:extLst>
          </p:cNvPr>
          <p:cNvSpPr>
            <a:spLocks xmlns:a="http://schemas.openxmlformats.org/drawingml/2006/main" noGrp="1"/>
          </p:cNvSpPr>
          <p:nvPr/>
        </p:nvSpPr>
        <p:spPr>
          <a:xfrm xmlns:a="http://schemas.openxmlformats.org/drawingml/2006/main">
            <a:off x="4251770" y="5288089"/>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59BD4D46-0335-4BAE-B2E7-9B0605DBF705}"/>
              </a:ext>
            </a:extLst>
          </p:cNvPr>
          <p:cNvSpPr>
            <a:spLocks xmlns:a="http://schemas.openxmlformats.org/drawingml/2006/main" noGrp="1"/>
          </p:cNvSpPr>
          <p:nvPr/>
        </p:nvSpPr>
        <p:spPr>
          <a:xfrm xmlns:a="http://schemas.openxmlformats.org/drawingml/2006/main">
            <a:off x="8176070" y="5288089"/>
            <a:ext cx="107061" cy="107061"/>
          </a:xfrm>
          <a:prstGeom xmlns:a="http://schemas.openxmlformats.org/drawingml/2006/main" prst="ellipse">
            <a:avLst/>
          </a:prstGeom>
          <a:solidFill xmlns:a="http://schemas.openxmlformats.org/drawingml/2006/main">
            <a:srgbClr val="000000"/>
          </a:solidFill>
        </p:spPr>
      </p:sp>
      <p:sp>
        <p:nvSpPr>
          <p:cNvPr id="7" name="Rounded-Rectangle-19-8">
            <a:extLst xmlns:a="http://schemas.openxmlformats.org/drawingml/2006/main">
              <a:ext uri="{FF2B5EF4-FFF2-40B4-BE49-F238E27FC236}">
                <a16:creationId xmlns:a16="http://schemas.microsoft.com/office/drawing/2014/main" id="{C11075F9-1BF5-4D33-9184-AEF27FB4C569}"/>
              </a:ext>
            </a:extLst>
          </p:cNvPr>
          <p:cNvSpPr>
            <a:spLocks xmlns:a="http://schemas.openxmlformats.org/drawingml/2006/main" noGrp="1"/>
          </p:cNvSpPr>
          <p:nvPr/>
        </p:nvSpPr>
        <p:spPr>
          <a:xfrm xmlns:a="http://schemas.openxmlformats.org/drawingml/2006/main">
            <a:off x="393668"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8" name="Content-Placeholder-8-9">
            <a:extLst xmlns:a="http://schemas.openxmlformats.org/drawingml/2006/main">
              <a:ext uri="{FF2B5EF4-FFF2-40B4-BE49-F238E27FC236}">
                <a16:creationId xmlns:a16="http://schemas.microsoft.com/office/drawing/2014/main" id="{2A9B1F0D-11AD-4BBC-B205-E85FF4283D45}"/>
              </a:ext>
            </a:extLst>
          </p:cNvPr>
          <p:cNvSpPr>
            <a:spLocks xmlns:a="http://schemas.openxmlformats.org/drawingml/2006/main" noGrp="1"/>
          </p:cNvSpPr>
          <p:nvPr/>
        </p:nvSpPr>
        <p:spPr>
          <a:xfrm xmlns:a="http://schemas.openxmlformats.org/drawingml/2006/main">
            <a:off x="703421"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000000"/>
                </a:solidFill>
                <a:latin typeface="Helvetica Neue"/>
                <a:ea typeface="Helvetica Neue"/>
                <a:cs typeface="Helvetica Neue"/>
              </a:defRPr>
            </a:pPr>
            <a:r>
              <a:rPr sz="1800" b="1">
                <a:solidFill>
                  <a:srgbClr val="000000"/>
                </a:solidFill>
                <a:latin typeface="Arial"/>
                <a:ea typeface="Arial"/>
                <a:cs typeface="Arial"/>
              </a:rPr>
              <a:t>1 · ANALYZE</a:t>
            </a:r>
          </a:p>
          <a:p xmlns:a="http://schemas.openxmlformats.org/drawingml/2006/main">
            <a:pPr algn="l">
              <a:lnSpc>
                <a:spcPct val="100000"/>
              </a:lnSpc>
              <a:buNone/>
              <a:defRPr sz="1600">
                <a:solidFill>
                  <a:srgbClr val="000000"/>
                </a:solidFill>
                <a:latin typeface="Helvetica Neue"/>
                <a:ea typeface="Helvetica Neue"/>
                <a:cs typeface="Helvetica Neue"/>
              </a:defRPr>
            </a:pPr>
            <a:r>
              <a:rPr sz="1600">
                <a:solidFill>
                  <a:srgbClr val="000000"/>
                </a:solidFill>
                <a:latin typeface="Arial"/>
                <a:ea typeface="Arial"/>
                <a:cs typeface="Arial"/>
              </a:rPr>
              <a:t>PyTorch and timm run a frozen ViT. Grounding DINO and Tesseract add optional object and text evidence.</a:t>
            </a:r>
          </a:p>
        </p:txBody>
      </p:sp>
      <p:sp>
        <p:nvSpPr>
          <p:cNvPr id="9" name="Rounded-Rectangle-21-10">
            <a:extLst xmlns:a="http://schemas.openxmlformats.org/drawingml/2006/main">
              <a:ext uri="{FF2B5EF4-FFF2-40B4-BE49-F238E27FC236}">
                <a16:creationId xmlns:a16="http://schemas.microsoft.com/office/drawing/2014/main" id="{744ECA0E-BE97-4B3C-A112-73078C556497}"/>
              </a:ext>
            </a:extLst>
          </p:cNvPr>
          <p:cNvSpPr>
            <a:spLocks xmlns:a="http://schemas.openxmlformats.org/drawingml/2006/main" noGrp="1"/>
          </p:cNvSpPr>
          <p:nvPr/>
        </p:nvSpPr>
        <p:spPr>
          <a:xfrm xmlns:a="http://schemas.openxmlformats.org/drawingml/2006/main">
            <a:off x="4308443"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10" name="Content-Placeholder-8-11">
            <a:extLst xmlns:a="http://schemas.openxmlformats.org/drawingml/2006/main">
              <a:ext uri="{FF2B5EF4-FFF2-40B4-BE49-F238E27FC236}">
                <a16:creationId xmlns:a16="http://schemas.microsoft.com/office/drawing/2014/main" id="{C75F2355-D5F6-4951-BFB1-CBDDE6017401}"/>
              </a:ext>
            </a:extLst>
          </p:cNvPr>
          <p:cNvSpPr>
            <a:spLocks xmlns:a="http://schemas.openxmlformats.org/drawingml/2006/main" noGrp="1"/>
          </p:cNvSpPr>
          <p:nvPr/>
        </p:nvSpPr>
        <p:spPr>
          <a:xfrm xmlns:a="http://schemas.openxmlformats.org/drawingml/2006/main">
            <a:off x="4618196"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000000"/>
                </a:solidFill>
                <a:latin typeface="Helvetica Neue"/>
                <a:ea typeface="Helvetica Neue"/>
                <a:cs typeface="Helvetica Neue"/>
              </a:defRPr>
            </a:pPr>
            <a:r>
              <a:rPr sz="1800" b="1">
                <a:solidFill>
                  <a:srgbClr val="000000"/>
                </a:solidFill>
                <a:latin typeface="Arial"/>
                <a:ea typeface="Arial"/>
                <a:cs typeface="Arial"/>
              </a:rPr>
              <a:t>2 · REVIEW</a:t>
            </a:r>
          </a:p>
          <a:p xmlns:a="http://schemas.openxmlformats.org/drawingml/2006/main">
            <a:pPr algn="l">
              <a:lnSpc>
                <a:spcPct val="100000"/>
              </a:lnSpc>
              <a:buNone/>
              <a:defRPr sz="1600">
                <a:solidFill>
                  <a:srgbClr val="000000"/>
                </a:solidFill>
                <a:latin typeface="Helvetica Neue"/>
                <a:ea typeface="Helvetica Neue"/>
                <a:cs typeface="Helvetica Neue"/>
              </a:defRPr>
            </a:pPr>
            <a:r>
              <a:rPr sz="1600">
                <a:solidFill>
                  <a:srgbClr val="000000"/>
                </a:solidFill>
                <a:latin typeface="Arial"/>
                <a:ea typeface="Arial"/>
                <a:cs typeface="Arial"/>
              </a:rPr>
              <a:t>FastAPI coordinates the services. Streamlit shows scores, boxes, text, timing, and the uploaded case.</a:t>
            </a:r>
          </a:p>
        </p:txBody>
      </p:sp>
      <p:sp>
        <p:nvSpPr>
          <p:cNvPr id="11" name="Rounded-Rectangle-23-12">
            <a:extLst xmlns:a="http://schemas.openxmlformats.org/drawingml/2006/main">
              <a:ext uri="{FF2B5EF4-FFF2-40B4-BE49-F238E27FC236}">
                <a16:creationId xmlns:a16="http://schemas.microsoft.com/office/drawing/2014/main" id="{DD779268-7278-4E82-AF49-9D8E2020186E}"/>
              </a:ext>
            </a:extLst>
          </p:cNvPr>
          <p:cNvSpPr>
            <a:spLocks xmlns:a="http://schemas.openxmlformats.org/drawingml/2006/main" noGrp="1"/>
          </p:cNvSpPr>
          <p:nvPr/>
        </p:nvSpPr>
        <p:spPr>
          <a:xfrm xmlns:a="http://schemas.openxmlformats.org/drawingml/2006/main">
            <a:off x="8237506"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12" name="Content-Placeholder-8-13">
            <a:extLst xmlns:a="http://schemas.openxmlformats.org/drawingml/2006/main">
              <a:ext uri="{FF2B5EF4-FFF2-40B4-BE49-F238E27FC236}">
                <a16:creationId xmlns:a16="http://schemas.microsoft.com/office/drawing/2014/main" id="{200CB0BC-676B-4C82-A343-47085210AADF}"/>
              </a:ext>
            </a:extLst>
          </p:cNvPr>
          <p:cNvSpPr>
            <a:spLocks xmlns:a="http://schemas.openxmlformats.org/drawingml/2006/main" noGrp="1"/>
          </p:cNvSpPr>
          <p:nvPr/>
        </p:nvSpPr>
        <p:spPr>
          <a:xfrm xmlns:a="http://schemas.openxmlformats.org/drawingml/2006/main">
            <a:off x="8547259"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000000"/>
                </a:solidFill>
                <a:latin typeface="Helvetica Neue"/>
                <a:ea typeface="Helvetica Neue"/>
                <a:cs typeface="Helvetica Neue"/>
              </a:defRPr>
            </a:pPr>
            <a:r>
              <a:rPr sz="1800" b="1">
                <a:solidFill>
                  <a:srgbClr val="000000"/>
                </a:solidFill>
                <a:latin typeface="Arial"/>
                <a:ea typeface="Arial"/>
                <a:cs typeface="Arial"/>
              </a:rPr>
              <a:t>3 · DECIDE</a:t>
            </a:r>
          </a:p>
          <a:p xmlns:a="http://schemas.openxmlformats.org/drawingml/2006/main">
            <a:pPr algn="l">
              <a:lnSpc>
                <a:spcPct val="100000"/>
              </a:lnSpc>
              <a:buNone/>
              <a:defRPr sz="1600">
                <a:solidFill>
                  <a:srgbClr val="000000"/>
                </a:solidFill>
                <a:latin typeface="Helvetica Neue"/>
                <a:ea typeface="Helvetica Neue"/>
                <a:cs typeface="Helvetica Neue"/>
              </a:defRPr>
            </a:pPr>
            <a:r>
              <a:rPr sz="1600">
                <a:solidFill>
                  <a:srgbClr val="000000"/>
                </a:solidFill>
                <a:latin typeface="Arial"/>
                <a:ea typeface="Arial"/>
                <a:cs typeface="Arial"/>
              </a:rPr>
              <a:t>A versioned YAML policy returns APPROVE, REVIEW, or BLOCK and saves a JSON audit record. Runs locally on CPU.</a:t>
            </a:r>
          </a:p>
        </p:txBody>
      </p:sp>
      <p:sp>
        <p:nvSpPr>
          <p:cNvPr id="13" name="Text-Placeholder-16-14">
            <a:extLst xmlns:a="http://schemas.openxmlformats.org/drawingml/2006/main">
              <a:ext uri="{FF2B5EF4-FFF2-40B4-BE49-F238E27FC236}">
                <a16:creationId xmlns:a16="http://schemas.microsoft.com/office/drawing/2014/main" id="{2F879EEB-C630-462C-95DB-2AFE4835C262}"/>
              </a:ext>
            </a:extLst>
          </p:cNvPr>
          <p:cNvSpPr>
            <a:spLocks xmlns:a="http://schemas.openxmlformats.org/drawingml/2006/main" noGrp="1"/>
          </p:cNvSpPr>
          <p:nvPr/>
        </p:nvSpPr>
        <p:spPr>
          <a:xfrm xmlns:a="http://schemas.openxmlformats.org/drawingml/2006/main">
            <a:off x="4251770"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650" b="1">
                <a:solidFill>
                  <a:srgbClr val="3D8DFF"/>
                </a:solidFill>
                <a:latin typeface="Arial"/>
                <a:ea typeface="Arial"/>
                <a:cs typeface="Arial"/>
              </a:rPr>
              <a:t>LOCAL APPLICATION</a:t>
            </a:r>
          </a:p>
        </p:txBody>
      </p:sp>
      <p:sp>
        <p:nvSpPr>
          <p:cNvPr id="14" name="Text-Placeholder-16-15">
            <a:extLst xmlns:a="http://schemas.openxmlformats.org/drawingml/2006/main">
              <a:ext uri="{FF2B5EF4-FFF2-40B4-BE49-F238E27FC236}">
                <a16:creationId xmlns:a16="http://schemas.microsoft.com/office/drawing/2014/main" id="{8B71B1DE-16CD-4474-B65E-B9E6811A1112}"/>
              </a:ext>
            </a:extLst>
          </p:cNvPr>
          <p:cNvSpPr>
            <a:spLocks xmlns:a="http://schemas.openxmlformats.org/drawingml/2006/main" noGrp="1"/>
          </p:cNvSpPr>
          <p:nvPr/>
        </p:nvSpPr>
        <p:spPr>
          <a:xfrm xmlns:a="http://schemas.openxmlformats.org/drawingml/2006/main">
            <a:off x="390906"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800" b="1">
                <a:solidFill>
                  <a:srgbClr val="3D8DFF"/>
                </a:solidFill>
                <a:latin typeface="Arial"/>
                <a:ea typeface="Arial"/>
                <a:cs typeface="Arial"/>
              </a:rPr>
              <a:t>MODELS</a:t>
            </a:r>
          </a:p>
        </p:txBody>
      </p:sp>
      <p:sp>
        <p:nvSpPr>
          <p:cNvPr id="15" name="Text-Placeholder-16-16">
            <a:extLst xmlns:a="http://schemas.openxmlformats.org/drawingml/2006/main">
              <a:ext uri="{FF2B5EF4-FFF2-40B4-BE49-F238E27FC236}">
                <a16:creationId xmlns:a16="http://schemas.microsoft.com/office/drawing/2014/main" id="{3B9B8A9E-1803-4EF0-8EE8-8C11326763B2}"/>
              </a:ext>
            </a:extLst>
          </p:cNvPr>
          <p:cNvSpPr>
            <a:spLocks xmlns:a="http://schemas.openxmlformats.org/drawingml/2006/main" noGrp="1"/>
          </p:cNvSpPr>
          <p:nvPr/>
        </p:nvSpPr>
        <p:spPr>
          <a:xfrm xmlns:a="http://schemas.openxmlformats.org/drawingml/2006/main">
            <a:off x="8225409"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650" b="1">
                <a:solidFill>
                  <a:srgbClr val="3D8DFF"/>
                </a:solidFill>
                <a:latin typeface="Arial"/>
                <a:ea typeface="Arial"/>
                <a:cs typeface="Arial"/>
              </a:rPr>
              <a:t>POLICY + AUDIT</a:t>
            </a:r>
          </a:p>
        </p:txBody>
      </p:sp>
      <p:cxnSp>
        <p:nvCxnSpPr>
          <p:cNvPr id="36" name=""/>
          <p:cNvCxnSpPr>
            <a:stCxn xmlns:a="http://schemas.openxmlformats.org/drawingml/2006/main" id="7" idx="3"/>
            <a:endCxn xmlns:a="http://schemas.openxmlformats.org/drawingml/2006/main" id="9" idx="1"/>
          </p:cNvCxnSpPr>
          <p:nvPr/>
        </p:nvCxnSpPr>
        <p:spPr>
          <a:xfrm xmlns:a="http://schemas.openxmlformats.org/drawingml/2006/main">
            <a:off x="3962400" y="3211544"/>
            <a:ext cx="346043" cy="0"/>
          </a:xfrm>
          <a:prstGeom xmlns:a="http://schemas.openxmlformats.org/drawingml/2006/main" prst="straightConnector1">
            <a:avLst/>
          </a:prstGeom>
          <a:ln xmlns:a="http://schemas.openxmlformats.org/drawingml/2006/main" w="19050">
            <a:solidFill>
              <a:srgbClr val="3D8DFF"/>
            </a:solidFill>
            <a:prstDash val="solid"/>
            <a:tailEnd type="arrow" w="med" len="med"/>
          </a:ln>
        </p:spPr>
      </p:cxnSp>
      <p:cxnSp>
        <p:nvCxnSpPr>
          <p:cNvPr id="37" name=""/>
          <p:cNvCxnSpPr>
            <a:stCxn xmlns:a="http://schemas.openxmlformats.org/drawingml/2006/main" id="9" idx="3"/>
            <a:endCxn xmlns:a="http://schemas.openxmlformats.org/drawingml/2006/main" id="11" idx="1"/>
          </p:cNvCxnSpPr>
          <p:nvPr/>
        </p:nvCxnSpPr>
        <p:spPr>
          <a:xfrm xmlns:a="http://schemas.openxmlformats.org/drawingml/2006/main">
            <a:off x="7877175" y="3211544"/>
            <a:ext cx="360331" cy="0"/>
          </a:xfrm>
          <a:prstGeom xmlns:a="http://schemas.openxmlformats.org/drawingml/2006/main" prst="straightConnector1">
            <a:avLst/>
          </a:prstGeom>
          <a:ln xmlns:a="http://schemas.openxmlformats.org/drawingml/2006/main" w="19050">
            <a:solidFill>
              <a:srgbClr val="3D8DFF"/>
            </a:solidFill>
            <a:prstDash val="solid"/>
            <a:tailEnd type="arrow" w="med" len="med"/>
          </a:ln>
        </p:spPr>
      </p:cxnSp>
      <p:sp>
        <p:nvSpPr>
          <p:cNvPr id="18" name="">
            <a:extLst xmlns:a="http://schemas.openxmlformats.org/drawingml/2006/main">
              <a:ext uri="{FF2B5EF4-FFF2-40B4-BE49-F238E27FC236}">
                <a16:creationId xmlns:a16="http://schemas.microsoft.com/office/drawing/2014/main" id="{5801E086-6FEC-411E-BED5-61A8A7B31283}"/>
              </a:ext>
            </a:extLst>
          </p:cNvPr>
          <p:cNvSpPr>
            <a:spLocks xmlns:a="http://schemas.openxmlformats.org/drawingml/2006/main" noGrp="1"/>
          </p:cNvSpPr>
          <p:nvPr/>
        </p:nvSpPr>
        <p:spPr>
          <a:xfrm xmlns:a="http://schemas.openxmlformats.org/drawingml/2006/main">
            <a:off x="393668" y="171450"/>
            <a:ext cx="457200" cy="381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9" name="">
            <a:extLst xmlns:a="http://schemas.openxmlformats.org/drawingml/2006/main">
              <a:ext uri="{FF2B5EF4-FFF2-40B4-BE49-F238E27FC236}">
                <a16:creationId xmlns:a16="http://schemas.microsoft.com/office/drawing/2014/main" id="{9BAEE79A-8E1C-4BD9-BB0A-F9D74259C9CF}"/>
              </a:ext>
            </a:extLst>
          </p:cNvPr>
          <p:cNvSpPr>
            <a:spLocks xmlns:a="http://schemas.openxmlformats.org/drawingml/2006/main" noGrp="1"/>
          </p:cNvSpPr>
          <p:nvPr/>
        </p:nvSpPr>
        <p:spPr>
          <a:xfrm xmlns:a="http://schemas.openxmlformats.org/drawingml/2006/main">
            <a:off x="8715375" y="104775"/>
            <a:ext cx="30765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00" b="1">
                <a:solidFill>
                  <a:srgbClr val="5B6470"/>
                </a:solidFill>
                <a:latin typeface="Arial"/>
                <a:ea typeface="Arial"/>
                <a:cs typeface="Arial"/>
              </a:defRPr>
            </a:pPr>
            <a:r>
              <a:rPr sz="1000" b="1">
                <a:solidFill>
                  <a:srgbClr val="5B6470"/>
                </a:solidFill>
                <a:latin typeface="Arial"/>
                <a:ea typeface="Arial"/>
                <a:cs typeface="Arial"/>
              </a:rPr>
              <a:t>07 · ARCHITECTURE</a:t>
            </a:r>
          </a:p>
        </p:txBody>
      </p:sp>
      <p:sp>
        <p:nvSpPr>
          <p:cNvPr id="20" name="">
            <a:extLst xmlns:a="http://schemas.openxmlformats.org/drawingml/2006/main">
              <a:ext uri="{FF2B5EF4-FFF2-40B4-BE49-F238E27FC236}">
                <a16:creationId xmlns:a16="http://schemas.microsoft.com/office/drawing/2014/main" id="{E1FAF456-7154-439D-8ACC-A116B39417A4}"/>
              </a:ext>
            </a:extLst>
          </p:cNvPr>
          <p:cNvSpPr>
            <a:spLocks xmlns:a="http://schemas.openxmlformats.org/drawingml/2006/main" noGrp="1"/>
          </p:cNvSpPr>
          <p:nvPr/>
        </p:nvSpPr>
        <p:spPr>
          <a:xfrm xmlns:a="http://schemas.openxmlformats.org/drawingml/2006/main">
            <a:off x="609600" y="6553200"/>
            <a:ext cx="5118068"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00" b="1">
                <a:solidFill>
                  <a:srgbClr val="5B6470"/>
                </a:solidFill>
                <a:latin typeface="Arial"/>
                <a:ea typeface="Arial"/>
                <a:cs typeface="Arial"/>
              </a:defRPr>
            </a:pPr>
            <a:r>
              <a:rPr sz="1000" b="1">
                <a:solidFill>
                  <a:srgbClr val="5B6470"/>
                </a:solidFill>
                <a:latin typeface="Arial"/>
                <a:ea typeface="Arial"/>
                <a:cs typeface="Arial"/>
              </a:rPr>
              <a:t>PRESENTER  Myetchae Thu</a:t>
            </a:r>
          </a:p>
        </p:txBody>
      </p:sp>
    </p:spTree>
    <p:extLst>
      <p:ext uri="{BB962C8B-B14F-4D97-AF65-F5344CB8AC3E}">
        <p14:creationId xmlns:p14="http://schemas.microsoft.com/office/powerpoint/2010/main" val="19615115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4B84A4A2-0609-4E44-BEA1-A7C1E296E01D}"/>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8</a:t>
            </a:r>
          </a:p>
        </p:txBody>
      </p:sp>
      <p:sp>
        <p:nvSpPr>
          <p:cNvPr id="2" name="Google-Shape-533-p58-3">
            <a:extLst xmlns:a="http://schemas.openxmlformats.org/drawingml/2006/main">
              <a:ext uri="{FF2B5EF4-FFF2-40B4-BE49-F238E27FC236}">
                <a16:creationId xmlns:a16="http://schemas.microsoft.com/office/drawing/2014/main" id="{B39F2D23-AC70-4664-B1D7-455FD9506472}"/>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900">
                <a:solidFill>
                  <a:srgbClr val="000000"/>
                </a:solidFill>
                <a:latin typeface="Helvetica Neue"/>
                <a:ea typeface="Helvetica Neue"/>
                <a:cs typeface="Helvetica Neue"/>
              </a:defRPr>
            </a:pPr>
            <a:r>
              <a:rPr sz="3600">
                <a:solidFill>
                  <a:srgbClr val="000000"/>
                </a:solidFill>
                <a:latin typeface="Arial"/>
                <a:ea typeface="Arial"/>
                <a:cs typeface="Arial"/>
              </a:rPr>
              <a:t>We kept the test set
out of training and tuning</a:t>
            </a:r>
          </a:p>
        </p:txBody>
      </p:sp>
      <p:sp>
        <p:nvSpPr>
          <p:cNvPr id="3" name="Picture-3-4-backing">
            <a:extLst xmlns:a="http://schemas.openxmlformats.org/drawingml/2006/main">
              <a:ext uri="{FF2B5EF4-FFF2-40B4-BE49-F238E27FC236}">
                <a16:creationId xmlns:a16="http://schemas.microsoft.com/office/drawing/2014/main" id="{24041C95-EDFF-4405-9C46-C7D0DA8D5665}"/>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pic>
        <p:nvPicPr>
          <p:cNvPr id="13" name="Picture-3-4"/>
          <p:cNvPicPr>
            <a:picLocks xmlns:a="http://schemas.openxmlformats.org/drawingml/2006/main" noChangeAspect="1"/>
          </p:cNvPicPr>
          <p:nvPr/>
        </p:nvPicPr>
        <p:blipFill>
          <a:blip xmlns:r="http://schemas.openxmlformats.org/officeDocument/2006/relationships" xmlns:a="http://schemas.openxmlformats.org/drawingml/2006/main" r:embed="R1e71ea8177634ecc"/>
          <a:stretch xmlns:a="http://schemas.openxmlformats.org/drawingml/2006/main"/>
        </p:blipFill>
        <p:spPr>
          <a:xfrm xmlns:a="http://schemas.openxmlformats.org/drawingml/2006/main">
            <a:off x="6269069" y="538372"/>
            <a:ext cx="5539740" cy="5318150"/>
          </a:xfrm>
          <a:prstGeom xmlns:a="http://schemas.openxmlformats.org/drawingml/2006/main" prst="rect">
            <a:avLst/>
          </a:prstGeom>
        </p:spPr>
      </p:pic>
      <p:sp>
        <p:nvSpPr>
          <p:cNvPr id="5" name="Google-Shape-534-p58-5">
            <a:extLst xmlns:a="http://schemas.openxmlformats.org/drawingml/2006/main">
              <a:ext uri="{FF2B5EF4-FFF2-40B4-BE49-F238E27FC236}">
                <a16:creationId xmlns:a16="http://schemas.microsoft.com/office/drawing/2014/main" id="{8BD1745E-AF2A-4166-BCB0-20DF73D69117}"/>
              </a:ext>
            </a:extLst>
          </p:cNvPr>
          <p:cNvSpPr>
            <a:spLocks xmlns:a="http://schemas.openxmlformats.org/drawingml/2006/main" noGrp="1"/>
          </p:cNvSpPr>
          <p:nvPr/>
        </p:nvSpPr>
        <p:spPr>
          <a:xfrm xmlns:a="http://schemas.openxmlformats.org/drawingml/2006/main">
            <a:off x="393668" y="2031968"/>
            <a:ext cx="5537168" cy="3962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800" b="1">
                <a:solidFill>
                  <a:srgbClr val="000000"/>
                </a:solidFill>
                <a:latin typeface="Arial"/>
                <a:ea typeface="Arial"/>
                <a:cs typeface="Arial"/>
              </a:rPr>
              <a:t>METHOD</a:t>
            </a:r>
          </a:p>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Arial"/>
                <a:ea typeface="Arial"/>
                <a:cs typeface="Arial"/>
              </a:rPr>
              <a:t>1  Freeze ViT and ResNet-50 because the dataset is small
2  Fit logistic heads on train embeddings
3  Select thresholds on validation only
4  Run one final evaluation on 48 test images
5  Benchmark warm batch-1 CPU</a:t>
            </a:r>
          </a:p>
        </p:txBody>
      </p:sp>
      <p:sp>
        <p:nvSpPr>
          <p:cNvPr id="6" name="">
            <a:extLst xmlns:a="http://schemas.openxmlformats.org/drawingml/2006/main">
              <a:ext uri="{FF2B5EF4-FFF2-40B4-BE49-F238E27FC236}">
                <a16:creationId xmlns:a16="http://schemas.microsoft.com/office/drawing/2014/main" id="{21DBAA0B-09CA-4DA4-8DA2-6CBF71877EE1}"/>
              </a:ext>
            </a:extLst>
          </p:cNvPr>
          <p:cNvSpPr>
            <a:spLocks xmlns:a="http://schemas.openxmlformats.org/drawingml/2006/main" noGrp="1"/>
          </p:cNvSpPr>
          <p:nvPr/>
        </p:nvSpPr>
        <p:spPr>
          <a:xfrm xmlns:a="http://schemas.openxmlformats.org/drawingml/2006/main">
            <a:off x="6515100" y="5514975"/>
            <a:ext cx="5048250" cy="3429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00" b="1">
                <a:solidFill>
                  <a:srgbClr val="3D8DFF"/>
                </a:solidFill>
                <a:latin typeface="Arial"/>
                <a:ea typeface="Arial"/>
                <a:cs typeface="Arial"/>
              </a:defRPr>
            </a:pPr>
            <a:r>
              <a:rPr sz="1600" b="1">
                <a:solidFill>
                  <a:srgbClr val="3D8DFF"/>
                </a:solidFill>
                <a:latin typeface="Arial"/>
                <a:ea typeface="Arial"/>
                <a:cs typeface="Arial"/>
              </a:rPr>
              <a:t>Selected t=0.173 on validation · recall 1.00 · precision 1.00</a:t>
            </a:r>
          </a:p>
        </p:txBody>
      </p:sp>
      <p:sp>
        <p:nvSpPr>
          <p:cNvPr id="7" name="">
            <a:extLst xmlns:a="http://schemas.openxmlformats.org/drawingml/2006/main">
              <a:ext uri="{FF2B5EF4-FFF2-40B4-BE49-F238E27FC236}">
                <a16:creationId xmlns:a16="http://schemas.microsoft.com/office/drawing/2014/main" id="{2A11A9F0-2DA7-4029-9412-93331E4428C1}"/>
              </a:ext>
            </a:extLst>
          </p:cNvPr>
          <p:cNvSpPr>
            <a:spLocks xmlns:a="http://schemas.openxmlformats.org/drawingml/2006/main" noGrp="1"/>
          </p:cNvSpPr>
          <p:nvPr/>
        </p:nvSpPr>
        <p:spPr>
          <a:xfrm xmlns:a="http://schemas.openxmlformats.org/drawingml/2006/main">
            <a:off x="393668" y="171450"/>
            <a:ext cx="457200" cy="381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8" name="">
            <a:extLst xmlns:a="http://schemas.openxmlformats.org/drawingml/2006/main">
              <a:ext uri="{FF2B5EF4-FFF2-40B4-BE49-F238E27FC236}">
                <a16:creationId xmlns:a16="http://schemas.microsoft.com/office/drawing/2014/main" id="{70D2B64F-E578-40BE-BC47-E970691D76BB}"/>
              </a:ext>
            </a:extLst>
          </p:cNvPr>
          <p:cNvSpPr>
            <a:spLocks xmlns:a="http://schemas.openxmlformats.org/drawingml/2006/main" noGrp="1"/>
          </p:cNvSpPr>
          <p:nvPr/>
        </p:nvSpPr>
        <p:spPr>
          <a:xfrm xmlns:a="http://schemas.openxmlformats.org/drawingml/2006/main">
            <a:off x="8715375" y="104775"/>
            <a:ext cx="30765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00" b="1">
                <a:solidFill>
                  <a:srgbClr val="5B6470"/>
                </a:solidFill>
                <a:latin typeface="Arial"/>
                <a:ea typeface="Arial"/>
                <a:cs typeface="Arial"/>
              </a:defRPr>
            </a:pPr>
            <a:r>
              <a:rPr sz="1000" b="1">
                <a:solidFill>
                  <a:srgbClr val="5B6470"/>
                </a:solidFill>
                <a:latin typeface="Arial"/>
                <a:ea typeface="Arial"/>
                <a:cs typeface="Arial"/>
              </a:rPr>
              <a:t>08 · METHODOLOGY</a:t>
            </a:r>
          </a:p>
        </p:txBody>
      </p:sp>
      <p:sp>
        <p:nvSpPr>
          <p:cNvPr id="9" name="">
            <a:extLst xmlns:a="http://schemas.openxmlformats.org/drawingml/2006/main">
              <a:ext uri="{FF2B5EF4-FFF2-40B4-BE49-F238E27FC236}">
                <a16:creationId xmlns:a16="http://schemas.microsoft.com/office/drawing/2014/main" id="{6EA33F36-BAC9-4294-9BDC-5E1833E00DCF}"/>
              </a:ext>
            </a:extLst>
          </p:cNvPr>
          <p:cNvSpPr>
            <a:spLocks xmlns:a="http://schemas.openxmlformats.org/drawingml/2006/main" noGrp="1"/>
          </p:cNvSpPr>
          <p:nvPr/>
        </p:nvSpPr>
        <p:spPr>
          <a:xfrm xmlns:a="http://schemas.openxmlformats.org/drawingml/2006/main">
            <a:off x="609600" y="6553200"/>
            <a:ext cx="5118068"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00" b="1">
                <a:solidFill>
                  <a:srgbClr val="5B6470"/>
                </a:solidFill>
                <a:latin typeface="Arial"/>
                <a:ea typeface="Arial"/>
                <a:cs typeface="Arial"/>
              </a:defRPr>
            </a:pPr>
            <a:r>
              <a:rPr sz="1000" b="1">
                <a:solidFill>
                  <a:srgbClr val="5B6470"/>
                </a:solidFill>
                <a:latin typeface="Arial"/>
                <a:ea typeface="Arial"/>
                <a:cs typeface="Arial"/>
              </a:rPr>
              <a:t>PRESENTER  Bickramjit Basu</a:t>
            </a:r>
          </a:p>
        </p:txBody>
      </p:sp>
    </p:spTree>
    <p:extLst>
      <p:ext uri="{BB962C8B-B14F-4D97-AF65-F5344CB8AC3E}">
        <p14:creationId xmlns:p14="http://schemas.microsoft.com/office/powerpoint/2010/main" val="46321634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Rounded-Rectangle-5-1">
            <a:extLst xmlns:a="http://schemas.openxmlformats.org/drawingml/2006/main">
              <a:ext uri="{FF2B5EF4-FFF2-40B4-BE49-F238E27FC236}">
                <a16:creationId xmlns:a16="http://schemas.microsoft.com/office/drawing/2014/main" id="{4ED1D401-D021-43A8-8A9F-0464B6F86B9C}"/>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0A97139F-07A3-4C97-89AB-ED06B685D3AF}"/>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BDA20544-F5EC-4DAB-A400-B73A606A7AF5}"/>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4629BDE5-59C9-436E-9D22-4C06A0E20684}"/>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9</a:t>
            </a:r>
          </a:p>
        </p:txBody>
      </p:sp>
      <p:sp>
        <p:nvSpPr>
          <p:cNvPr id="5" name="Title-2-5">
            <a:extLst xmlns:a="http://schemas.openxmlformats.org/drawingml/2006/main">
              <a:ext uri="{FF2B5EF4-FFF2-40B4-BE49-F238E27FC236}">
                <a16:creationId xmlns:a16="http://schemas.microsoft.com/office/drawing/2014/main" id="{7809433D-8BD9-457D-A64D-A5C4E53F00AE}"/>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900">
                <a:solidFill>
                  <a:srgbClr val="000000"/>
                </a:solidFill>
                <a:latin typeface="Helvetica Neue"/>
                <a:ea typeface="Helvetica Neue"/>
                <a:cs typeface="Helvetica Neue"/>
              </a:defRPr>
            </a:pPr>
            <a:r>
              <a:rPr sz="3600">
                <a:solidFill>
                  <a:srgbClr val="000000"/>
                </a:solidFill>
                <a:latin typeface="Arial"/>
                <a:ea typeface="Arial"/>
                <a:cs typeface="Arial"/>
              </a:rPr>
              <a:t>What prior research contributed</a:t>
            </a:r>
          </a:p>
        </p:txBody>
      </p:sp>
      <p:sp>
        <p:nvSpPr>
          <p:cNvPr id="6" name="Content-Placeholder-9-6">
            <a:extLst xmlns:a="http://schemas.openxmlformats.org/drawingml/2006/main">
              <a:ext uri="{FF2B5EF4-FFF2-40B4-BE49-F238E27FC236}">
                <a16:creationId xmlns:a16="http://schemas.microsoft.com/office/drawing/2014/main" id="{E51E75A7-E615-4409-BB56-E11669CA6473}"/>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Arial"/>
                <a:ea typeface="Arial"/>
                <a:cs typeface="Arial"/>
              </a:rPr>
              <a:t>Dosovitskiy et al. (2021): transferable whole-image features.</a:t>
            </a:r>
          </a:p>
        </p:txBody>
      </p:sp>
      <p:sp>
        <p:nvSpPr>
          <p:cNvPr id="7" name="Content-Placeholder-10-7">
            <a:extLst xmlns:a="http://schemas.openxmlformats.org/drawingml/2006/main">
              <a:ext uri="{FF2B5EF4-FFF2-40B4-BE49-F238E27FC236}">
                <a16:creationId xmlns:a16="http://schemas.microsoft.com/office/drawing/2014/main" id="{B3896282-08A2-4E2E-8460-04BD0A1F64D4}"/>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Arial"/>
                <a:ea typeface="Arial"/>
                <a:cs typeface="Arial"/>
              </a:rPr>
              <a:t>Tesseract OCR + YAML rules: text evidence and traceable decisions.</a:t>
            </a:r>
          </a:p>
        </p:txBody>
      </p:sp>
      <p:sp>
        <p:nvSpPr>
          <p:cNvPr id="8" name="Content-Placeholder-11-8">
            <a:extLst xmlns:a="http://schemas.openxmlformats.org/drawingml/2006/main">
              <a:ext uri="{FF2B5EF4-FFF2-40B4-BE49-F238E27FC236}">
                <a16:creationId xmlns:a16="http://schemas.microsoft.com/office/drawing/2014/main" id="{4BBF0BAD-E833-4A4E-BBAB-7D951EADE4FF}"/>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Arial"/>
                <a:ea typeface="Arial"/>
                <a:cs typeface="Arial"/>
              </a:rPr>
              <a:t>Liu et al. (2023): open-vocabulary object localization.</a:t>
            </a:r>
          </a:p>
        </p:txBody>
      </p:sp>
      <p:sp>
        <p:nvSpPr>
          <p:cNvPr id="9" name="Content-Placeholder-9-9">
            <a:extLst xmlns:a="http://schemas.openxmlformats.org/drawingml/2006/main">
              <a:ext uri="{FF2B5EF4-FFF2-40B4-BE49-F238E27FC236}">
                <a16:creationId xmlns:a16="http://schemas.microsoft.com/office/drawing/2014/main" id="{BCF9D82C-7B6A-4D32-97B9-197B016458C9}"/>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3600" b="1">
                <a:solidFill>
                  <a:srgbClr val="3D8DFF"/>
                </a:solidFill>
                <a:latin typeface="Arial"/>
                <a:ea typeface="Arial"/>
                <a:cs typeface="Arial"/>
              </a:rPr>
              <a:t>ViT</a:t>
            </a:r>
          </a:p>
        </p:txBody>
      </p:sp>
      <p:sp>
        <p:nvSpPr>
          <p:cNvPr id="10" name="Content-Placeholder-9-10">
            <a:extLst xmlns:a="http://schemas.openxmlformats.org/drawingml/2006/main">
              <a:ext uri="{FF2B5EF4-FFF2-40B4-BE49-F238E27FC236}">
                <a16:creationId xmlns:a16="http://schemas.microsoft.com/office/drawing/2014/main" id="{C3A54908-2433-4A51-AA2C-427E078ACB16}"/>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3600" b="1">
                <a:solidFill>
                  <a:srgbClr val="3D8DFF"/>
                </a:solidFill>
                <a:latin typeface="Arial"/>
                <a:ea typeface="Arial"/>
                <a:cs typeface="Arial"/>
              </a:rPr>
              <a:t>DINO</a:t>
            </a:r>
          </a:p>
        </p:txBody>
      </p:sp>
      <p:sp>
        <p:nvSpPr>
          <p:cNvPr id="11" name="Content-Placeholder-9-11">
            <a:extLst xmlns:a="http://schemas.openxmlformats.org/drawingml/2006/main">
              <a:ext uri="{FF2B5EF4-FFF2-40B4-BE49-F238E27FC236}">
                <a16:creationId xmlns:a16="http://schemas.microsoft.com/office/drawing/2014/main" id="{30F312F3-BE3E-4970-95D1-8B7EC0890132}"/>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2700" b="1">
                <a:solidFill>
                  <a:srgbClr val="3D8DFF"/>
                </a:solidFill>
                <a:latin typeface="Arial"/>
                <a:ea typeface="Arial"/>
                <a:cs typeface="Arial"/>
              </a:rPr>
              <a:t>OCR + RULES</a:t>
            </a:r>
          </a:p>
        </p:txBody>
      </p:sp>
      <p:sp>
        <p:nvSpPr>
          <p:cNvPr id="12" name="Content-Placeholder-15-12">
            <a:extLst xmlns:a="http://schemas.openxmlformats.org/drawingml/2006/main">
              <a:ext uri="{FF2B5EF4-FFF2-40B4-BE49-F238E27FC236}">
                <a16:creationId xmlns:a16="http://schemas.microsoft.com/office/drawing/2014/main" id="{8BAC18B2-2BFF-4C81-8731-67B7319F6A26}"/>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000000"/>
                </a:solidFill>
                <a:latin typeface="Helvetica Neue"/>
                <a:ea typeface="Helvetica Neue"/>
                <a:cs typeface="Helvetica Neue"/>
              </a:defRPr>
            </a:pPr>
            <a:r>
              <a:rPr sz="1600" b="1">
                <a:solidFill>
                  <a:srgbClr val="3D8DFF"/>
                </a:solidFill>
                <a:latin typeface="Arial"/>
                <a:ea typeface="Arial"/>
                <a:cs typeface="Arial"/>
              </a:rPr>
              <a:t>LITERATURE + BENCHMARKS</a:t>
            </a:r>
          </a:p>
          <a:p xmlns:a="http://schemas.openxmlformats.org/drawingml/2006/main">
            <a:pPr algn="l">
              <a:lnSpc>
                <a:spcPct val="100000"/>
              </a:lnSpc>
              <a:buNone/>
              <a:defRPr sz="1600">
                <a:solidFill>
                  <a:srgbClr val="000000"/>
                </a:solidFill>
                <a:latin typeface="Helvetica Neue"/>
                <a:ea typeface="Helvetica Neue"/>
                <a:cs typeface="Helvetica Neue"/>
              </a:defRPr>
            </a:pPr>
            <a:r>
              <a:rPr sz="1600">
                <a:solidFill>
                  <a:srgbClr val="000000"/>
                </a:solidFill>
                <a:latin typeface="Arial"/>
                <a:ea typeface="Arial"/>
                <a:cs typeface="Arial"/>
              </a:rPr>
              <a:t>Prior work informed our model choices. No outside benchmark is directly comparable to this four-label policy task, so we evaluate against the proposal targets and our saved results.</a:t>
            </a:r>
          </a:p>
        </p:txBody>
      </p:sp>
      <p:sp>
        <p:nvSpPr>
          <p:cNvPr id="13" name="">
            <a:extLst xmlns:a="http://schemas.openxmlformats.org/drawingml/2006/main">
              <a:ext uri="{FF2B5EF4-FFF2-40B4-BE49-F238E27FC236}">
                <a16:creationId xmlns:a16="http://schemas.microsoft.com/office/drawing/2014/main" id="{98D58462-AC25-45D4-9B63-BF29C140CFF4}"/>
              </a:ext>
            </a:extLst>
          </p:cNvPr>
          <p:cNvSpPr>
            <a:spLocks xmlns:a="http://schemas.openxmlformats.org/drawingml/2006/main" noGrp="1"/>
          </p:cNvSpPr>
          <p:nvPr/>
        </p:nvSpPr>
        <p:spPr>
          <a:xfrm xmlns:a="http://schemas.openxmlformats.org/drawingml/2006/main">
            <a:off x="393668" y="171450"/>
            <a:ext cx="457200" cy="381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4" name="">
            <a:extLst xmlns:a="http://schemas.openxmlformats.org/drawingml/2006/main">
              <a:ext uri="{FF2B5EF4-FFF2-40B4-BE49-F238E27FC236}">
                <a16:creationId xmlns:a16="http://schemas.microsoft.com/office/drawing/2014/main" id="{2554E7E8-1DA5-42EC-BBC3-0CFAE833C3BF}"/>
              </a:ext>
            </a:extLst>
          </p:cNvPr>
          <p:cNvSpPr>
            <a:spLocks xmlns:a="http://schemas.openxmlformats.org/drawingml/2006/main" noGrp="1"/>
          </p:cNvSpPr>
          <p:nvPr/>
        </p:nvSpPr>
        <p:spPr>
          <a:xfrm xmlns:a="http://schemas.openxmlformats.org/drawingml/2006/main">
            <a:off x="8715375" y="104775"/>
            <a:ext cx="30765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00" b="1">
                <a:solidFill>
                  <a:srgbClr val="5B6470"/>
                </a:solidFill>
                <a:latin typeface="Arial"/>
                <a:ea typeface="Arial"/>
                <a:cs typeface="Arial"/>
              </a:defRPr>
            </a:pPr>
            <a:r>
              <a:rPr sz="1000" b="1">
                <a:solidFill>
                  <a:srgbClr val="5B6470"/>
                </a:solidFill>
                <a:latin typeface="Arial"/>
                <a:ea typeface="Arial"/>
                <a:cs typeface="Arial"/>
              </a:rPr>
              <a:t>09 · LITERATURE</a:t>
            </a:r>
          </a:p>
        </p:txBody>
      </p:sp>
      <p:sp>
        <p:nvSpPr>
          <p:cNvPr id="15" name="">
            <a:extLst xmlns:a="http://schemas.openxmlformats.org/drawingml/2006/main">
              <a:ext uri="{FF2B5EF4-FFF2-40B4-BE49-F238E27FC236}">
                <a16:creationId xmlns:a16="http://schemas.microsoft.com/office/drawing/2014/main" id="{227BB061-D2D8-4B15-AF4F-CA78A9D8371C}"/>
              </a:ext>
            </a:extLst>
          </p:cNvPr>
          <p:cNvSpPr>
            <a:spLocks xmlns:a="http://schemas.openxmlformats.org/drawingml/2006/main" noGrp="1"/>
          </p:cNvSpPr>
          <p:nvPr/>
        </p:nvSpPr>
        <p:spPr>
          <a:xfrm xmlns:a="http://schemas.openxmlformats.org/drawingml/2006/main">
            <a:off x="609600" y="6553200"/>
            <a:ext cx="5118068"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00" b="1">
                <a:solidFill>
                  <a:srgbClr val="5B6470"/>
                </a:solidFill>
                <a:latin typeface="Arial"/>
                <a:ea typeface="Arial"/>
                <a:cs typeface="Arial"/>
              </a:defRPr>
            </a:pPr>
            <a:r>
              <a:rPr sz="1000" b="1">
                <a:solidFill>
                  <a:srgbClr val="5B6470"/>
                </a:solidFill>
                <a:latin typeface="Arial"/>
                <a:ea typeface="Arial"/>
                <a:cs typeface="Arial"/>
              </a:rPr>
              <a:t>PRESENTER  Bickramjit Basu</a:t>
            </a:r>
          </a:p>
        </p:txBody>
      </p:sp>
    </p:spTree>
    <p:extLst>
      <p:ext uri="{BB962C8B-B14F-4D97-AF65-F5344CB8AC3E}">
        <p14:creationId xmlns:p14="http://schemas.microsoft.com/office/powerpoint/2010/main" val="95420219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Google-Shape-532-p58-2">
            <a:extLst xmlns:a="http://schemas.openxmlformats.org/drawingml/2006/main">
              <a:ext uri="{FF2B5EF4-FFF2-40B4-BE49-F238E27FC236}">
                <a16:creationId xmlns:a16="http://schemas.microsoft.com/office/drawing/2014/main" id="{D238A860-5E51-4D59-BCE8-1BBA23BA7F85}"/>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10</a:t>
            </a:r>
          </a:p>
        </p:txBody>
      </p:sp>
      <p:sp>
        <p:nvSpPr>
          <p:cNvPr id="2" name="Google-Shape-533-p58-3">
            <a:extLst xmlns:a="http://schemas.openxmlformats.org/drawingml/2006/main">
              <a:ext uri="{FF2B5EF4-FFF2-40B4-BE49-F238E27FC236}">
                <a16:creationId xmlns:a16="http://schemas.microsoft.com/office/drawing/2014/main" id="{9DC52606-8973-4059-9C16-AD0F57703E6D}"/>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900">
                <a:solidFill>
                  <a:srgbClr val="000000"/>
                </a:solidFill>
                <a:latin typeface="Helvetica Neue"/>
                <a:ea typeface="Helvetica Neue"/>
                <a:cs typeface="Helvetica Neue"/>
              </a:defRPr>
            </a:pPr>
            <a:r>
              <a:rPr sz="3600">
                <a:solidFill>
                  <a:srgbClr val="000000"/>
                </a:solidFill>
                <a:latin typeface="Arial"/>
                <a:ea typeface="Arial"/>
                <a:cs typeface="Arial"/>
              </a:rPr>
              <a:t>ViT wins accuracy,
not speed</a:t>
            </a:r>
          </a:p>
        </p:txBody>
      </p:sp>
      <p:sp>
        <p:nvSpPr>
          <p:cNvPr id="3" name="Picture-3-4-backing">
            <a:extLst xmlns:a="http://schemas.openxmlformats.org/drawingml/2006/main">
              <a:ext uri="{FF2B5EF4-FFF2-40B4-BE49-F238E27FC236}">
                <a16:creationId xmlns:a16="http://schemas.microsoft.com/office/drawing/2014/main" id="{446C45E4-4DEC-47F7-9823-B0D4512B1C10}"/>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pic>
        <p:nvPicPr>
          <p:cNvPr id="22" name="Picture-3-4"/>
          <p:cNvPicPr>
            <a:picLocks xmlns:a="http://schemas.openxmlformats.org/drawingml/2006/main" noChangeAspect="1"/>
          </p:cNvPicPr>
          <p:nvPr/>
        </p:nvPicPr>
        <p:blipFill>
          <a:blip xmlns:r="http://schemas.openxmlformats.org/officeDocument/2006/relationships" xmlns:a="http://schemas.openxmlformats.org/drawingml/2006/main" r:embed="R90e706e5f58e48be"/>
          <a:stretch xmlns:a="http://schemas.openxmlformats.org/drawingml/2006/main"/>
        </p:blipFill>
        <p:spPr>
          <a:xfrm xmlns:a="http://schemas.openxmlformats.org/drawingml/2006/main">
            <a:off x="6269069" y="1974088"/>
            <a:ext cx="5539740" cy="2446719"/>
          </a:xfrm>
          <a:prstGeom xmlns:a="http://schemas.openxmlformats.org/drawingml/2006/main" prst="rect">
            <a:avLst/>
          </a:prstGeom>
        </p:spPr>
      </p:pic>
      <p:sp>
        <p:nvSpPr>
          <p:cNvPr id="5" name="Google-Shape-534-p58-5">
            <a:extLst xmlns:a="http://schemas.openxmlformats.org/drawingml/2006/main">
              <a:ext uri="{FF2B5EF4-FFF2-40B4-BE49-F238E27FC236}">
                <a16:creationId xmlns:a16="http://schemas.microsoft.com/office/drawing/2014/main" id="{0735CE4D-570C-4BF4-AFEF-982E143FC510}"/>
              </a:ext>
            </a:extLst>
          </p:cNvPr>
          <p:cNvSpPr>
            <a:spLocks xmlns:a="http://schemas.openxmlformats.org/drawingml/2006/main" noGrp="1"/>
          </p:cNvSpPr>
          <p:nvPr/>
        </p:nvSpPr>
        <p:spPr>
          <a:xfrm xmlns:a="http://schemas.openxmlformats.org/drawingml/2006/main">
            <a:off x="393668" y="2031968"/>
            <a:ext cx="5537168" cy="3962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800" b="1">
                <a:solidFill>
                  <a:srgbClr val="000000"/>
                </a:solidFill>
                <a:latin typeface="Arial"/>
                <a:ea typeface="Arial"/>
                <a:cs typeface="Arial"/>
              </a:rPr>
              <a:t/>
            </a:r>
          </a:p>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AFAF6733-2920-4E3F-86D3-3E09F137FD72}"/>
              </a:ext>
            </a:extLst>
          </p:cNvPr>
          <p:cNvSpPr>
            <a:spLocks xmlns:a="http://schemas.openxmlformats.org/drawingml/2006/main" noGrp="1"/>
          </p:cNvSpPr>
          <p:nvPr/>
        </p:nvSpPr>
        <p:spPr>
          <a:xfrm xmlns:a="http://schemas.openxmlformats.org/drawingml/2006/main">
            <a:off x="393668" y="1581150"/>
            <a:ext cx="2571750" cy="1295400"/>
          </a:xfrm>
          <a:prstGeom xmlns:a="http://schemas.openxmlformats.org/drawingml/2006/main" prst="rect">
            <a:avLst/>
          </a:prstGeom>
          <a:solidFill xmlns:a="http://schemas.openxmlformats.org/drawingml/2006/main">
            <a:srgbClr val="EAF5FB"/>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72343105-3259-4F51-9A1A-51E97B028506}"/>
              </a:ext>
            </a:extLst>
          </p:cNvPr>
          <p:cNvSpPr>
            <a:spLocks xmlns:a="http://schemas.openxmlformats.org/drawingml/2006/main" noGrp="1"/>
          </p:cNvSpPr>
          <p:nvPr/>
        </p:nvSpPr>
        <p:spPr>
          <a:xfrm xmlns:a="http://schemas.openxmlformats.org/drawingml/2006/main">
            <a:off x="584168" y="1752600"/>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450" b="1">
                <a:solidFill>
                  <a:srgbClr val="3D8DFF"/>
                </a:solidFill>
                <a:latin typeface="Arial"/>
                <a:ea typeface="Arial"/>
                <a:cs typeface="Arial"/>
              </a:defRPr>
            </a:pPr>
            <a:r>
              <a:rPr sz="3450" b="1">
                <a:solidFill>
                  <a:srgbClr val="3D8DFF"/>
                </a:solidFill>
                <a:latin typeface="Arial"/>
                <a:ea typeface="Arial"/>
                <a:cs typeface="Arial"/>
              </a:rPr>
              <a:t>0.97913</a:t>
            </a:r>
          </a:p>
        </p:txBody>
      </p:sp>
      <p:sp>
        <p:nvSpPr>
          <p:cNvPr id="8" name="">
            <a:extLst xmlns:a="http://schemas.openxmlformats.org/drawingml/2006/main">
              <a:ext uri="{FF2B5EF4-FFF2-40B4-BE49-F238E27FC236}">
                <a16:creationId xmlns:a16="http://schemas.microsoft.com/office/drawing/2014/main" id="{3D0C631E-B362-40B7-8138-4E46D279D025}"/>
              </a:ext>
            </a:extLst>
          </p:cNvPr>
          <p:cNvSpPr>
            <a:spLocks xmlns:a="http://schemas.openxmlformats.org/drawingml/2006/main" noGrp="1"/>
          </p:cNvSpPr>
          <p:nvPr/>
        </p:nvSpPr>
        <p:spPr>
          <a:xfrm xmlns:a="http://schemas.openxmlformats.org/drawingml/2006/main">
            <a:off x="584168" y="2419350"/>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00" b="0">
                <a:solidFill>
                  <a:srgbClr val="5B6470"/>
                </a:solidFill>
                <a:latin typeface="Arial"/>
                <a:ea typeface="Arial"/>
                <a:cs typeface="Arial"/>
              </a:defRPr>
            </a:pPr>
            <a:r>
              <a:rPr sz="1600" b="0">
                <a:solidFill>
                  <a:srgbClr val="5B6470"/>
                </a:solidFill>
                <a:latin typeface="Arial"/>
                <a:ea typeface="Arial"/>
                <a:cs typeface="Arial"/>
              </a:rPr>
              <a:t>ViT macro F1 · n=48</a:t>
            </a:r>
          </a:p>
        </p:txBody>
      </p:sp>
      <p:sp>
        <p:nvSpPr>
          <p:cNvPr id="9" name="">
            <a:extLst xmlns:a="http://schemas.openxmlformats.org/drawingml/2006/main">
              <a:ext uri="{FF2B5EF4-FFF2-40B4-BE49-F238E27FC236}">
                <a16:creationId xmlns:a16="http://schemas.microsoft.com/office/drawing/2014/main" id="{39980088-B2E6-4EDB-8A04-7FB66BAB650E}"/>
              </a:ext>
            </a:extLst>
          </p:cNvPr>
          <p:cNvSpPr>
            <a:spLocks xmlns:a="http://schemas.openxmlformats.org/drawingml/2006/main" noGrp="1"/>
          </p:cNvSpPr>
          <p:nvPr/>
        </p:nvSpPr>
        <p:spPr>
          <a:xfrm xmlns:a="http://schemas.openxmlformats.org/drawingml/2006/main">
            <a:off x="3105150" y="1581150"/>
            <a:ext cx="2819400" cy="12954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88EC834E-A2E1-4E23-9552-CC6EBDFF335E}"/>
              </a:ext>
            </a:extLst>
          </p:cNvPr>
          <p:cNvSpPr>
            <a:spLocks xmlns:a="http://schemas.openxmlformats.org/drawingml/2006/main" noGrp="1"/>
          </p:cNvSpPr>
          <p:nvPr/>
        </p:nvSpPr>
        <p:spPr>
          <a:xfrm xmlns:a="http://schemas.openxmlformats.org/drawingml/2006/main">
            <a:off x="3295650" y="1752600"/>
            <a:ext cx="2438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450" b="1">
                <a:solidFill>
                  <a:srgbClr val="000000"/>
                </a:solidFill>
                <a:latin typeface="Arial"/>
                <a:ea typeface="Arial"/>
                <a:cs typeface="Arial"/>
              </a:defRPr>
            </a:pPr>
            <a:r>
              <a:rPr sz="3450" b="1">
                <a:solidFill>
                  <a:srgbClr val="000000"/>
                </a:solidFill>
                <a:latin typeface="Arial"/>
                <a:ea typeface="Arial"/>
                <a:cs typeface="Arial"/>
              </a:rPr>
              <a:t>0.87315</a:t>
            </a:r>
          </a:p>
        </p:txBody>
      </p:sp>
      <p:sp>
        <p:nvSpPr>
          <p:cNvPr id="11" name="">
            <a:extLst xmlns:a="http://schemas.openxmlformats.org/drawingml/2006/main">
              <a:ext uri="{FF2B5EF4-FFF2-40B4-BE49-F238E27FC236}">
                <a16:creationId xmlns:a16="http://schemas.microsoft.com/office/drawing/2014/main" id="{DBBFE39E-7311-437F-868D-FE0ACC8B36E9}"/>
              </a:ext>
            </a:extLst>
          </p:cNvPr>
          <p:cNvSpPr>
            <a:spLocks xmlns:a="http://schemas.openxmlformats.org/drawingml/2006/main" noGrp="1"/>
          </p:cNvSpPr>
          <p:nvPr/>
        </p:nvSpPr>
        <p:spPr>
          <a:xfrm xmlns:a="http://schemas.openxmlformats.org/drawingml/2006/main">
            <a:off x="3295650" y="2419350"/>
            <a:ext cx="243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00" b="0">
                <a:solidFill>
                  <a:srgbClr val="5B6470"/>
                </a:solidFill>
                <a:latin typeface="Arial"/>
                <a:ea typeface="Arial"/>
                <a:cs typeface="Arial"/>
              </a:defRPr>
            </a:pPr>
            <a:r>
              <a:rPr sz="1600" b="0">
                <a:solidFill>
                  <a:srgbClr val="5B6470"/>
                </a:solidFill>
                <a:latin typeface="Arial"/>
                <a:ea typeface="Arial"/>
                <a:cs typeface="Arial"/>
              </a:rPr>
              <a:t>ResNet macro F1 · n=48</a:t>
            </a:r>
          </a:p>
        </p:txBody>
      </p:sp>
      <p:sp>
        <p:nvSpPr>
          <p:cNvPr id="12" name="">
            <a:extLst xmlns:a="http://schemas.openxmlformats.org/drawingml/2006/main">
              <a:ext uri="{FF2B5EF4-FFF2-40B4-BE49-F238E27FC236}">
                <a16:creationId xmlns:a16="http://schemas.microsoft.com/office/drawing/2014/main" id="{1A9BD54B-BF64-42B6-AC26-6ABCDD95FD25}"/>
              </a:ext>
            </a:extLst>
          </p:cNvPr>
          <p:cNvSpPr>
            <a:spLocks xmlns:a="http://schemas.openxmlformats.org/drawingml/2006/main" noGrp="1"/>
          </p:cNvSpPr>
          <p:nvPr/>
        </p:nvSpPr>
        <p:spPr>
          <a:xfrm xmlns:a="http://schemas.openxmlformats.org/drawingml/2006/main">
            <a:off x="393668" y="3048000"/>
            <a:ext cx="5530882" cy="1438275"/>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D14D9962-3803-4B38-AC37-3CEBCF7455C7}"/>
              </a:ext>
            </a:extLst>
          </p:cNvPr>
          <p:cNvSpPr>
            <a:spLocks xmlns:a="http://schemas.openxmlformats.org/drawingml/2006/main" noGrp="1"/>
          </p:cNvSpPr>
          <p:nvPr/>
        </p:nvSpPr>
        <p:spPr>
          <a:xfrm xmlns:a="http://schemas.openxmlformats.org/drawingml/2006/main">
            <a:off x="584168" y="3219450"/>
            <a:ext cx="5149882"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450" b="1">
                <a:solidFill>
                  <a:srgbClr val="000000"/>
                </a:solidFill>
                <a:latin typeface="Arial"/>
                <a:ea typeface="Arial"/>
                <a:cs typeface="Arial"/>
              </a:defRPr>
            </a:pPr>
            <a:r>
              <a:rPr sz="3450" b="1">
                <a:solidFill>
                  <a:srgbClr val="000000"/>
                </a:solidFill>
                <a:latin typeface="Arial"/>
                <a:ea typeface="Arial"/>
                <a:cs typeface="Arial"/>
              </a:rPr>
              <a:t>71.527 / 40.064 ms</a:t>
            </a:r>
          </a:p>
        </p:txBody>
      </p:sp>
      <p:sp>
        <p:nvSpPr>
          <p:cNvPr id="14" name="">
            <a:extLst xmlns:a="http://schemas.openxmlformats.org/drawingml/2006/main">
              <a:ext uri="{FF2B5EF4-FFF2-40B4-BE49-F238E27FC236}">
                <a16:creationId xmlns:a16="http://schemas.microsoft.com/office/drawing/2014/main" id="{F368F525-F44F-415E-A9FB-757B459B6361}"/>
              </a:ext>
            </a:extLst>
          </p:cNvPr>
          <p:cNvSpPr>
            <a:spLocks xmlns:a="http://schemas.openxmlformats.org/drawingml/2006/main" noGrp="1"/>
          </p:cNvSpPr>
          <p:nvPr/>
        </p:nvSpPr>
        <p:spPr>
          <a:xfrm xmlns:a="http://schemas.openxmlformats.org/drawingml/2006/main">
            <a:off x="584168" y="3886200"/>
            <a:ext cx="5149882"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00" b="0">
                <a:solidFill>
                  <a:srgbClr val="5B6470"/>
                </a:solidFill>
                <a:latin typeface="Arial"/>
                <a:ea typeface="Arial"/>
                <a:cs typeface="Arial"/>
              </a:defRPr>
            </a:pPr>
            <a:r>
              <a:rPr sz="1600" b="0">
                <a:solidFill>
                  <a:srgbClr val="5B6470"/>
                </a:solidFill>
                <a:latin typeface="Arial"/>
                <a:ea typeface="Arial"/>
                <a:cs typeface="Arial"/>
              </a:rPr>
              <a:t>Classifier p95 · ViT / ResNet · batch 1</a:t>
            </a:r>
          </a:p>
          <a:p xmlns:a="http://schemas.openxmlformats.org/drawingml/2006/main">
            <a:pPr algn="l">
              <a:defRPr sz="1600" b="0">
                <a:solidFill>
                  <a:srgbClr val="5B6470"/>
                </a:solidFill>
                <a:latin typeface="Arial"/>
                <a:ea typeface="Arial"/>
                <a:cs typeface="Arial"/>
              </a:defRPr>
            </a:pPr>
            <a:r>
              <a:rPr sz="1600" b="0">
                <a:solidFill>
                  <a:srgbClr val="5B6470"/>
                </a:solidFill>
                <a:latin typeface="Arial"/>
                <a:ea typeface="Arial"/>
                <a:cs typeface="Arial"/>
              </a:rPr>
              <a:t>ViT exceeds 50 ms; full-pipeline timing is unknown</a:t>
            </a:r>
          </a:p>
        </p:txBody>
      </p:sp>
      <p:sp>
        <p:nvSpPr>
          <p:cNvPr id="15" name="">
            <a:extLst xmlns:a="http://schemas.openxmlformats.org/drawingml/2006/main">
              <a:ext uri="{FF2B5EF4-FFF2-40B4-BE49-F238E27FC236}">
                <a16:creationId xmlns:a16="http://schemas.microsoft.com/office/drawing/2014/main" id="{D6E38B80-3168-4889-8BEE-24E0C292CA1B}"/>
              </a:ext>
            </a:extLst>
          </p:cNvPr>
          <p:cNvSpPr>
            <a:spLocks xmlns:a="http://schemas.openxmlformats.org/drawingml/2006/main" noGrp="1"/>
          </p:cNvSpPr>
          <p:nvPr/>
        </p:nvSpPr>
        <p:spPr>
          <a:xfrm xmlns:a="http://schemas.openxmlformats.org/drawingml/2006/main">
            <a:off x="393668" y="4657725"/>
            <a:ext cx="5524500" cy="1419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00" b="0">
                <a:solidFill>
                  <a:srgbClr val="5B6470"/>
                </a:solidFill>
                <a:latin typeface="Arial"/>
                <a:ea typeface="Arial"/>
                <a:cs typeface="Arial"/>
              </a:defRPr>
            </a:pPr>
            <a:r>
              <a:rPr sz="1600" b="0">
                <a:solidFill>
                  <a:srgbClr val="5B6470"/>
                </a:solidFill>
                <a:latin typeface="Arial"/>
                <a:ea typeface="Arial"/>
                <a:cs typeface="Arial"/>
              </a:rPr>
              <a:t>Safe precision 1.000: PASS (&gt;0.98)</a:t>
            </a:r>
          </a:p>
          <a:p xmlns:a="http://schemas.openxmlformats.org/drawingml/2006/main">
            <a:pPr algn="l">
              <a:defRPr sz="1600" b="0">
                <a:solidFill>
                  <a:srgbClr val="5B6470"/>
                </a:solidFill>
                <a:latin typeface="Arial"/>
                <a:ea typeface="Arial"/>
                <a:cs typeface="Arial"/>
              </a:defRPr>
            </a:pPr>
            <a:r>
              <a:rPr sz="1600" b="0">
                <a:solidFill>
                  <a:srgbClr val="5B6470"/>
                </a:solidFill>
                <a:latin typeface="Arial"/>
                <a:ea typeface="Arial"/>
                <a:cs typeface="Arial"/>
              </a:rPr>
              <a:t>Safe false-flag rate: 0.0%</a:t>
            </a:r>
          </a:p>
          <a:p xmlns:a="http://schemas.openxmlformats.org/drawingml/2006/main">
            <a:pPr algn="l">
              <a:defRPr sz="1600" b="0">
                <a:solidFill>
                  <a:srgbClr val="5B6470"/>
                </a:solidFill>
                <a:latin typeface="Arial"/>
                <a:ea typeface="Arial"/>
                <a:cs typeface="Arial"/>
              </a:defRPr>
            </a:pPr>
            <a:r>
              <a:rPr sz="1600" b="0">
                <a:solidFill>
                  <a:srgbClr val="5B6470"/>
                </a:solidFill>
                <a:latin typeface="Arial"/>
                <a:ea typeface="Arial"/>
                <a:cs typeface="Arial"/>
              </a:rPr>
              <a:t>Restricted recall, argmax mean: 0.97222</a:t>
            </a:r>
          </a:p>
          <a:p xmlns:a="http://schemas.openxmlformats.org/drawingml/2006/main">
            <a:pPr algn="l">
              <a:defRPr sz="1600" b="0">
                <a:solidFill>
                  <a:srgbClr val="5B6470"/>
                </a:solidFill>
                <a:latin typeface="Arial"/>
                <a:ea typeface="Arial"/>
                <a:cs typeface="Arial"/>
              </a:defRPr>
            </a:pPr>
            <a:r>
              <a:rPr sz="1600" b="0">
                <a:solidFill>
                  <a:srgbClr val="5B6470"/>
                </a:solidFill>
                <a:latin typeface="Arial"/>
                <a:ea typeface="Arial"/>
                <a:cs typeface="Arial"/>
              </a:rPr>
              <a:t>Restricted recall, threshold mean / minimum: 0.94444 / 0.91667</a:t>
            </a:r>
          </a:p>
          <a:p xmlns:a="http://schemas.openxmlformats.org/drawingml/2006/main">
            <a:pPr algn="l">
              <a:defRPr sz="1600" b="0">
                <a:solidFill>
                  <a:srgbClr val="5B6470"/>
                </a:solidFill>
                <a:latin typeface="Arial"/>
                <a:ea typeface="Arial"/>
                <a:cs typeface="Arial"/>
              </a:defRPr>
            </a:pPr>
            <a:r>
              <a:rPr sz="1600" b="0">
                <a:solidFill>
                  <a:srgbClr val="5B6470"/>
                </a:solidFill>
                <a:latin typeface="Arial"/>
                <a:ea typeface="Arial"/>
                <a:cs typeface="Arial"/>
              </a:rPr>
              <a:t>Result: two restricted classes miss the &gt;0.95 proposal target</a:t>
            </a:r>
          </a:p>
        </p:txBody>
      </p:sp>
      <p:sp>
        <p:nvSpPr>
          <p:cNvPr id="16" name="">
            <a:extLst xmlns:a="http://schemas.openxmlformats.org/drawingml/2006/main">
              <a:ext uri="{FF2B5EF4-FFF2-40B4-BE49-F238E27FC236}">
                <a16:creationId xmlns:a16="http://schemas.microsoft.com/office/drawing/2014/main" id="{14191F86-DA2B-481B-9597-9BE3C0AC26D3}"/>
              </a:ext>
            </a:extLst>
          </p:cNvPr>
          <p:cNvSpPr>
            <a:spLocks xmlns:a="http://schemas.openxmlformats.org/drawingml/2006/main" noGrp="1"/>
          </p:cNvSpPr>
          <p:nvPr/>
        </p:nvSpPr>
        <p:spPr>
          <a:xfrm xmlns:a="http://schemas.openxmlformats.org/drawingml/2006/main">
            <a:off x="393668" y="171450"/>
            <a:ext cx="457200" cy="381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7" name="">
            <a:extLst xmlns:a="http://schemas.openxmlformats.org/drawingml/2006/main">
              <a:ext uri="{FF2B5EF4-FFF2-40B4-BE49-F238E27FC236}">
                <a16:creationId xmlns:a16="http://schemas.microsoft.com/office/drawing/2014/main" id="{73B1EF65-F196-4BB2-B2A4-A737F1670D5C}"/>
              </a:ext>
            </a:extLst>
          </p:cNvPr>
          <p:cNvSpPr>
            <a:spLocks xmlns:a="http://schemas.openxmlformats.org/drawingml/2006/main" noGrp="1"/>
          </p:cNvSpPr>
          <p:nvPr/>
        </p:nvSpPr>
        <p:spPr>
          <a:xfrm xmlns:a="http://schemas.openxmlformats.org/drawingml/2006/main">
            <a:off x="8715375" y="104775"/>
            <a:ext cx="30765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00" b="1">
                <a:solidFill>
                  <a:srgbClr val="5B6470"/>
                </a:solidFill>
                <a:latin typeface="Arial"/>
                <a:ea typeface="Arial"/>
                <a:cs typeface="Arial"/>
              </a:defRPr>
            </a:pPr>
            <a:r>
              <a:rPr sz="1000" b="1">
                <a:solidFill>
                  <a:srgbClr val="5B6470"/>
                </a:solidFill>
                <a:latin typeface="Arial"/>
                <a:ea typeface="Arial"/>
                <a:cs typeface="Arial"/>
              </a:rPr>
              <a:t>10 · FORMAL RESULTS</a:t>
            </a:r>
          </a:p>
        </p:txBody>
      </p:sp>
      <p:sp>
        <p:nvSpPr>
          <p:cNvPr id="18" name="">
            <a:extLst xmlns:a="http://schemas.openxmlformats.org/drawingml/2006/main">
              <a:ext uri="{FF2B5EF4-FFF2-40B4-BE49-F238E27FC236}">
                <a16:creationId xmlns:a16="http://schemas.microsoft.com/office/drawing/2014/main" id="{B9DE2851-F862-4D51-99D3-26434504822F}"/>
              </a:ext>
            </a:extLst>
          </p:cNvPr>
          <p:cNvSpPr>
            <a:spLocks xmlns:a="http://schemas.openxmlformats.org/drawingml/2006/main" noGrp="1"/>
          </p:cNvSpPr>
          <p:nvPr/>
        </p:nvSpPr>
        <p:spPr>
          <a:xfrm xmlns:a="http://schemas.openxmlformats.org/drawingml/2006/main">
            <a:off x="609600" y="6553200"/>
            <a:ext cx="5118068"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00" b="1">
                <a:solidFill>
                  <a:srgbClr val="5B6470"/>
                </a:solidFill>
                <a:latin typeface="Arial"/>
                <a:ea typeface="Arial"/>
                <a:cs typeface="Arial"/>
              </a:defRPr>
            </a:pPr>
            <a:r>
              <a:rPr sz="1000" b="1">
                <a:solidFill>
                  <a:srgbClr val="5B6470"/>
                </a:solidFill>
                <a:latin typeface="Arial"/>
                <a:ea typeface="Arial"/>
                <a:cs typeface="Arial"/>
              </a:rPr>
              <a:t>PRESENTER  Swarnaditya Maitra</a:t>
            </a:r>
          </a:p>
        </p:txBody>
      </p:sp>
    </p:spTree>
    <p:extLst>
      <p:ext uri="{BB962C8B-B14F-4D97-AF65-F5344CB8AC3E}">
        <p14:creationId xmlns:p14="http://schemas.microsoft.com/office/powerpoint/2010/main" val="113399776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Google-Shape-532-p58-2">
            <a:extLst xmlns:a="http://schemas.openxmlformats.org/drawingml/2006/main">
              <a:ext uri="{FF2B5EF4-FFF2-40B4-BE49-F238E27FC236}">
                <a16:creationId xmlns:a16="http://schemas.microsoft.com/office/drawing/2014/main" id="{60A55289-CD59-4BF6-BD68-917FE2F964D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11</a:t>
            </a:r>
          </a:p>
        </p:txBody>
      </p:sp>
      <p:sp>
        <p:nvSpPr>
          <p:cNvPr id="2" name="Google-Shape-533-p58-3">
            <a:extLst xmlns:a="http://schemas.openxmlformats.org/drawingml/2006/main">
              <a:ext uri="{FF2B5EF4-FFF2-40B4-BE49-F238E27FC236}">
                <a16:creationId xmlns:a16="http://schemas.microsoft.com/office/drawing/2014/main" id="{F38C00EF-8FF9-42E4-81D0-D3C0AE297952}"/>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900">
                <a:solidFill>
                  <a:srgbClr val="000000"/>
                </a:solidFill>
                <a:latin typeface="Helvetica Neue"/>
                <a:ea typeface="Helvetica Neue"/>
                <a:cs typeface="Helvetica Neue"/>
              </a:defRPr>
            </a:pPr>
            <a:r>
              <a:rPr sz="3600">
                <a:solidFill>
                  <a:srgbClr val="000000"/>
                </a:solidFill>
                <a:latin typeface="Arial"/>
                <a:ea typeface="Arial"/>
                <a:cs typeface="Arial"/>
              </a:rPr>
              <a:t>One grenade was classified
as a firearm</a:t>
            </a:r>
          </a:p>
        </p:txBody>
      </p:sp>
      <p:sp>
        <p:nvSpPr>
          <p:cNvPr id="3" name="Rounded-Rectangle-6-4">
            <a:extLst xmlns:a="http://schemas.openxmlformats.org/drawingml/2006/main">
              <a:ext uri="{FF2B5EF4-FFF2-40B4-BE49-F238E27FC236}">
                <a16:creationId xmlns:a16="http://schemas.microsoft.com/office/drawing/2014/main" id="{464C3BB0-9B65-426D-BCF8-16906D21DCAC}"/>
              </a:ext>
            </a:extLst>
          </p:cNvPr>
          <p:cNvSpPr>
            <a:spLocks xmlns:a="http://schemas.openxmlformats.org/drawingml/2006/main" noGrp="1"/>
          </p:cNvSpPr>
          <p:nvPr/>
        </p:nvSpPr>
        <p:spPr>
          <a:xfrm xmlns:a="http://schemas.openxmlformats.org/drawingml/2006/main">
            <a:off x="6264402" y="236982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C28B0F83-A059-48B8-AA7B-B2977CAF6CE7}"/>
              </a:ext>
            </a:extLst>
          </p:cNvPr>
          <p:cNvSpPr>
            <a:spLocks xmlns:a="http://schemas.openxmlformats.org/drawingml/2006/main" noGrp="1"/>
          </p:cNvSpPr>
          <p:nvPr/>
        </p:nvSpPr>
        <p:spPr>
          <a:xfrm xmlns:a="http://schemas.openxmlformats.org/drawingml/2006/main">
            <a:off x="6561677" y="266480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800" b="1">
                <a:solidFill>
                  <a:srgbClr val="000000"/>
                </a:solidFill>
                <a:latin typeface="Arial"/>
                <a:ea typeface="Arial"/>
                <a:cs typeface="Arial"/>
              </a:rPr>
              <a:t>POLICY RESULT</a:t>
            </a:r>
          </a:p>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Arial"/>
                <a:ea typeface="Arial"/>
                <a:cs typeface="Arial"/>
              </a:rPr>
              <a:t>Neither block threshold fired, so the saved case went to REVIEW rather than automatic enforcement.</a:t>
            </a:r>
          </a:p>
        </p:txBody>
      </p:sp>
      <p:sp>
        <p:nvSpPr>
          <p:cNvPr id="5" name="Rounded-Rectangle-8-6">
            <a:extLst xmlns:a="http://schemas.openxmlformats.org/drawingml/2006/main">
              <a:ext uri="{FF2B5EF4-FFF2-40B4-BE49-F238E27FC236}">
                <a16:creationId xmlns:a16="http://schemas.microsoft.com/office/drawing/2014/main" id="{A8350272-FD1D-423C-9333-0E65FD98155A}"/>
              </a:ext>
            </a:extLst>
          </p:cNvPr>
          <p:cNvSpPr>
            <a:spLocks xmlns:a="http://schemas.openxmlformats.org/drawingml/2006/main" noGrp="1"/>
          </p:cNvSpPr>
          <p:nvPr/>
        </p:nvSpPr>
        <p:spPr>
          <a:xfrm xmlns:a="http://schemas.openxmlformats.org/drawingml/2006/main">
            <a:off x="6264402" y="393668"/>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6" name="Content-Placeholder-10-7">
            <a:extLst xmlns:a="http://schemas.openxmlformats.org/drawingml/2006/main">
              <a:ext uri="{FF2B5EF4-FFF2-40B4-BE49-F238E27FC236}">
                <a16:creationId xmlns:a16="http://schemas.microsoft.com/office/drawing/2014/main" id="{0FCE86A7-0206-489A-9D3C-E611F5DACDB3}"/>
              </a:ext>
            </a:extLst>
          </p:cNvPr>
          <p:cNvSpPr>
            <a:spLocks xmlns:a="http://schemas.openxmlformats.org/drawingml/2006/main" noGrp="1"/>
          </p:cNvSpPr>
          <p:nvPr/>
        </p:nvSpPr>
        <p:spPr>
          <a:xfrm xmlns:a="http://schemas.openxmlformats.org/drawingml/2006/main">
            <a:off x="6561677" y="688658"/>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800" b="1">
                <a:solidFill>
                  <a:srgbClr val="000000"/>
                </a:solidFill>
                <a:latin typeface="Arial"/>
                <a:ea typeface="Arial"/>
                <a:cs typeface="Arial"/>
              </a:rPr>
              <a:t>WHAT HAPPENED</a:t>
            </a:r>
          </a:p>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Arial"/>
                <a:ea typeface="Arial"/>
                <a:cs typeface="Arial"/>
              </a:rPr>
              <a:t>One explosives image was predicted as firearms. The other 47 labels were correct.</a:t>
            </a:r>
          </a:p>
        </p:txBody>
      </p:sp>
      <p:sp>
        <p:nvSpPr>
          <p:cNvPr id="7" name="Rounded-Rectangle-1-8">
            <a:extLst xmlns:a="http://schemas.openxmlformats.org/drawingml/2006/main">
              <a:ext uri="{FF2B5EF4-FFF2-40B4-BE49-F238E27FC236}">
                <a16:creationId xmlns:a16="http://schemas.microsoft.com/office/drawing/2014/main" id="{837DB3F7-181B-4E1A-97F2-4796321E978F}"/>
              </a:ext>
            </a:extLst>
          </p:cNvPr>
          <p:cNvSpPr>
            <a:spLocks xmlns:a="http://schemas.openxmlformats.org/drawingml/2006/main" noGrp="1"/>
          </p:cNvSpPr>
          <p:nvPr/>
        </p:nvSpPr>
        <p:spPr>
          <a:xfrm xmlns:a="http://schemas.openxmlformats.org/drawingml/2006/main">
            <a:off x="6264402" y="438150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8" name="Content-Placeholder-10-9">
            <a:extLst xmlns:a="http://schemas.openxmlformats.org/drawingml/2006/main">
              <a:ext uri="{FF2B5EF4-FFF2-40B4-BE49-F238E27FC236}">
                <a16:creationId xmlns:a16="http://schemas.microsoft.com/office/drawing/2014/main" id="{695F24EC-08EB-46DD-9C3D-86D3B06F9E07}"/>
              </a:ext>
            </a:extLst>
          </p:cNvPr>
          <p:cNvSpPr>
            <a:spLocks xmlns:a="http://schemas.openxmlformats.org/drawingml/2006/main" noGrp="1"/>
          </p:cNvSpPr>
          <p:nvPr/>
        </p:nvSpPr>
        <p:spPr>
          <a:xfrm xmlns:a="http://schemas.openxmlformats.org/drawingml/2006/main">
            <a:off x="6561677" y="467648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800" b="1">
                <a:solidFill>
                  <a:srgbClr val="000000"/>
                </a:solidFill>
                <a:latin typeface="Arial"/>
                <a:ea typeface="Arial"/>
                <a:cs typeface="Arial"/>
              </a:rPr>
              <a:t>WHY IT MATTERS</a:t>
            </a:r>
          </a:p>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Arial"/>
                <a:ea typeface="Arial"/>
                <a:cs typeface="Arial"/>
              </a:rPr>
              <a:t>Lowest class: explosives.
ViT F1 0.957
ResNet F1 0.750</a:t>
            </a:r>
          </a:p>
        </p:txBody>
      </p:sp>
      <p:graphicFrame>
        <p:nvGraphicFramePr>
          <p:cNvPr id="22" name="Chart"/>
          <p:cNvGraphicFramePr/>
          <p:nvPr/>
        </p:nvGraphicFramePr>
        <p:xfrm>
          <a:off xmlns:a="http://schemas.openxmlformats.org/drawingml/2006/main" x="408718" y="1409700"/>
          <a:ext xmlns:a="http://schemas.openxmlformats.org/drawingml/2006/main" cx="5124164" cy="5095875"/>
        </p:xfrm>
        <a:graphic xmlns:a="http://schemas.openxmlformats.org/drawingml/2006/main">
          <a:graphicData uri="http://schemas.openxmlformats.org/drawingml/2006/chart">
            <c:chart xmlns:r="http://schemas.openxmlformats.org/officeDocument/2006/relationships" xmlns:c="http://schemas.openxmlformats.org/drawingml/2006/chart" r:id="Rea05b542081344e2"/>
          </a:graphicData>
        </a:graphic>
      </p:graphicFrame>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a8ee64158c0c4b29"/>
          <a:srcRect xmlns:a="http://schemas.openxmlformats.org/drawingml/2006/main" l="0" t="9091" r="0" b="9091"/>
          <a:stretch xmlns:a="http://schemas.openxmlformats.org/drawingml/2006/main">
            <a:fillRect l="0" t="0" r="0" b="0"/>
          </a:stretch>
        </p:blipFill>
        <p:spPr>
          <a:xfrm xmlns:a="http://schemas.openxmlformats.org/drawingml/2006/main">
            <a:off x="10458450" y="4762500"/>
            <a:ext cx="1047750" cy="8572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E349E243-A293-4AC0-833B-2E2C113425E8}"/>
              </a:ext>
            </a:extLst>
          </p:cNvPr>
          <p:cNvSpPr>
            <a:spLocks xmlns:a="http://schemas.openxmlformats.org/drawingml/2006/main" noGrp="1"/>
          </p:cNvSpPr>
          <p:nvPr/>
        </p:nvSpPr>
        <p:spPr>
          <a:xfrm xmlns:a="http://schemas.openxmlformats.org/drawingml/2006/main">
            <a:off x="393668" y="171450"/>
            <a:ext cx="457200" cy="381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2" name="">
            <a:extLst xmlns:a="http://schemas.openxmlformats.org/drawingml/2006/main">
              <a:ext uri="{FF2B5EF4-FFF2-40B4-BE49-F238E27FC236}">
                <a16:creationId xmlns:a16="http://schemas.microsoft.com/office/drawing/2014/main" id="{69C7E3BB-618E-4DD8-85A9-FF6FA4D35E8F}"/>
              </a:ext>
            </a:extLst>
          </p:cNvPr>
          <p:cNvSpPr>
            <a:spLocks xmlns:a="http://schemas.openxmlformats.org/drawingml/2006/main" noGrp="1"/>
          </p:cNvSpPr>
          <p:nvPr/>
        </p:nvSpPr>
        <p:spPr>
          <a:xfrm xmlns:a="http://schemas.openxmlformats.org/drawingml/2006/main">
            <a:off x="8715375" y="104775"/>
            <a:ext cx="30765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00" b="1">
                <a:solidFill>
                  <a:srgbClr val="5B6470"/>
                </a:solidFill>
                <a:latin typeface="Arial"/>
                <a:ea typeface="Arial"/>
                <a:cs typeface="Arial"/>
              </a:defRPr>
            </a:pPr>
            <a:r>
              <a:rPr sz="1000" b="1">
                <a:solidFill>
                  <a:srgbClr val="5B6470"/>
                </a:solidFill>
                <a:latin typeface="Arial"/>
                <a:ea typeface="Arial"/>
                <a:cs typeface="Arial"/>
              </a:rPr>
              <a:t>11 · CLASS AND FAILURE ANALYSIS</a:t>
            </a:r>
          </a:p>
        </p:txBody>
      </p:sp>
      <p:sp>
        <p:nvSpPr>
          <p:cNvPr id="13" name="">
            <a:extLst xmlns:a="http://schemas.openxmlformats.org/drawingml/2006/main">
              <a:ext uri="{FF2B5EF4-FFF2-40B4-BE49-F238E27FC236}">
                <a16:creationId xmlns:a16="http://schemas.microsoft.com/office/drawing/2014/main" id="{4D00EE9E-CB79-40EE-93E4-45440997C675}"/>
              </a:ext>
            </a:extLst>
          </p:cNvPr>
          <p:cNvSpPr>
            <a:spLocks xmlns:a="http://schemas.openxmlformats.org/drawingml/2006/main" noGrp="1"/>
          </p:cNvSpPr>
          <p:nvPr/>
        </p:nvSpPr>
        <p:spPr>
          <a:xfrm xmlns:a="http://schemas.openxmlformats.org/drawingml/2006/main">
            <a:off x="609600" y="6553200"/>
            <a:ext cx="5118068"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00" b="1">
                <a:solidFill>
                  <a:srgbClr val="5B6470"/>
                </a:solidFill>
                <a:latin typeface="Arial"/>
                <a:ea typeface="Arial"/>
                <a:cs typeface="Arial"/>
              </a:defRPr>
            </a:pPr>
            <a:r>
              <a:rPr sz="1000" b="1">
                <a:solidFill>
                  <a:srgbClr val="5B6470"/>
                </a:solidFill>
                <a:latin typeface="Arial"/>
                <a:ea typeface="Arial"/>
                <a:cs typeface="Arial"/>
              </a:rPr>
              <a:t>PRESENTER  Vijay Agnihotri</a:t>
            </a:r>
          </a:p>
        </p:txBody>
      </p:sp>
    </p:spTree>
    <p:extLst>
      <p:ext uri="{BB962C8B-B14F-4D97-AF65-F5344CB8AC3E}">
        <p14:creationId xmlns:p14="http://schemas.microsoft.com/office/powerpoint/2010/main" val="30540590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Google-Shape-532-p58-2">
            <a:extLst xmlns:a="http://schemas.openxmlformats.org/drawingml/2006/main">
              <a:ext uri="{FF2B5EF4-FFF2-40B4-BE49-F238E27FC236}">
                <a16:creationId xmlns:a16="http://schemas.microsoft.com/office/drawing/2014/main" id="{2B3CFA79-E3E4-463F-A408-87A1958616A8}"/>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12</a:t>
            </a:r>
          </a:p>
        </p:txBody>
      </p:sp>
      <p:sp>
        <p:nvSpPr>
          <p:cNvPr id="2" name="Google-Shape-533-p58-3">
            <a:extLst xmlns:a="http://schemas.openxmlformats.org/drawingml/2006/main">
              <a:ext uri="{FF2B5EF4-FFF2-40B4-BE49-F238E27FC236}">
                <a16:creationId xmlns:a16="http://schemas.microsoft.com/office/drawing/2014/main" id="{A749BF78-45A2-4410-93D0-2513874934B3}"/>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900">
                <a:solidFill>
                  <a:srgbClr val="000000"/>
                </a:solidFill>
                <a:latin typeface="Helvetica Neue"/>
                <a:ea typeface="Helvetica Neue"/>
                <a:cs typeface="Helvetica Neue"/>
              </a:defRPr>
            </a:pPr>
            <a:r>
              <a:rPr sz="3600">
                <a:solidFill>
                  <a:srgbClr val="000000"/>
                </a:solidFill>
                <a:latin typeface="Arial"/>
                <a:ea typeface="Arial"/>
                <a:cs typeface="Arial"/>
              </a:rPr>
              <a:t>External images exposed
weak generalization</a:t>
            </a:r>
          </a:p>
        </p:txBody>
      </p:sp>
      <p:sp>
        <p:nvSpPr>
          <p:cNvPr id="3" name="Picture-3-4-backing">
            <a:extLst xmlns:a="http://schemas.openxmlformats.org/drawingml/2006/main">
              <a:ext uri="{FF2B5EF4-FFF2-40B4-BE49-F238E27FC236}">
                <a16:creationId xmlns:a16="http://schemas.microsoft.com/office/drawing/2014/main" id="{E3833ED0-D2F2-43B2-B1D2-F97E0EB4190E}"/>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pic>
        <p:nvPicPr>
          <p:cNvPr id="17" name="Picture-3-4"/>
          <p:cNvPicPr>
            <a:picLocks xmlns:a="http://schemas.openxmlformats.org/drawingml/2006/main" noChangeAspect="1"/>
          </p:cNvPicPr>
          <p:nvPr/>
        </p:nvPicPr>
        <p:blipFill>
          <a:blip xmlns:r="http://schemas.openxmlformats.org/officeDocument/2006/relationships" xmlns:a="http://schemas.openxmlformats.org/drawingml/2006/main" r:embed="Rb087a065f4414ee3"/>
          <a:srcRect xmlns:a="http://schemas.openxmlformats.org/drawingml/2006/main" l="18403" t="0" r="18403" b="0"/>
          <a:stretch xmlns:a="http://schemas.openxmlformats.org/drawingml/2006/main">
            <a:fillRect l="0" t="0" r="0" b="0"/>
          </a:stretch>
        </p:blipFill>
        <p:spPr>
          <a:xfrm xmlns:a="http://schemas.openxmlformats.org/drawingml/2006/main">
            <a:off x="6269069" y="396431"/>
            <a:ext cx="2152650" cy="5602034"/>
          </a:xfrm>
          <a:prstGeom xmlns:a="http://schemas.openxmlformats.org/drawingml/2006/main" prst="rect">
            <a:avLst/>
          </a:prstGeom>
        </p:spPr>
      </p:pic>
      <p:sp>
        <p:nvSpPr>
          <p:cNvPr id="5" name="Google-Shape-534-p58-5">
            <a:extLst xmlns:a="http://schemas.openxmlformats.org/drawingml/2006/main">
              <a:ext uri="{FF2B5EF4-FFF2-40B4-BE49-F238E27FC236}">
                <a16:creationId xmlns:a16="http://schemas.microsoft.com/office/drawing/2014/main" id="{F3AC287F-F5CC-4EE7-AB77-8D5BFCEB40F7}"/>
              </a:ext>
            </a:extLst>
          </p:cNvPr>
          <p:cNvSpPr>
            <a:spLocks xmlns:a="http://schemas.openxmlformats.org/drawingml/2006/main" noGrp="1"/>
          </p:cNvSpPr>
          <p:nvPr/>
        </p:nvSpPr>
        <p:spPr>
          <a:xfrm xmlns:a="http://schemas.openxmlformats.org/drawingml/2006/main">
            <a:off x="393668" y="2031968"/>
            <a:ext cx="5537168" cy="3962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800" b="1">
                <a:solidFill>
                  <a:srgbClr val="000000"/>
                </a:solidFill>
                <a:latin typeface="Arial"/>
                <a:ea typeface="Arial"/>
                <a:cs typeface="Arial"/>
              </a:rPr>
              <a:t>WIKIMEDIA DIAGNOSTIC · n=26</a:t>
            </a:r>
          </a:p>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Arial"/>
                <a:ea typeface="Arial"/>
                <a:cs typeface="Arial"/>
              </a:rPr>
              <a:t>0.55489 classifier macro F1
0.90 detector nonweapon FPR
The images use different layouts, languages, ages, and photographic contexts. This small selected diagnostic is a warning, not a formal test set or population estimate.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c0979efeb96743b7"/>
          <a:srcRect xmlns:a="http://schemas.openxmlformats.org/drawingml/2006/main" l="1572" t="0" r="1572" b="0"/>
          <a:stretch xmlns:a="http://schemas.openxmlformats.org/drawingml/2006/main">
            <a:fillRect l="0" t="0" r="0" b="0"/>
          </a:stretch>
        </p:blipFill>
        <p:spPr>
          <a:xfrm xmlns:a="http://schemas.openxmlformats.org/drawingml/2006/main">
            <a:off x="8572500" y="396431"/>
            <a:ext cx="3236309" cy="2667000"/>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afff97483a46433f"/>
          <a:srcRect xmlns:a="http://schemas.openxmlformats.org/drawingml/2006/main" l="12237" t="0" r="12237" b="0"/>
          <a:stretch xmlns:a="http://schemas.openxmlformats.org/drawingml/2006/main">
            <a:fillRect l="0" t="0" r="0" b="0"/>
          </a:stretch>
        </p:blipFill>
        <p:spPr>
          <a:xfrm xmlns:a="http://schemas.openxmlformats.org/drawingml/2006/main">
            <a:off x="8572500" y="3331464"/>
            <a:ext cx="3236309" cy="2667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4EB42C2-5CFF-468E-9B5D-AC1CE44019DA}"/>
              </a:ext>
            </a:extLst>
          </p:cNvPr>
          <p:cNvSpPr>
            <a:spLocks xmlns:a="http://schemas.openxmlformats.org/drawingml/2006/main" noGrp="1"/>
          </p:cNvSpPr>
          <p:nvPr/>
        </p:nvSpPr>
        <p:spPr>
          <a:xfrm xmlns:a="http://schemas.openxmlformats.org/drawingml/2006/main">
            <a:off x="6372225" y="5543550"/>
            <a:ext cx="1943100" cy="3429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00" b="1">
                <a:solidFill>
                  <a:srgbClr val="D9485F"/>
                </a:solidFill>
                <a:latin typeface="Arial"/>
                <a:ea typeface="Arial"/>
                <a:cs typeface="Arial"/>
              </a:defRPr>
            </a:pPr>
            <a:r>
              <a:rPr sz="1600" b="1">
                <a:solidFill>
                  <a:srgbClr val="D9485F"/>
                </a:solidFill>
                <a:latin typeface="Arial"/>
                <a:ea typeface="Arial"/>
                <a:cs typeface="Arial"/>
              </a:rPr>
              <a:t>SAFE → BLOCK</a:t>
            </a:r>
          </a:p>
        </p:txBody>
      </p:sp>
      <p:sp>
        <p:nvSpPr>
          <p:cNvPr id="9" name="">
            <a:extLst xmlns:a="http://schemas.openxmlformats.org/drawingml/2006/main">
              <a:ext uri="{FF2B5EF4-FFF2-40B4-BE49-F238E27FC236}">
                <a16:creationId xmlns:a16="http://schemas.microsoft.com/office/drawing/2014/main" id="{48E5A729-41ED-4B08-AD33-E1E1901187AF}"/>
              </a:ext>
            </a:extLst>
          </p:cNvPr>
          <p:cNvSpPr>
            <a:spLocks xmlns:a="http://schemas.openxmlformats.org/drawingml/2006/main" noGrp="1"/>
          </p:cNvSpPr>
          <p:nvPr/>
        </p:nvSpPr>
        <p:spPr>
          <a:xfrm xmlns:a="http://schemas.openxmlformats.org/drawingml/2006/main">
            <a:off x="8677275" y="2628900"/>
            <a:ext cx="3028950" cy="3429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00" b="1">
                <a:solidFill>
                  <a:srgbClr val="D9485F"/>
                </a:solidFill>
                <a:latin typeface="Arial"/>
                <a:ea typeface="Arial"/>
                <a:cs typeface="Arial"/>
              </a:defRPr>
            </a:pPr>
            <a:r>
              <a:rPr sz="1600" b="1">
                <a:solidFill>
                  <a:srgbClr val="D9485F"/>
                </a:solidFill>
                <a:latin typeface="Arial"/>
                <a:ea typeface="Arial"/>
                <a:cs typeface="Arial"/>
              </a:rPr>
              <a:t>EXPLOSIVES → SAFE</a:t>
            </a:r>
          </a:p>
        </p:txBody>
      </p:sp>
      <p:sp>
        <p:nvSpPr>
          <p:cNvPr id="10" name="">
            <a:extLst xmlns:a="http://schemas.openxmlformats.org/drawingml/2006/main">
              <a:ext uri="{FF2B5EF4-FFF2-40B4-BE49-F238E27FC236}">
                <a16:creationId xmlns:a16="http://schemas.microsoft.com/office/drawing/2014/main" id="{404DB2FC-8CA8-40F4-B91A-051AF8B160F2}"/>
              </a:ext>
            </a:extLst>
          </p:cNvPr>
          <p:cNvSpPr>
            <a:spLocks xmlns:a="http://schemas.openxmlformats.org/drawingml/2006/main" noGrp="1"/>
          </p:cNvSpPr>
          <p:nvPr/>
        </p:nvSpPr>
        <p:spPr>
          <a:xfrm xmlns:a="http://schemas.openxmlformats.org/drawingml/2006/main">
            <a:off x="8677275" y="5562600"/>
            <a:ext cx="3028950" cy="3429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00" b="1">
                <a:solidFill>
                  <a:srgbClr val="D9485F"/>
                </a:solidFill>
                <a:latin typeface="Arial"/>
                <a:ea typeface="Arial"/>
                <a:cs typeface="Arial"/>
              </a:defRPr>
            </a:pPr>
            <a:r>
              <a:rPr sz="1600" b="1">
                <a:solidFill>
                  <a:srgbClr val="D9485F"/>
                </a:solidFill>
                <a:latin typeface="Arial"/>
                <a:ea typeface="Arial"/>
                <a:cs typeface="Arial"/>
              </a:rPr>
              <a:t>FINANCE OK · FALSE BOX</a:t>
            </a:r>
          </a:p>
        </p:txBody>
      </p:sp>
      <p:sp>
        <p:nvSpPr>
          <p:cNvPr id="11" name="">
            <a:extLst xmlns:a="http://schemas.openxmlformats.org/drawingml/2006/main">
              <a:ext uri="{FF2B5EF4-FFF2-40B4-BE49-F238E27FC236}">
                <a16:creationId xmlns:a16="http://schemas.microsoft.com/office/drawing/2014/main" id="{DBBDC3B2-CE50-40E2-81F2-4DC6ABA1546D}"/>
              </a:ext>
            </a:extLst>
          </p:cNvPr>
          <p:cNvSpPr>
            <a:spLocks xmlns:a="http://schemas.openxmlformats.org/drawingml/2006/main" noGrp="1"/>
          </p:cNvSpPr>
          <p:nvPr/>
        </p:nvSpPr>
        <p:spPr>
          <a:xfrm xmlns:a="http://schemas.openxmlformats.org/drawingml/2006/main">
            <a:off x="393668" y="171450"/>
            <a:ext cx="457200" cy="381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2" name="">
            <a:extLst xmlns:a="http://schemas.openxmlformats.org/drawingml/2006/main">
              <a:ext uri="{FF2B5EF4-FFF2-40B4-BE49-F238E27FC236}">
                <a16:creationId xmlns:a16="http://schemas.microsoft.com/office/drawing/2014/main" id="{73D6CD5D-2392-445E-81F1-3A5FDDE4B461}"/>
              </a:ext>
            </a:extLst>
          </p:cNvPr>
          <p:cNvSpPr>
            <a:spLocks xmlns:a="http://schemas.openxmlformats.org/drawingml/2006/main" noGrp="1"/>
          </p:cNvSpPr>
          <p:nvPr/>
        </p:nvSpPr>
        <p:spPr>
          <a:xfrm xmlns:a="http://schemas.openxmlformats.org/drawingml/2006/main">
            <a:off x="8715375" y="104775"/>
            <a:ext cx="30765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00" b="1">
                <a:solidFill>
                  <a:srgbClr val="5B6470"/>
                </a:solidFill>
                <a:latin typeface="Arial"/>
                <a:ea typeface="Arial"/>
                <a:cs typeface="Arial"/>
              </a:defRPr>
            </a:pPr>
            <a:r>
              <a:rPr sz="1000" b="1">
                <a:solidFill>
                  <a:srgbClr val="5B6470"/>
                </a:solidFill>
                <a:latin typeface="Arial"/>
                <a:ea typeface="Arial"/>
                <a:cs typeface="Arial"/>
              </a:rPr>
              <a:t>12 · EXTERNAL GENERALIZATION AUDIT</a:t>
            </a:r>
          </a:p>
        </p:txBody>
      </p:sp>
      <p:sp>
        <p:nvSpPr>
          <p:cNvPr id="13" name="">
            <a:extLst xmlns:a="http://schemas.openxmlformats.org/drawingml/2006/main">
              <a:ext uri="{FF2B5EF4-FFF2-40B4-BE49-F238E27FC236}">
                <a16:creationId xmlns:a16="http://schemas.microsoft.com/office/drawing/2014/main" id="{EE594854-2954-45AE-8488-EF499E6F3F67}"/>
              </a:ext>
            </a:extLst>
          </p:cNvPr>
          <p:cNvSpPr>
            <a:spLocks xmlns:a="http://schemas.openxmlformats.org/drawingml/2006/main" noGrp="1"/>
          </p:cNvSpPr>
          <p:nvPr/>
        </p:nvSpPr>
        <p:spPr>
          <a:xfrm xmlns:a="http://schemas.openxmlformats.org/drawingml/2006/main">
            <a:off x="609600" y="6553200"/>
            <a:ext cx="5118068"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00" b="1">
                <a:solidFill>
                  <a:srgbClr val="5B6470"/>
                </a:solidFill>
                <a:latin typeface="Arial"/>
                <a:ea typeface="Arial"/>
                <a:cs typeface="Arial"/>
              </a:defRPr>
            </a:pPr>
            <a:r>
              <a:rPr sz="1000" b="1">
                <a:solidFill>
                  <a:srgbClr val="5B6470"/>
                </a:solidFill>
                <a:latin typeface="Arial"/>
                <a:ea typeface="Arial"/>
                <a:cs typeface="Arial"/>
              </a:rPr>
              <a:t>PRESENTER  Myetchae Thu</a:t>
            </a:r>
          </a:p>
        </p:txBody>
      </p:sp>
    </p:spTree>
    <p:extLst>
      <p:ext uri="{BB962C8B-B14F-4D97-AF65-F5344CB8AC3E}">
        <p14:creationId xmlns:p14="http://schemas.microsoft.com/office/powerpoint/2010/main" val="13561208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Slide-Number-Placeholder-3-2">
            <a:extLst xmlns:a="http://schemas.openxmlformats.org/drawingml/2006/main">
              <a:ext uri="{FF2B5EF4-FFF2-40B4-BE49-F238E27FC236}">
                <a16:creationId xmlns:a16="http://schemas.microsoft.com/office/drawing/2014/main" id="{FE06E7D8-88DE-4FF5-933F-C66E34AC5C52}"/>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13</a:t>
            </a:r>
          </a:p>
        </p:txBody>
      </p:sp>
      <p:sp>
        <p:nvSpPr>
          <p:cNvPr id="2" name="Title-10-3">
            <a:extLst xmlns:a="http://schemas.openxmlformats.org/drawingml/2006/main">
              <a:ext uri="{FF2B5EF4-FFF2-40B4-BE49-F238E27FC236}">
                <a16:creationId xmlns:a16="http://schemas.microsoft.com/office/drawing/2014/main" id="{32418291-E604-481C-812E-A954C4D0A67F}"/>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900">
                <a:solidFill>
                  <a:srgbClr val="000000"/>
                </a:solidFill>
                <a:latin typeface="Helvetica Neue"/>
                <a:ea typeface="Helvetica Neue"/>
                <a:cs typeface="Helvetica Neue"/>
              </a:defRPr>
            </a:pPr>
            <a:r>
              <a:rPr sz="3300">
                <a:solidFill>
                  <a:srgbClr val="000000"/>
                </a:solidFill>
                <a:latin typeface="Arial"/>
                <a:ea typeface="Arial"/>
                <a:cs typeface="Arial"/>
              </a:rPr>
              <a:t>A reviewer can follow one case from upload to audit</a:t>
            </a:r>
          </a:p>
        </p:txBody>
      </p:sp>
      <p:cxnSp>
        <p:nvCxnSpPr>
          <p:cNvPr id="37" name="Google-Shape-2259-p159-4"/>
          <p:cNvCxnSpPr/>
          <p:nvPr/>
        </p:nvCxnSpPr>
        <p:spPr>
          <a:xfrm xmlns:a="http://schemas.openxmlformats.org/drawingml/2006/main">
            <a:off x="393668" y="5341620"/>
            <a:ext cx="11404568"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22DDB36A-612F-4B03-833E-21E9175BB47D}"/>
              </a:ext>
            </a:extLst>
          </p:cNvPr>
          <p:cNvSpPr>
            <a:spLocks xmlns:a="http://schemas.openxmlformats.org/drawingml/2006/main" noGrp="1"/>
          </p:cNvSpPr>
          <p:nvPr/>
        </p:nvSpPr>
        <p:spPr>
          <a:xfrm xmlns:a="http://schemas.openxmlformats.org/drawingml/2006/main">
            <a:off x="337757" y="5288089"/>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5E750A58-838A-44C8-A7D7-2B3DEDECCED4}"/>
              </a:ext>
            </a:extLst>
          </p:cNvPr>
          <p:cNvSpPr>
            <a:spLocks xmlns:a="http://schemas.openxmlformats.org/drawingml/2006/main" noGrp="1"/>
          </p:cNvSpPr>
          <p:nvPr/>
        </p:nvSpPr>
        <p:spPr>
          <a:xfrm xmlns:a="http://schemas.openxmlformats.org/drawingml/2006/main">
            <a:off x="4251770" y="5288089"/>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7DEF4C78-B16E-4FA5-9EED-9002996ED1A9}"/>
              </a:ext>
            </a:extLst>
          </p:cNvPr>
          <p:cNvSpPr>
            <a:spLocks xmlns:a="http://schemas.openxmlformats.org/drawingml/2006/main" noGrp="1"/>
          </p:cNvSpPr>
          <p:nvPr/>
        </p:nvSpPr>
        <p:spPr>
          <a:xfrm xmlns:a="http://schemas.openxmlformats.org/drawingml/2006/main">
            <a:off x="8176070" y="5288089"/>
            <a:ext cx="107061" cy="107061"/>
          </a:xfrm>
          <a:prstGeom xmlns:a="http://schemas.openxmlformats.org/drawingml/2006/main" prst="ellipse">
            <a:avLst/>
          </a:prstGeom>
          <a:solidFill xmlns:a="http://schemas.openxmlformats.org/drawingml/2006/main">
            <a:srgbClr val="000000"/>
          </a:solidFill>
        </p:spPr>
      </p:sp>
      <p:sp>
        <p:nvSpPr>
          <p:cNvPr id="7" name="Rounded-Rectangle-19-8">
            <a:extLst xmlns:a="http://schemas.openxmlformats.org/drawingml/2006/main">
              <a:ext uri="{FF2B5EF4-FFF2-40B4-BE49-F238E27FC236}">
                <a16:creationId xmlns:a16="http://schemas.microsoft.com/office/drawing/2014/main" id="{C755BB31-D4AA-41A5-87C2-EC0F8875A573}"/>
              </a:ext>
            </a:extLst>
          </p:cNvPr>
          <p:cNvSpPr>
            <a:spLocks xmlns:a="http://schemas.openxmlformats.org/drawingml/2006/main" noGrp="1"/>
          </p:cNvSpPr>
          <p:nvPr/>
        </p:nvSpPr>
        <p:spPr>
          <a:xfrm xmlns:a="http://schemas.openxmlformats.org/drawingml/2006/main">
            <a:off x="393668"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8" name="Content-Placeholder-8-9">
            <a:extLst xmlns:a="http://schemas.openxmlformats.org/drawingml/2006/main">
              <a:ext uri="{FF2B5EF4-FFF2-40B4-BE49-F238E27FC236}">
                <a16:creationId xmlns:a16="http://schemas.microsoft.com/office/drawing/2014/main" id="{49369861-FDFB-4677-BF36-C14E8DCA7C33}"/>
              </a:ext>
            </a:extLst>
          </p:cNvPr>
          <p:cNvSpPr>
            <a:spLocks xmlns:a="http://schemas.openxmlformats.org/drawingml/2006/main" noGrp="1"/>
          </p:cNvSpPr>
          <p:nvPr/>
        </p:nvSpPr>
        <p:spPr>
          <a:xfrm xmlns:a="http://schemas.openxmlformats.org/drawingml/2006/main">
            <a:off x="703421"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000000"/>
                </a:solidFill>
                <a:latin typeface="Helvetica Neue"/>
                <a:ea typeface="Helvetica Neue"/>
                <a:cs typeface="Helvetica Neue"/>
              </a:defRPr>
            </a:pPr>
            <a:r>
              <a:rPr sz="1800" b="1">
                <a:solidFill>
                  <a:srgbClr val="000000"/>
                </a:solidFill>
                <a:latin typeface="Arial"/>
                <a:ea typeface="Arial"/>
                <a:cs typeface="Arial"/>
              </a:rPr>
              <a:t/>
            </a:r>
          </a:p>
          <a:p xmlns:a="http://schemas.openxmlformats.org/drawingml/2006/main">
            <a:pPr algn="l">
              <a:lnSpc>
                <a:spcPct val="100000"/>
              </a:lnSpc>
              <a:buNone/>
              <a:defRPr sz="1600">
                <a:solidFill>
                  <a:srgbClr val="000000"/>
                </a:solidFill>
                <a:latin typeface="Helvetica Neue"/>
                <a:ea typeface="Helvetica Neue"/>
                <a:cs typeface="Helvetica Neue"/>
              </a:defRPr>
            </a:pPr>
            <a:r>
              <a:rPr sz="1600">
                <a:solidFill>
                  <a:srgbClr val="000000"/>
                </a:solidFill>
                <a:latin typeface="Arial"/>
                <a:ea typeface="Arial"/>
                <a:cs typeface="Arial"/>
              </a:rPr>
              <a:t/>
            </a:r>
          </a:p>
        </p:txBody>
      </p:sp>
      <p:sp>
        <p:nvSpPr>
          <p:cNvPr id="9" name="Rounded-Rectangle-21-10">
            <a:extLst xmlns:a="http://schemas.openxmlformats.org/drawingml/2006/main">
              <a:ext uri="{FF2B5EF4-FFF2-40B4-BE49-F238E27FC236}">
                <a16:creationId xmlns:a16="http://schemas.microsoft.com/office/drawing/2014/main" id="{060059FD-C985-46CE-ACD5-08C131DDA58F}"/>
              </a:ext>
            </a:extLst>
          </p:cNvPr>
          <p:cNvSpPr>
            <a:spLocks xmlns:a="http://schemas.openxmlformats.org/drawingml/2006/main" noGrp="1"/>
          </p:cNvSpPr>
          <p:nvPr/>
        </p:nvSpPr>
        <p:spPr>
          <a:xfrm xmlns:a="http://schemas.openxmlformats.org/drawingml/2006/main">
            <a:off x="4308443"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10" name="Content-Placeholder-8-11">
            <a:extLst xmlns:a="http://schemas.openxmlformats.org/drawingml/2006/main">
              <a:ext uri="{FF2B5EF4-FFF2-40B4-BE49-F238E27FC236}">
                <a16:creationId xmlns:a16="http://schemas.microsoft.com/office/drawing/2014/main" id="{6CD98215-37A3-46E8-B144-B21D879DB784}"/>
              </a:ext>
            </a:extLst>
          </p:cNvPr>
          <p:cNvSpPr>
            <a:spLocks xmlns:a="http://schemas.openxmlformats.org/drawingml/2006/main" noGrp="1"/>
          </p:cNvSpPr>
          <p:nvPr/>
        </p:nvSpPr>
        <p:spPr>
          <a:xfrm xmlns:a="http://schemas.openxmlformats.org/drawingml/2006/main">
            <a:off x="4618196"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000000"/>
                </a:solidFill>
                <a:latin typeface="Helvetica Neue"/>
                <a:ea typeface="Helvetica Neue"/>
                <a:cs typeface="Helvetica Neue"/>
              </a:defRPr>
            </a:pPr>
            <a:r>
              <a:rPr sz="1800" b="1">
                <a:solidFill>
                  <a:srgbClr val="000000"/>
                </a:solidFill>
                <a:latin typeface="Arial"/>
                <a:ea typeface="Arial"/>
                <a:cs typeface="Arial"/>
              </a:rPr>
              <a:t/>
            </a:r>
          </a:p>
          <a:p xmlns:a="http://schemas.openxmlformats.org/drawingml/2006/main">
            <a:pPr algn="l">
              <a:lnSpc>
                <a:spcPct val="100000"/>
              </a:lnSpc>
              <a:buNone/>
              <a:defRPr sz="1600">
                <a:solidFill>
                  <a:srgbClr val="000000"/>
                </a:solidFill>
                <a:latin typeface="Helvetica Neue"/>
                <a:ea typeface="Helvetica Neue"/>
                <a:cs typeface="Helvetica Neue"/>
              </a:defRPr>
            </a:pPr>
            <a:r>
              <a:rPr sz="1600">
                <a:solidFill>
                  <a:srgbClr val="000000"/>
                </a:solidFill>
                <a:latin typeface="Arial"/>
                <a:ea typeface="Arial"/>
                <a:cs typeface="Arial"/>
              </a:rPr>
              <a:t/>
            </a:r>
          </a:p>
        </p:txBody>
      </p:sp>
      <p:sp>
        <p:nvSpPr>
          <p:cNvPr id="11" name="Rounded-Rectangle-23-12">
            <a:extLst xmlns:a="http://schemas.openxmlformats.org/drawingml/2006/main">
              <a:ext uri="{FF2B5EF4-FFF2-40B4-BE49-F238E27FC236}">
                <a16:creationId xmlns:a16="http://schemas.microsoft.com/office/drawing/2014/main" id="{04E56B88-A129-498C-9D2D-54063F5071D4}"/>
              </a:ext>
            </a:extLst>
          </p:cNvPr>
          <p:cNvSpPr>
            <a:spLocks xmlns:a="http://schemas.openxmlformats.org/drawingml/2006/main" noGrp="1"/>
          </p:cNvSpPr>
          <p:nvPr/>
        </p:nvSpPr>
        <p:spPr>
          <a:xfrm xmlns:a="http://schemas.openxmlformats.org/drawingml/2006/main">
            <a:off x="8237506"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12" name="Content-Placeholder-8-13">
            <a:extLst xmlns:a="http://schemas.openxmlformats.org/drawingml/2006/main">
              <a:ext uri="{FF2B5EF4-FFF2-40B4-BE49-F238E27FC236}">
                <a16:creationId xmlns:a16="http://schemas.microsoft.com/office/drawing/2014/main" id="{94E1725E-0269-415F-A29A-2593DE8AE788}"/>
              </a:ext>
            </a:extLst>
          </p:cNvPr>
          <p:cNvSpPr>
            <a:spLocks xmlns:a="http://schemas.openxmlformats.org/drawingml/2006/main" noGrp="1"/>
          </p:cNvSpPr>
          <p:nvPr/>
        </p:nvSpPr>
        <p:spPr>
          <a:xfrm xmlns:a="http://schemas.openxmlformats.org/drawingml/2006/main">
            <a:off x="8547259"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000000"/>
                </a:solidFill>
                <a:latin typeface="Helvetica Neue"/>
                <a:ea typeface="Helvetica Neue"/>
                <a:cs typeface="Helvetica Neue"/>
              </a:defRPr>
            </a:pPr>
            <a:r>
              <a:rPr sz="1800" b="1">
                <a:solidFill>
                  <a:srgbClr val="000000"/>
                </a:solidFill>
                <a:latin typeface="Arial"/>
                <a:ea typeface="Arial"/>
                <a:cs typeface="Arial"/>
              </a:rPr>
              <a:t/>
            </a:r>
          </a:p>
          <a:p xmlns:a="http://schemas.openxmlformats.org/drawingml/2006/main">
            <a:pPr algn="l">
              <a:lnSpc>
                <a:spcPct val="100000"/>
              </a:lnSpc>
              <a:buNone/>
              <a:defRPr sz="1600">
                <a:solidFill>
                  <a:srgbClr val="000000"/>
                </a:solidFill>
                <a:latin typeface="Helvetica Neue"/>
                <a:ea typeface="Helvetica Neue"/>
                <a:cs typeface="Helvetica Neue"/>
              </a:defRPr>
            </a:pPr>
            <a:r>
              <a:rPr sz="1600">
                <a:solidFill>
                  <a:srgbClr val="000000"/>
                </a:solidFill>
                <a:latin typeface="Arial"/>
                <a:ea typeface="Arial"/>
                <a:cs typeface="Arial"/>
              </a:rPr>
              <a:t/>
            </a:r>
          </a:p>
        </p:txBody>
      </p:sp>
      <p:sp>
        <p:nvSpPr>
          <p:cNvPr id="13" name="Text-Placeholder-16-14">
            <a:extLst xmlns:a="http://schemas.openxmlformats.org/drawingml/2006/main">
              <a:ext uri="{FF2B5EF4-FFF2-40B4-BE49-F238E27FC236}">
                <a16:creationId xmlns:a16="http://schemas.microsoft.com/office/drawing/2014/main" id="{24D92107-E88B-4842-9388-C646D3463EFA}"/>
              </a:ext>
            </a:extLst>
          </p:cNvPr>
          <p:cNvSpPr>
            <a:spLocks xmlns:a="http://schemas.openxmlformats.org/drawingml/2006/main" noGrp="1"/>
          </p:cNvSpPr>
          <p:nvPr/>
        </p:nvSpPr>
        <p:spPr>
          <a:xfrm xmlns:a="http://schemas.openxmlformats.org/drawingml/2006/main">
            <a:off x="4251770"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800">
                <a:solidFill>
                  <a:srgbClr val="000000"/>
                </a:solidFill>
                <a:latin typeface="Arial"/>
                <a:ea typeface="Arial"/>
                <a:cs typeface="Arial"/>
              </a:rPr>
              <a:t/>
            </a:r>
          </a:p>
        </p:txBody>
      </p:sp>
      <p:sp>
        <p:nvSpPr>
          <p:cNvPr id="14" name="Text-Placeholder-16-15">
            <a:extLst xmlns:a="http://schemas.openxmlformats.org/drawingml/2006/main">
              <a:ext uri="{FF2B5EF4-FFF2-40B4-BE49-F238E27FC236}">
                <a16:creationId xmlns:a16="http://schemas.microsoft.com/office/drawing/2014/main" id="{5C7BE777-535C-4AB3-AFB8-36422D9801DF}"/>
              </a:ext>
            </a:extLst>
          </p:cNvPr>
          <p:cNvSpPr>
            <a:spLocks xmlns:a="http://schemas.openxmlformats.org/drawingml/2006/main" noGrp="1"/>
          </p:cNvSpPr>
          <p:nvPr/>
        </p:nvSpPr>
        <p:spPr>
          <a:xfrm xmlns:a="http://schemas.openxmlformats.org/drawingml/2006/main">
            <a:off x="390906"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800">
                <a:solidFill>
                  <a:srgbClr val="000000"/>
                </a:solidFill>
                <a:latin typeface="Arial"/>
                <a:ea typeface="Arial"/>
                <a:cs typeface="Arial"/>
              </a:rPr>
              <a:t/>
            </a:r>
          </a:p>
        </p:txBody>
      </p:sp>
      <p:sp>
        <p:nvSpPr>
          <p:cNvPr id="15" name="Text-Placeholder-16-16">
            <a:extLst xmlns:a="http://schemas.openxmlformats.org/drawingml/2006/main">
              <a:ext uri="{FF2B5EF4-FFF2-40B4-BE49-F238E27FC236}">
                <a16:creationId xmlns:a16="http://schemas.microsoft.com/office/drawing/2014/main" id="{C171A73F-E231-46DD-B8A1-4FA3FD4E92E2}"/>
              </a:ext>
            </a:extLst>
          </p:cNvPr>
          <p:cNvSpPr>
            <a:spLocks xmlns:a="http://schemas.openxmlformats.org/drawingml/2006/main" noGrp="1"/>
          </p:cNvSpPr>
          <p:nvPr/>
        </p:nvSpPr>
        <p:spPr>
          <a:xfrm xmlns:a="http://schemas.openxmlformats.org/drawingml/2006/main">
            <a:off x="8225409"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800">
                <a:solidFill>
                  <a:srgbClr val="000000"/>
                </a:solidFill>
                <a:latin typeface="Arial"/>
                <a:ea typeface="Arial"/>
                <a:cs typeface="Arial"/>
              </a:rPr>
              <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6d3ca943c86f4ab7"/>
          <a:srcRect xmlns:a="http://schemas.openxmlformats.org/drawingml/2006/main" l="0" t="3450" r="0" b="3450"/>
          <a:stretch xmlns:a="http://schemas.openxmlformats.org/drawingml/2006/main">
            <a:fillRect l="0" t="0" r="0" b="0"/>
          </a:stretch>
        </p:blipFill>
        <p:spPr>
          <a:xfrm xmlns:a="http://schemas.openxmlformats.org/drawingml/2006/main">
            <a:off x="393668" y="1457325"/>
            <a:ext cx="7239000" cy="37909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07B7DD6F-DD3B-4B7B-AA9E-1B8C909F2693}"/>
              </a:ext>
            </a:extLst>
          </p:cNvPr>
          <p:cNvSpPr>
            <a:spLocks xmlns:a="http://schemas.openxmlformats.org/drawingml/2006/main" noGrp="1"/>
          </p:cNvSpPr>
          <p:nvPr/>
        </p:nvSpPr>
        <p:spPr>
          <a:xfrm xmlns:a="http://schemas.openxmlformats.org/drawingml/2006/main">
            <a:off x="7858125" y="1457325"/>
            <a:ext cx="3940112" cy="857250"/>
          </a:xfrm>
          <a:prstGeom xmlns:a="http://schemas.openxmlformats.org/drawingml/2006/main" prst="rect">
            <a:avLst/>
          </a:prstGeom>
          <a:solidFill xmlns:a="http://schemas.openxmlformats.org/drawingml/2006/main">
            <a:srgbClr val="EAF5FB"/>
          </a:solidFill>
          <a:ln xmlns:a="http://schemas.openxmlformats.org/drawingml/2006/main" w="9525">
            <a:solidFill>
              <a:srgbClr val="6DCBF4"/>
            </a:solidFill>
            <a:prstDash val="solid"/>
          </a:ln>
        </p:spPr>
      </p:sp>
      <p:sp>
        <p:nvSpPr>
          <p:cNvPr id="18" name="">
            <a:extLst xmlns:a="http://schemas.openxmlformats.org/drawingml/2006/main">
              <a:ext uri="{FF2B5EF4-FFF2-40B4-BE49-F238E27FC236}">
                <a16:creationId xmlns:a16="http://schemas.microsoft.com/office/drawing/2014/main" id="{FB8BFAE7-6008-4884-8007-462F9DBAAF15}"/>
              </a:ext>
            </a:extLst>
          </p:cNvPr>
          <p:cNvSpPr>
            <a:spLocks xmlns:a="http://schemas.openxmlformats.org/drawingml/2006/main" noGrp="1"/>
          </p:cNvSpPr>
          <p:nvPr/>
        </p:nvSpPr>
        <p:spPr>
          <a:xfrm xmlns:a="http://schemas.openxmlformats.org/drawingml/2006/main">
            <a:off x="8048625" y="1543050"/>
            <a:ext cx="3559112"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00" b="1">
                <a:solidFill>
                  <a:srgbClr val="3D8DFF"/>
                </a:solidFill>
                <a:latin typeface="Arial"/>
                <a:ea typeface="Arial"/>
                <a:cs typeface="Arial"/>
              </a:defRPr>
            </a:pPr>
            <a:r>
              <a:rPr sz="1600" b="1">
                <a:solidFill>
                  <a:srgbClr val="3D8DFF"/>
                </a:solidFill>
                <a:latin typeface="Arial"/>
                <a:ea typeface="Arial"/>
                <a:cs typeface="Arial"/>
              </a:rPr>
              <a:t>DECISION STATE</a:t>
            </a:r>
          </a:p>
        </p:txBody>
      </p:sp>
      <p:sp>
        <p:nvSpPr>
          <p:cNvPr id="19" name="">
            <a:extLst xmlns:a="http://schemas.openxmlformats.org/drawingml/2006/main">
              <a:ext uri="{FF2B5EF4-FFF2-40B4-BE49-F238E27FC236}">
                <a16:creationId xmlns:a16="http://schemas.microsoft.com/office/drawing/2014/main" id="{BA5318E2-2E9D-4DCC-A1B7-19B193D52399}"/>
              </a:ext>
            </a:extLst>
          </p:cNvPr>
          <p:cNvSpPr>
            <a:spLocks xmlns:a="http://schemas.openxmlformats.org/drawingml/2006/main" noGrp="1"/>
          </p:cNvSpPr>
          <p:nvPr/>
        </p:nvSpPr>
        <p:spPr>
          <a:xfrm xmlns:a="http://schemas.openxmlformats.org/drawingml/2006/main">
            <a:off x="8048625" y="1800225"/>
            <a:ext cx="3559112"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00" b="0">
                <a:solidFill>
                  <a:srgbClr val="5B6470"/>
                </a:solidFill>
                <a:latin typeface="Arial"/>
                <a:ea typeface="Arial"/>
                <a:cs typeface="Arial"/>
              </a:defRPr>
            </a:pPr>
            <a:r>
              <a:rPr sz="1600" b="0">
                <a:solidFill>
                  <a:srgbClr val="5B6470"/>
                </a:solidFill>
                <a:latin typeface="Arial"/>
                <a:ea typeface="Arial"/>
                <a:cs typeface="Arial"/>
              </a:rPr>
              <a:t>BLOCK, policy focus, and evidence score stay visible.</a:t>
            </a:r>
          </a:p>
        </p:txBody>
      </p:sp>
      <p:sp>
        <p:nvSpPr>
          <p:cNvPr id="20" name="">
            <a:extLst xmlns:a="http://schemas.openxmlformats.org/drawingml/2006/main">
              <a:ext uri="{FF2B5EF4-FFF2-40B4-BE49-F238E27FC236}">
                <a16:creationId xmlns:a16="http://schemas.microsoft.com/office/drawing/2014/main" id="{86DEAE85-5303-4E97-863C-82D45665DE3C}"/>
              </a:ext>
            </a:extLst>
          </p:cNvPr>
          <p:cNvSpPr>
            <a:spLocks xmlns:a="http://schemas.openxmlformats.org/drawingml/2006/main" noGrp="1"/>
          </p:cNvSpPr>
          <p:nvPr/>
        </p:nvSpPr>
        <p:spPr>
          <a:xfrm xmlns:a="http://schemas.openxmlformats.org/drawingml/2006/main">
            <a:off x="7858125" y="2428875"/>
            <a:ext cx="3940112" cy="8572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21" name="">
            <a:extLst xmlns:a="http://schemas.openxmlformats.org/drawingml/2006/main">
              <a:ext uri="{FF2B5EF4-FFF2-40B4-BE49-F238E27FC236}">
                <a16:creationId xmlns:a16="http://schemas.microsoft.com/office/drawing/2014/main" id="{62776F0A-819A-400C-ADD0-A46067E78186}"/>
              </a:ext>
            </a:extLst>
          </p:cNvPr>
          <p:cNvSpPr>
            <a:spLocks xmlns:a="http://schemas.openxmlformats.org/drawingml/2006/main" noGrp="1"/>
          </p:cNvSpPr>
          <p:nvPr/>
        </p:nvSpPr>
        <p:spPr>
          <a:xfrm xmlns:a="http://schemas.openxmlformats.org/drawingml/2006/main">
            <a:off x="8048625" y="2514600"/>
            <a:ext cx="3559112"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00" b="1">
                <a:solidFill>
                  <a:srgbClr val="000000"/>
                </a:solidFill>
                <a:latin typeface="Arial"/>
                <a:ea typeface="Arial"/>
                <a:cs typeface="Arial"/>
              </a:defRPr>
            </a:pPr>
            <a:r>
              <a:rPr sz="1600" b="1">
                <a:solidFill>
                  <a:srgbClr val="000000"/>
                </a:solidFill>
                <a:latin typeface="Arial"/>
                <a:ea typeface="Arial"/>
                <a:cs typeface="Arial"/>
              </a:rPr>
              <a:t>WHERE THE SCORE CAME FROM</a:t>
            </a:r>
          </a:p>
        </p:txBody>
      </p:sp>
      <p:sp>
        <p:nvSpPr>
          <p:cNvPr id="22" name="">
            <a:extLst xmlns:a="http://schemas.openxmlformats.org/drawingml/2006/main">
              <a:ext uri="{FF2B5EF4-FFF2-40B4-BE49-F238E27FC236}">
                <a16:creationId xmlns:a16="http://schemas.microsoft.com/office/drawing/2014/main" id="{E94F1077-C2C5-4B1F-984D-5DD413FC0DD4}"/>
              </a:ext>
            </a:extLst>
          </p:cNvPr>
          <p:cNvSpPr>
            <a:spLocks xmlns:a="http://schemas.openxmlformats.org/drawingml/2006/main" noGrp="1"/>
          </p:cNvSpPr>
          <p:nvPr/>
        </p:nvSpPr>
        <p:spPr>
          <a:xfrm xmlns:a="http://schemas.openxmlformats.org/drawingml/2006/main">
            <a:off x="8048625" y="2771775"/>
            <a:ext cx="3559112"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00" b="0">
                <a:solidFill>
                  <a:srgbClr val="5B6470"/>
                </a:solidFill>
                <a:latin typeface="Arial"/>
                <a:ea typeface="Arial"/>
                <a:cs typeface="Arial"/>
              </a:defRPr>
            </a:pPr>
            <a:r>
              <a:rPr sz="1600" b="0">
                <a:solidFill>
                  <a:srgbClr val="5B6470"/>
                </a:solidFill>
                <a:latin typeface="Arial"/>
                <a:ea typeface="Arial"/>
                <a:cs typeface="Arial"/>
              </a:rPr>
              <a:t>Raw and fused policy evidence remain separate.</a:t>
            </a:r>
          </a:p>
        </p:txBody>
      </p:sp>
      <p:sp>
        <p:nvSpPr>
          <p:cNvPr id="23" name="">
            <a:extLst xmlns:a="http://schemas.openxmlformats.org/drawingml/2006/main">
              <a:ext uri="{FF2B5EF4-FFF2-40B4-BE49-F238E27FC236}">
                <a16:creationId xmlns:a16="http://schemas.microsoft.com/office/drawing/2014/main" id="{56972995-7DF2-4964-850E-409BB3B71AC7}"/>
              </a:ext>
            </a:extLst>
          </p:cNvPr>
          <p:cNvSpPr>
            <a:spLocks xmlns:a="http://schemas.openxmlformats.org/drawingml/2006/main" noGrp="1"/>
          </p:cNvSpPr>
          <p:nvPr/>
        </p:nvSpPr>
        <p:spPr>
          <a:xfrm xmlns:a="http://schemas.openxmlformats.org/drawingml/2006/main">
            <a:off x="7858125" y="3400425"/>
            <a:ext cx="3940112" cy="8572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24" name="">
            <a:extLst xmlns:a="http://schemas.openxmlformats.org/drawingml/2006/main">
              <a:ext uri="{FF2B5EF4-FFF2-40B4-BE49-F238E27FC236}">
                <a16:creationId xmlns:a16="http://schemas.microsoft.com/office/drawing/2014/main" id="{BD2C7F18-54DE-4133-B18E-2331DA7CB061}"/>
              </a:ext>
            </a:extLst>
          </p:cNvPr>
          <p:cNvSpPr>
            <a:spLocks xmlns:a="http://schemas.openxmlformats.org/drawingml/2006/main" noGrp="1"/>
          </p:cNvSpPr>
          <p:nvPr/>
        </p:nvSpPr>
        <p:spPr>
          <a:xfrm xmlns:a="http://schemas.openxmlformats.org/drawingml/2006/main">
            <a:off x="8048625" y="3486150"/>
            <a:ext cx="3559112"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00" b="1">
                <a:solidFill>
                  <a:srgbClr val="000000"/>
                </a:solidFill>
                <a:latin typeface="Arial"/>
                <a:ea typeface="Arial"/>
                <a:cs typeface="Arial"/>
              </a:defRPr>
            </a:pPr>
            <a:r>
              <a:rPr sz="1600" b="1">
                <a:solidFill>
                  <a:srgbClr val="000000"/>
                </a:solidFill>
                <a:latin typeface="Arial"/>
                <a:ea typeface="Arial"/>
                <a:cs typeface="Arial"/>
              </a:rPr>
              <a:t>EVIDENCE + TIMING</a:t>
            </a:r>
          </a:p>
        </p:txBody>
      </p:sp>
      <p:sp>
        <p:nvSpPr>
          <p:cNvPr id="25" name="">
            <a:extLst xmlns:a="http://schemas.openxmlformats.org/drawingml/2006/main">
              <a:ext uri="{FF2B5EF4-FFF2-40B4-BE49-F238E27FC236}">
                <a16:creationId xmlns:a16="http://schemas.microsoft.com/office/drawing/2014/main" id="{115E7537-2CE6-4978-B800-9B8249C07D37}"/>
              </a:ext>
            </a:extLst>
          </p:cNvPr>
          <p:cNvSpPr>
            <a:spLocks xmlns:a="http://schemas.openxmlformats.org/drawingml/2006/main" noGrp="1"/>
          </p:cNvSpPr>
          <p:nvPr/>
        </p:nvSpPr>
        <p:spPr>
          <a:xfrm xmlns:a="http://schemas.openxmlformats.org/drawingml/2006/main">
            <a:off x="8048625" y="3743325"/>
            <a:ext cx="3559112"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00" b="0">
                <a:solidFill>
                  <a:srgbClr val="5B6470"/>
                </a:solidFill>
                <a:latin typeface="Arial"/>
                <a:ea typeface="Arial"/>
                <a:cs typeface="Arial"/>
              </a:defRPr>
            </a:pPr>
            <a:r>
              <a:rPr sz="1600" b="0">
                <a:solidFill>
                  <a:srgbClr val="5B6470"/>
                </a:solidFill>
                <a:latin typeface="Arial"/>
                <a:ea typeface="Arial"/>
                <a:cs typeface="Arial"/>
              </a:rPr>
              <a:t>Boxes, text, occlusion, and stage latency drill down.</a:t>
            </a:r>
          </a:p>
        </p:txBody>
      </p:sp>
      <p:sp>
        <p:nvSpPr>
          <p:cNvPr id="26" name="">
            <a:extLst xmlns:a="http://schemas.openxmlformats.org/drawingml/2006/main">
              <a:ext uri="{FF2B5EF4-FFF2-40B4-BE49-F238E27FC236}">
                <a16:creationId xmlns:a16="http://schemas.microsoft.com/office/drawing/2014/main" id="{688665FE-E3CD-4171-95F4-52E94996B8A1}"/>
              </a:ext>
            </a:extLst>
          </p:cNvPr>
          <p:cNvSpPr>
            <a:spLocks xmlns:a="http://schemas.openxmlformats.org/drawingml/2006/main" noGrp="1"/>
          </p:cNvSpPr>
          <p:nvPr/>
        </p:nvSpPr>
        <p:spPr>
          <a:xfrm xmlns:a="http://schemas.openxmlformats.org/drawingml/2006/main">
            <a:off x="7858125" y="4371975"/>
            <a:ext cx="3940112" cy="8572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27" name="">
            <a:extLst xmlns:a="http://schemas.openxmlformats.org/drawingml/2006/main">
              <a:ext uri="{FF2B5EF4-FFF2-40B4-BE49-F238E27FC236}">
                <a16:creationId xmlns:a16="http://schemas.microsoft.com/office/drawing/2014/main" id="{B852A28A-E531-4252-A61C-85BBCB24EB86}"/>
              </a:ext>
            </a:extLst>
          </p:cNvPr>
          <p:cNvSpPr>
            <a:spLocks xmlns:a="http://schemas.openxmlformats.org/drawingml/2006/main" noGrp="1"/>
          </p:cNvSpPr>
          <p:nvPr/>
        </p:nvSpPr>
        <p:spPr>
          <a:xfrm xmlns:a="http://schemas.openxmlformats.org/drawingml/2006/main">
            <a:off x="8048625" y="4457700"/>
            <a:ext cx="3559112"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00" b="1">
                <a:solidFill>
                  <a:srgbClr val="000000"/>
                </a:solidFill>
                <a:latin typeface="Arial"/>
                <a:ea typeface="Arial"/>
                <a:cs typeface="Arial"/>
              </a:defRPr>
            </a:pPr>
            <a:r>
              <a:rPr sz="1600" b="1">
                <a:solidFill>
                  <a:srgbClr val="000000"/>
                </a:solidFill>
                <a:latin typeface="Arial"/>
                <a:ea typeface="Arial"/>
                <a:cs typeface="Arial"/>
              </a:rPr>
              <a:t>AUDIT EXPORT</a:t>
            </a:r>
          </a:p>
        </p:txBody>
      </p:sp>
      <p:sp>
        <p:nvSpPr>
          <p:cNvPr id="28" name="">
            <a:extLst xmlns:a="http://schemas.openxmlformats.org/drawingml/2006/main">
              <a:ext uri="{FF2B5EF4-FFF2-40B4-BE49-F238E27FC236}">
                <a16:creationId xmlns:a16="http://schemas.microsoft.com/office/drawing/2014/main" id="{7A0D3D08-9A60-43C1-8611-843D84C06504}"/>
              </a:ext>
            </a:extLst>
          </p:cNvPr>
          <p:cNvSpPr>
            <a:spLocks xmlns:a="http://schemas.openxmlformats.org/drawingml/2006/main" noGrp="1"/>
          </p:cNvSpPr>
          <p:nvPr/>
        </p:nvSpPr>
        <p:spPr>
          <a:xfrm xmlns:a="http://schemas.openxmlformats.org/drawingml/2006/main">
            <a:off x="8048625" y="4714875"/>
            <a:ext cx="3559112"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00" b="0">
                <a:solidFill>
                  <a:srgbClr val="5B6470"/>
                </a:solidFill>
                <a:latin typeface="Arial"/>
                <a:ea typeface="Arial"/>
                <a:cs typeface="Arial"/>
              </a:defRPr>
            </a:pPr>
            <a:r>
              <a:rPr sz="1600" b="0">
                <a:solidFill>
                  <a:srgbClr val="5B6470"/>
                </a:solidFill>
                <a:latin typeface="Arial"/>
                <a:ea typeface="Arial"/>
                <a:cs typeface="Arial"/>
              </a:rPr>
              <a:t>Options, hashes, versions, and applied thresholds persist.</a:t>
            </a:r>
          </a:p>
        </p:txBody>
      </p:sp>
      <p:sp>
        <p:nvSpPr>
          <p:cNvPr id="29" name="">
            <a:extLst xmlns:a="http://schemas.openxmlformats.org/drawingml/2006/main">
              <a:ext uri="{FF2B5EF4-FFF2-40B4-BE49-F238E27FC236}">
                <a16:creationId xmlns:a16="http://schemas.microsoft.com/office/drawing/2014/main" id="{36EF74F8-2A95-4EA6-B351-2DA8B0276577}"/>
              </a:ext>
            </a:extLst>
          </p:cNvPr>
          <p:cNvSpPr>
            <a:spLocks xmlns:a="http://schemas.openxmlformats.org/drawingml/2006/main" noGrp="1"/>
          </p:cNvSpPr>
          <p:nvPr/>
        </p:nvSpPr>
        <p:spPr>
          <a:xfrm xmlns:a="http://schemas.openxmlformats.org/drawingml/2006/main">
            <a:off x="285750" y="5248275"/>
            <a:ext cx="11515725" cy="1619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0" name="">
            <a:extLst xmlns:a="http://schemas.openxmlformats.org/drawingml/2006/main">
              <a:ext uri="{FF2B5EF4-FFF2-40B4-BE49-F238E27FC236}">
                <a16:creationId xmlns:a16="http://schemas.microsoft.com/office/drawing/2014/main" id="{D37D9CC6-F0DB-40E1-B245-43896B7D7F38}"/>
              </a:ext>
            </a:extLst>
          </p:cNvPr>
          <p:cNvSpPr>
            <a:spLocks xmlns:a="http://schemas.openxmlformats.org/drawingml/2006/main" noGrp="1"/>
          </p:cNvSpPr>
          <p:nvPr/>
        </p:nvSpPr>
        <p:spPr>
          <a:xfrm xmlns:a="http://schemas.openxmlformats.org/drawingml/2006/main">
            <a:off x="7858125" y="5324475"/>
            <a:ext cx="3940112"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485F"/>
            </a:solidFill>
            <a:prstDash val="solid"/>
          </a:ln>
        </p:spPr>
      </p:sp>
      <p:sp>
        <p:nvSpPr>
          <p:cNvPr id="31" name="">
            <a:extLst xmlns:a="http://schemas.openxmlformats.org/drawingml/2006/main">
              <a:ext uri="{FF2B5EF4-FFF2-40B4-BE49-F238E27FC236}">
                <a16:creationId xmlns:a16="http://schemas.microsoft.com/office/drawing/2014/main" id="{9AB4AEF0-49B8-4A06-8FD1-21D8187F5472}"/>
              </a:ext>
            </a:extLst>
          </p:cNvPr>
          <p:cNvSpPr>
            <a:spLocks xmlns:a="http://schemas.openxmlformats.org/drawingml/2006/main" noGrp="1"/>
          </p:cNvSpPr>
          <p:nvPr/>
        </p:nvSpPr>
        <p:spPr>
          <a:xfrm xmlns:a="http://schemas.openxmlformats.org/drawingml/2006/main">
            <a:off x="8048625" y="5410200"/>
            <a:ext cx="3559112"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D9485F"/>
                </a:solidFill>
                <a:latin typeface="Arial"/>
                <a:ea typeface="Arial"/>
                <a:cs typeface="Arial"/>
              </a:defRPr>
            </a:pPr>
            <a:r>
              <a:rPr sz="1350" b="1">
                <a:solidFill>
                  <a:srgbClr val="D9485F"/>
                </a:solidFill>
                <a:latin typeface="Arial"/>
                <a:ea typeface="Arial"/>
                <a:cs typeface="Arial"/>
              </a:rPr>
              <a:t>Session charts cover this session only.</a:t>
            </a:r>
          </a:p>
          <a:p xmlns:a="http://schemas.openxmlformats.org/drawingml/2006/main">
            <a:pPr algn="l">
              <a:defRPr sz="1350" b="1">
                <a:solidFill>
                  <a:srgbClr val="D9485F"/>
                </a:solidFill>
                <a:latin typeface="Arial"/>
                <a:ea typeface="Arial"/>
                <a:cs typeface="Arial"/>
              </a:defRPr>
            </a:pPr>
            <a:r>
              <a:rPr sz="1350" b="1">
                <a:solidFill>
                  <a:srgbClr val="D9485F"/>
                </a:solidFill>
                <a:latin typeface="Arial"/>
                <a:ea typeface="Arial"/>
                <a:cs typeface="Arial"/>
              </a:rPr>
              <a:t>They are not production or population evidence.</a:t>
            </a:r>
          </a:p>
        </p:txBody>
      </p:sp>
      <p:sp>
        <p:nvSpPr>
          <p:cNvPr id="32" name="">
            <a:extLst xmlns:a="http://schemas.openxmlformats.org/drawingml/2006/main">
              <a:ext uri="{FF2B5EF4-FFF2-40B4-BE49-F238E27FC236}">
                <a16:creationId xmlns:a16="http://schemas.microsoft.com/office/drawing/2014/main" id="{1B1439EE-D11E-4840-95AA-10B87966D50E}"/>
              </a:ext>
            </a:extLst>
          </p:cNvPr>
          <p:cNvSpPr>
            <a:spLocks xmlns:a="http://schemas.openxmlformats.org/drawingml/2006/main" noGrp="1"/>
          </p:cNvSpPr>
          <p:nvPr/>
        </p:nvSpPr>
        <p:spPr>
          <a:xfrm xmlns:a="http://schemas.openxmlformats.org/drawingml/2006/main">
            <a:off x="393668" y="171450"/>
            <a:ext cx="457200" cy="381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33" name="">
            <a:extLst xmlns:a="http://schemas.openxmlformats.org/drawingml/2006/main">
              <a:ext uri="{FF2B5EF4-FFF2-40B4-BE49-F238E27FC236}">
                <a16:creationId xmlns:a16="http://schemas.microsoft.com/office/drawing/2014/main" id="{0EB4C66F-3947-4909-BDF1-EC1B2038DCEA}"/>
              </a:ext>
            </a:extLst>
          </p:cNvPr>
          <p:cNvSpPr>
            <a:spLocks xmlns:a="http://schemas.openxmlformats.org/drawingml/2006/main" noGrp="1"/>
          </p:cNvSpPr>
          <p:nvPr/>
        </p:nvSpPr>
        <p:spPr>
          <a:xfrm xmlns:a="http://schemas.openxmlformats.org/drawingml/2006/main">
            <a:off x="8715375" y="104775"/>
            <a:ext cx="30765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00" b="1">
                <a:solidFill>
                  <a:srgbClr val="5B6470"/>
                </a:solidFill>
                <a:latin typeface="Arial"/>
                <a:ea typeface="Arial"/>
                <a:cs typeface="Arial"/>
              </a:defRPr>
            </a:pPr>
            <a:r>
              <a:rPr sz="1000" b="1">
                <a:solidFill>
                  <a:srgbClr val="5B6470"/>
                </a:solidFill>
                <a:latin typeface="Arial"/>
                <a:ea typeface="Arial"/>
                <a:cs typeface="Arial"/>
              </a:rPr>
              <a:t>13 · DEMO WORKFLOW</a:t>
            </a:r>
          </a:p>
        </p:txBody>
      </p:sp>
      <p:sp>
        <p:nvSpPr>
          <p:cNvPr id="34" name="">
            <a:extLst xmlns:a="http://schemas.openxmlformats.org/drawingml/2006/main">
              <a:ext uri="{FF2B5EF4-FFF2-40B4-BE49-F238E27FC236}">
                <a16:creationId xmlns:a16="http://schemas.microsoft.com/office/drawing/2014/main" id="{28C19444-D8CE-4E74-8080-A5BE941629CE}"/>
              </a:ext>
            </a:extLst>
          </p:cNvPr>
          <p:cNvSpPr>
            <a:spLocks xmlns:a="http://schemas.openxmlformats.org/drawingml/2006/main" noGrp="1"/>
          </p:cNvSpPr>
          <p:nvPr/>
        </p:nvSpPr>
        <p:spPr>
          <a:xfrm xmlns:a="http://schemas.openxmlformats.org/drawingml/2006/main">
            <a:off x="609600" y="6553200"/>
            <a:ext cx="5118068"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00" b="1">
                <a:solidFill>
                  <a:srgbClr val="5B6470"/>
                </a:solidFill>
                <a:latin typeface="Arial"/>
                <a:ea typeface="Arial"/>
                <a:cs typeface="Arial"/>
              </a:defRPr>
            </a:pPr>
            <a:r>
              <a:rPr sz="1000" b="1">
                <a:solidFill>
                  <a:srgbClr val="5B6470"/>
                </a:solidFill>
                <a:latin typeface="Arial"/>
                <a:ea typeface="Arial"/>
                <a:cs typeface="Arial"/>
              </a:rPr>
              <a:t>PRESENTER  Bickramjit Basu</a:t>
            </a:r>
          </a:p>
        </p:txBody>
      </p:sp>
    </p:spTree>
    <p:extLst>
      <p:ext uri="{BB962C8B-B14F-4D97-AF65-F5344CB8AC3E}">
        <p14:creationId xmlns:p14="http://schemas.microsoft.com/office/powerpoint/2010/main" val="184977303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Rounded-Rectangle-5-1">
            <a:extLst xmlns:a="http://schemas.openxmlformats.org/drawingml/2006/main">
              <a:ext uri="{FF2B5EF4-FFF2-40B4-BE49-F238E27FC236}">
                <a16:creationId xmlns:a16="http://schemas.microsoft.com/office/drawing/2014/main" id="{52E4AAE0-072B-4872-BBD3-9A473B651175}"/>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8892DB14-BBDD-4896-A670-A2B29466B9B8}"/>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6E6624C2-C90D-4D9E-B473-94448B5F1D94}"/>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F390DBDB-3E10-478C-B252-158BE7447D7D}"/>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14</a:t>
            </a:r>
          </a:p>
        </p:txBody>
      </p:sp>
      <p:sp>
        <p:nvSpPr>
          <p:cNvPr id="5" name="Title-2-5">
            <a:extLst xmlns:a="http://schemas.openxmlformats.org/drawingml/2006/main">
              <a:ext uri="{FF2B5EF4-FFF2-40B4-BE49-F238E27FC236}">
                <a16:creationId xmlns:a16="http://schemas.microsoft.com/office/drawing/2014/main" id="{7552240C-58B1-4D9B-9280-1F261C013FDF}"/>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900">
                <a:solidFill>
                  <a:srgbClr val="000000"/>
                </a:solidFill>
                <a:latin typeface="Helvetica Neue"/>
                <a:ea typeface="Helvetica Neue"/>
                <a:cs typeface="Helvetica Neue"/>
              </a:defRPr>
            </a:pPr>
            <a:r>
              <a:rPr sz="3600">
                <a:solidFill>
                  <a:srgbClr val="000000"/>
                </a:solidFill>
                <a:latin typeface="Arial"/>
                <a:ea typeface="Arial"/>
                <a:cs typeface="Arial"/>
              </a:rPr>
              <a:t>What must change before a pilot</a:t>
            </a:r>
          </a:p>
        </p:txBody>
      </p:sp>
      <p:sp>
        <p:nvSpPr>
          <p:cNvPr id="6" name="Content-Placeholder-9-6">
            <a:extLst xmlns:a="http://schemas.openxmlformats.org/drawingml/2006/main">
              <a:ext uri="{FF2B5EF4-FFF2-40B4-BE49-F238E27FC236}">
                <a16:creationId xmlns:a16="http://schemas.microsoft.com/office/drawing/2014/main" id="{DCA172F9-BB93-454C-AA2E-6FFEC644CC4B}"/>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89529"/>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Arial"/>
                <a:ea typeface="Arial"/>
                <a:cs typeface="Arial"/>
              </a:rPr>
              <a:t>Collect diverse real campaigns and use independent labels instead of source-linked shortcuts.</a:t>
            </a:r>
          </a:p>
        </p:txBody>
      </p:sp>
      <p:sp>
        <p:nvSpPr>
          <p:cNvPr id="7" name="Content-Placeholder-10-7">
            <a:extLst xmlns:a="http://schemas.openxmlformats.org/drawingml/2006/main">
              <a:ext uri="{FF2B5EF4-FFF2-40B4-BE49-F238E27FC236}">
                <a16:creationId xmlns:a16="http://schemas.microsoft.com/office/drawing/2014/main" id="{8E99A607-6391-4095-A3D8-4B01BCA19807}"/>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96190"/>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Arial"/>
                <a:ea typeface="Arial"/>
                <a:cs typeface="Arial"/>
              </a:rPr>
              <a:t>Measure end-to-end p95,
concurrency, CPU/GPU load,
MPS acceleration, and memory.</a:t>
            </a:r>
          </a:p>
        </p:txBody>
      </p:sp>
      <p:sp>
        <p:nvSpPr>
          <p:cNvPr id="8" name="Content-Placeholder-11-8">
            <a:extLst xmlns:a="http://schemas.openxmlformats.org/drawingml/2006/main">
              <a:ext uri="{FF2B5EF4-FFF2-40B4-BE49-F238E27FC236}">
                <a16:creationId xmlns:a16="http://schemas.microsoft.com/office/drawing/2014/main" id="{E26BA08C-C535-4C2F-B639-763332F61631}"/>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93560"/>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Arial"/>
                <a:ea typeface="Arial"/>
                <a:cs typeface="Arial"/>
              </a:rPr>
              <a:t>A 0.90 nonweapon FPR requires local box labels, recalibration, and no detector-only block.</a:t>
            </a:r>
          </a:p>
        </p:txBody>
      </p:sp>
      <p:sp>
        <p:nvSpPr>
          <p:cNvPr id="9" name="Content-Placeholder-9-9">
            <a:extLst xmlns:a="http://schemas.openxmlformats.org/drawingml/2006/main">
              <a:ext uri="{FF2B5EF4-FFF2-40B4-BE49-F238E27FC236}">
                <a16:creationId xmlns:a16="http://schemas.microsoft.com/office/drawing/2014/main" id="{B795A035-8A08-4159-8AEC-D7164356B544}"/>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3450" b="1">
                <a:solidFill>
                  <a:srgbClr val="D9485F"/>
                </a:solidFill>
                <a:latin typeface="Arial"/>
                <a:ea typeface="Arial"/>
                <a:cs typeface="Arial"/>
              </a:rPr>
              <a:t>DATA</a:t>
            </a:r>
          </a:p>
        </p:txBody>
      </p:sp>
      <p:sp>
        <p:nvSpPr>
          <p:cNvPr id="10" name="Content-Placeholder-9-10">
            <a:extLst xmlns:a="http://schemas.openxmlformats.org/drawingml/2006/main">
              <a:ext uri="{FF2B5EF4-FFF2-40B4-BE49-F238E27FC236}">
                <a16:creationId xmlns:a16="http://schemas.microsoft.com/office/drawing/2014/main" id="{624B7F04-4CAD-4281-B6D8-EA76A46B93FD}"/>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3000" b="1">
                <a:solidFill>
                  <a:srgbClr val="D9485F"/>
                </a:solidFill>
                <a:latin typeface="Arial"/>
                <a:ea typeface="Arial"/>
                <a:cs typeface="Arial"/>
              </a:rPr>
              <a:t>DETECTOR</a:t>
            </a:r>
          </a:p>
        </p:txBody>
      </p:sp>
      <p:sp>
        <p:nvSpPr>
          <p:cNvPr id="11" name="Content-Placeholder-9-11">
            <a:extLst xmlns:a="http://schemas.openxmlformats.org/drawingml/2006/main">
              <a:ext uri="{FF2B5EF4-FFF2-40B4-BE49-F238E27FC236}">
                <a16:creationId xmlns:a16="http://schemas.microsoft.com/office/drawing/2014/main" id="{4E2886AA-4795-4FED-B304-EBCD067F5098}"/>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2850" b="1">
                <a:solidFill>
                  <a:srgbClr val="D9485F"/>
                </a:solidFill>
                <a:latin typeface="Arial"/>
                <a:ea typeface="Arial"/>
                <a:cs typeface="Arial"/>
              </a:rPr>
              <a:t>OPERATIONS</a:t>
            </a:r>
          </a:p>
        </p:txBody>
      </p:sp>
      <p:sp>
        <p:nvSpPr>
          <p:cNvPr id="12" name="Content-Placeholder-15-12">
            <a:extLst xmlns:a="http://schemas.openxmlformats.org/drawingml/2006/main">
              <a:ext uri="{FF2B5EF4-FFF2-40B4-BE49-F238E27FC236}">
                <a16:creationId xmlns:a16="http://schemas.microsoft.com/office/drawing/2014/main" id="{00C384F5-E45C-4713-BBBE-C74240699B0A}"/>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000000"/>
                </a:solidFill>
                <a:latin typeface="Helvetica Neue"/>
                <a:ea typeface="Helvetica Neue"/>
                <a:cs typeface="Helvetica Neue"/>
              </a:defRPr>
            </a:pPr>
            <a:r>
              <a:rPr sz="1600" b="1">
                <a:solidFill>
                  <a:srgbClr val="3D8DFF"/>
                </a:solidFill>
                <a:latin typeface="Arial"/>
                <a:ea typeface="Arial"/>
                <a:cs typeface="Arial"/>
              </a:rPr>
              <a:t>THREE GAPS</a:t>
            </a:r>
          </a:p>
          <a:p xmlns:a="http://schemas.openxmlformats.org/drawingml/2006/main">
            <a:pPr algn="l">
              <a:lnSpc>
                <a:spcPct val="100000"/>
              </a:lnSpc>
              <a:buNone/>
              <a:defRPr sz="1600">
                <a:solidFill>
                  <a:srgbClr val="000000"/>
                </a:solidFill>
                <a:latin typeface="Helvetica Neue"/>
                <a:ea typeface="Helvetica Neue"/>
                <a:cs typeface="Helvetica Neue"/>
              </a:defRPr>
            </a:pPr>
            <a:r>
              <a:rPr sz="1600">
                <a:solidFill>
                  <a:srgbClr val="000000"/>
                </a:solidFill>
                <a:latin typeface="Arial"/>
                <a:ea typeface="Arial"/>
                <a:cs typeface="Arial"/>
              </a:rPr>
              <a:t>Before a pilot, we need to address source-biased data, noisy detections, and missing full-pipeline performance measurements.</a:t>
            </a:r>
          </a:p>
        </p:txBody>
      </p:sp>
      <p:sp>
        <p:nvSpPr>
          <p:cNvPr id="13" name="">
            <a:extLst xmlns:a="http://schemas.openxmlformats.org/drawingml/2006/main">
              <a:ext uri="{FF2B5EF4-FFF2-40B4-BE49-F238E27FC236}">
                <a16:creationId xmlns:a16="http://schemas.microsoft.com/office/drawing/2014/main" id="{88E7EB1C-9786-47C6-A701-66FEF4EADC09}"/>
              </a:ext>
            </a:extLst>
          </p:cNvPr>
          <p:cNvSpPr>
            <a:spLocks xmlns:a="http://schemas.openxmlformats.org/drawingml/2006/main" noGrp="1"/>
          </p:cNvSpPr>
          <p:nvPr/>
        </p:nvSpPr>
        <p:spPr>
          <a:xfrm xmlns:a="http://schemas.openxmlformats.org/drawingml/2006/main">
            <a:off x="393668" y="171450"/>
            <a:ext cx="457200" cy="381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4" name="">
            <a:extLst xmlns:a="http://schemas.openxmlformats.org/drawingml/2006/main">
              <a:ext uri="{FF2B5EF4-FFF2-40B4-BE49-F238E27FC236}">
                <a16:creationId xmlns:a16="http://schemas.microsoft.com/office/drawing/2014/main" id="{CB3B17B9-59C0-4796-A651-5C6B541CBC8E}"/>
              </a:ext>
            </a:extLst>
          </p:cNvPr>
          <p:cNvSpPr>
            <a:spLocks xmlns:a="http://schemas.openxmlformats.org/drawingml/2006/main" noGrp="1"/>
          </p:cNvSpPr>
          <p:nvPr/>
        </p:nvSpPr>
        <p:spPr>
          <a:xfrm xmlns:a="http://schemas.openxmlformats.org/drawingml/2006/main">
            <a:off x="8715375" y="104775"/>
            <a:ext cx="30765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00" b="1">
                <a:solidFill>
                  <a:srgbClr val="5B6470"/>
                </a:solidFill>
                <a:latin typeface="Arial"/>
                <a:ea typeface="Arial"/>
                <a:cs typeface="Arial"/>
              </a:defRPr>
            </a:pPr>
            <a:r>
              <a:rPr sz="1000" b="1">
                <a:solidFill>
                  <a:srgbClr val="5B6470"/>
                </a:solidFill>
                <a:latin typeface="Arial"/>
                <a:ea typeface="Arial"/>
                <a:cs typeface="Arial"/>
              </a:rPr>
              <a:t>14 · RISKS AND CONTROLS</a:t>
            </a:r>
          </a:p>
        </p:txBody>
      </p:sp>
      <p:sp>
        <p:nvSpPr>
          <p:cNvPr id="15" name="">
            <a:extLst xmlns:a="http://schemas.openxmlformats.org/drawingml/2006/main">
              <a:ext uri="{FF2B5EF4-FFF2-40B4-BE49-F238E27FC236}">
                <a16:creationId xmlns:a16="http://schemas.microsoft.com/office/drawing/2014/main" id="{ECD09ED3-971A-4BF6-AB49-791362D3C2BF}"/>
              </a:ext>
            </a:extLst>
          </p:cNvPr>
          <p:cNvSpPr>
            <a:spLocks xmlns:a="http://schemas.openxmlformats.org/drawingml/2006/main" noGrp="1"/>
          </p:cNvSpPr>
          <p:nvPr/>
        </p:nvSpPr>
        <p:spPr>
          <a:xfrm xmlns:a="http://schemas.openxmlformats.org/drawingml/2006/main">
            <a:off x="609600" y="6553200"/>
            <a:ext cx="5118068"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00" b="1">
                <a:solidFill>
                  <a:srgbClr val="5B6470"/>
                </a:solidFill>
                <a:latin typeface="Arial"/>
                <a:ea typeface="Arial"/>
                <a:cs typeface="Arial"/>
              </a:defRPr>
            </a:pPr>
            <a:r>
              <a:rPr sz="1000" b="1">
                <a:solidFill>
                  <a:srgbClr val="5B6470"/>
                </a:solidFill>
                <a:latin typeface="Arial"/>
                <a:ea typeface="Arial"/>
                <a:cs typeface="Arial"/>
              </a:rPr>
              <a:t>PRESENTER  Myetchae Thu</a:t>
            </a:r>
          </a:p>
        </p:txBody>
      </p:sp>
    </p:spTree>
    <p:extLst>
      <p:ext uri="{BB962C8B-B14F-4D97-AF65-F5344CB8AC3E}">
        <p14:creationId xmlns:p14="http://schemas.microsoft.com/office/powerpoint/2010/main" val="159111921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Number-Placeholder-3-2">
            <a:extLst xmlns:a="http://schemas.openxmlformats.org/drawingml/2006/main">
              <a:ext uri="{FF2B5EF4-FFF2-40B4-BE49-F238E27FC236}">
                <a16:creationId xmlns:a16="http://schemas.microsoft.com/office/drawing/2014/main" id="{D059433F-93C9-4AC2-B7D1-B344872416AC}"/>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15</a:t>
            </a:r>
          </a:p>
        </p:txBody>
      </p:sp>
      <p:sp>
        <p:nvSpPr>
          <p:cNvPr id="2" name="Title-10-3">
            <a:extLst xmlns:a="http://schemas.openxmlformats.org/drawingml/2006/main">
              <a:ext uri="{FF2B5EF4-FFF2-40B4-BE49-F238E27FC236}">
                <a16:creationId xmlns:a16="http://schemas.microsoft.com/office/drawing/2014/main" id="{8711BFCB-4042-4435-84D6-F26F23FAA8A5}"/>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900">
                <a:solidFill>
                  <a:srgbClr val="000000"/>
                </a:solidFill>
                <a:latin typeface="Helvetica Neue"/>
                <a:ea typeface="Helvetica Neue"/>
                <a:cs typeface="Helvetica Neue"/>
              </a:defRPr>
            </a:pPr>
            <a:r>
              <a:rPr sz="3600">
                <a:solidFill>
                  <a:srgbClr val="000000"/>
                </a:solidFill>
                <a:latin typeface="Arial"/>
                <a:ea typeface="Arial"/>
                <a:cs typeface="Arial"/>
              </a:rPr>
              <a:t>What we would do next: a 10-week plan</a:t>
            </a:r>
          </a:p>
        </p:txBody>
      </p:sp>
      <p:cxnSp>
        <p:nvCxnSpPr>
          <p:cNvPr id="21" name="Google-Shape-2259-p159-4"/>
          <p:cNvCxnSpPr/>
          <p:nvPr/>
        </p:nvCxnSpPr>
        <p:spPr>
          <a:xfrm xmlns:a="http://schemas.openxmlformats.org/drawingml/2006/main">
            <a:off x="393668" y="5341620"/>
            <a:ext cx="11404568"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075A86D7-D426-438D-BFEF-9BA320944906}"/>
              </a:ext>
            </a:extLst>
          </p:cNvPr>
          <p:cNvSpPr>
            <a:spLocks xmlns:a="http://schemas.openxmlformats.org/drawingml/2006/main" noGrp="1"/>
          </p:cNvSpPr>
          <p:nvPr/>
        </p:nvSpPr>
        <p:spPr>
          <a:xfrm xmlns:a="http://schemas.openxmlformats.org/drawingml/2006/main">
            <a:off x="337757" y="5288089"/>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F0BBEA85-5663-4F7D-803D-D37588BD67CD}"/>
              </a:ext>
            </a:extLst>
          </p:cNvPr>
          <p:cNvSpPr>
            <a:spLocks xmlns:a="http://schemas.openxmlformats.org/drawingml/2006/main" noGrp="1"/>
          </p:cNvSpPr>
          <p:nvPr/>
        </p:nvSpPr>
        <p:spPr>
          <a:xfrm xmlns:a="http://schemas.openxmlformats.org/drawingml/2006/main">
            <a:off x="4251770" y="5288089"/>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B0EF4872-3298-4CE5-AF73-DB0EAAA830C9}"/>
              </a:ext>
            </a:extLst>
          </p:cNvPr>
          <p:cNvSpPr>
            <a:spLocks xmlns:a="http://schemas.openxmlformats.org/drawingml/2006/main" noGrp="1"/>
          </p:cNvSpPr>
          <p:nvPr/>
        </p:nvSpPr>
        <p:spPr>
          <a:xfrm xmlns:a="http://schemas.openxmlformats.org/drawingml/2006/main">
            <a:off x="8176070" y="5288089"/>
            <a:ext cx="107061" cy="107061"/>
          </a:xfrm>
          <a:prstGeom xmlns:a="http://schemas.openxmlformats.org/drawingml/2006/main" prst="ellipse">
            <a:avLst/>
          </a:prstGeom>
          <a:solidFill xmlns:a="http://schemas.openxmlformats.org/drawingml/2006/main">
            <a:srgbClr val="000000"/>
          </a:solidFill>
        </p:spPr>
      </p:sp>
      <p:sp>
        <p:nvSpPr>
          <p:cNvPr id="7" name="Rounded-Rectangle-19-8">
            <a:extLst xmlns:a="http://schemas.openxmlformats.org/drawingml/2006/main">
              <a:ext uri="{FF2B5EF4-FFF2-40B4-BE49-F238E27FC236}">
                <a16:creationId xmlns:a16="http://schemas.microsoft.com/office/drawing/2014/main" id="{BB2A7DE5-A933-42CD-986A-79A5595A1D66}"/>
              </a:ext>
            </a:extLst>
          </p:cNvPr>
          <p:cNvSpPr>
            <a:spLocks xmlns:a="http://schemas.openxmlformats.org/drawingml/2006/main" noGrp="1"/>
          </p:cNvSpPr>
          <p:nvPr/>
        </p:nvSpPr>
        <p:spPr>
          <a:xfrm xmlns:a="http://schemas.openxmlformats.org/drawingml/2006/main">
            <a:off x="393668"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8" name="Content-Placeholder-8-9">
            <a:extLst xmlns:a="http://schemas.openxmlformats.org/drawingml/2006/main">
              <a:ext uri="{FF2B5EF4-FFF2-40B4-BE49-F238E27FC236}">
                <a16:creationId xmlns:a16="http://schemas.microsoft.com/office/drawing/2014/main" id="{E3A5387A-F3E9-4827-B2EC-C61CA5E5DC39}"/>
              </a:ext>
            </a:extLst>
          </p:cNvPr>
          <p:cNvSpPr>
            <a:spLocks xmlns:a="http://schemas.openxmlformats.org/drawingml/2006/main" noGrp="1"/>
          </p:cNvSpPr>
          <p:nvPr/>
        </p:nvSpPr>
        <p:spPr>
          <a:xfrm xmlns:a="http://schemas.openxmlformats.org/drawingml/2006/main">
            <a:off x="703421"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000000"/>
                </a:solidFill>
                <a:latin typeface="Helvetica Neue"/>
                <a:ea typeface="Helvetica Neue"/>
                <a:cs typeface="Helvetica Neue"/>
              </a:defRPr>
            </a:pPr>
            <a:r>
              <a:rPr sz="1800" b="1">
                <a:solidFill>
                  <a:srgbClr val="000000"/>
                </a:solidFill>
                <a:latin typeface="Arial"/>
                <a:ea typeface="Arial"/>
                <a:cs typeface="Arial"/>
              </a:rPr>
              <a:t>WEEKS 1–3 · EVIDENCE</a:t>
            </a:r>
          </a:p>
          <a:p xmlns:a="http://schemas.openxmlformats.org/drawingml/2006/main">
            <a:pPr algn="l">
              <a:lnSpc>
                <a:spcPct val="100000"/>
              </a:lnSpc>
              <a:buNone/>
              <a:defRPr sz="1600">
                <a:solidFill>
                  <a:srgbClr val="000000"/>
                </a:solidFill>
                <a:latin typeface="Helvetica Neue"/>
                <a:ea typeface="Helvetica Neue"/>
                <a:cs typeface="Helvetica Neue"/>
              </a:defRPr>
            </a:pPr>
            <a:r>
              <a:rPr sz="1600">
                <a:solidFill>
                  <a:srgbClr val="000000"/>
                </a:solidFill>
                <a:latin typeface="Arial"/>
                <a:ea typeface="Arial"/>
                <a:cs typeface="Arial"/>
              </a:rPr>
              <a:t>A data lead, policy reviewer, and 2 annotators curate ≥1,000 real ads and lock a campaign-grouped independent holdout.</a:t>
            </a:r>
          </a:p>
        </p:txBody>
      </p:sp>
      <p:sp>
        <p:nvSpPr>
          <p:cNvPr id="9" name="Rounded-Rectangle-21-10">
            <a:extLst xmlns:a="http://schemas.openxmlformats.org/drawingml/2006/main">
              <a:ext uri="{FF2B5EF4-FFF2-40B4-BE49-F238E27FC236}">
                <a16:creationId xmlns:a16="http://schemas.microsoft.com/office/drawing/2014/main" id="{017F1FE7-3348-44D1-AE9A-F10395F20AFB}"/>
              </a:ext>
            </a:extLst>
          </p:cNvPr>
          <p:cNvSpPr>
            <a:spLocks xmlns:a="http://schemas.openxmlformats.org/drawingml/2006/main" noGrp="1"/>
          </p:cNvSpPr>
          <p:nvPr/>
        </p:nvSpPr>
        <p:spPr>
          <a:xfrm xmlns:a="http://schemas.openxmlformats.org/drawingml/2006/main">
            <a:off x="4308443"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10" name="Content-Placeholder-8-11">
            <a:extLst xmlns:a="http://schemas.openxmlformats.org/drawingml/2006/main">
              <a:ext uri="{FF2B5EF4-FFF2-40B4-BE49-F238E27FC236}">
                <a16:creationId xmlns:a16="http://schemas.microsoft.com/office/drawing/2014/main" id="{1E90D100-81D2-4F84-BC4E-69EC5DA5143A}"/>
              </a:ext>
            </a:extLst>
          </p:cNvPr>
          <p:cNvSpPr>
            <a:spLocks xmlns:a="http://schemas.openxmlformats.org/drawingml/2006/main" noGrp="1"/>
          </p:cNvSpPr>
          <p:nvPr/>
        </p:nvSpPr>
        <p:spPr>
          <a:xfrm xmlns:a="http://schemas.openxmlformats.org/drawingml/2006/main">
            <a:off x="4618196"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000000"/>
                </a:solidFill>
                <a:latin typeface="Helvetica Neue"/>
                <a:ea typeface="Helvetica Neue"/>
                <a:cs typeface="Helvetica Neue"/>
              </a:defRPr>
            </a:pPr>
            <a:r>
              <a:rPr sz="1800" b="1">
                <a:solidFill>
                  <a:srgbClr val="000000"/>
                </a:solidFill>
                <a:latin typeface="Arial"/>
                <a:ea typeface="Arial"/>
                <a:cs typeface="Arial"/>
              </a:rPr>
              <a:t>WEEKS 4–6 · CALIBRATE</a:t>
            </a:r>
          </a:p>
          <a:p xmlns:a="http://schemas.openxmlformats.org/drawingml/2006/main">
            <a:pPr algn="l">
              <a:lnSpc>
                <a:spcPct val="100000"/>
              </a:lnSpc>
              <a:buNone/>
              <a:defRPr sz="1600">
                <a:solidFill>
                  <a:srgbClr val="000000"/>
                </a:solidFill>
                <a:latin typeface="Helvetica Neue"/>
                <a:ea typeface="Helvetica Neue"/>
                <a:cs typeface="Helvetica Neue"/>
              </a:defRPr>
            </a:pPr>
            <a:r>
              <a:rPr sz="1600">
                <a:solidFill>
                  <a:srgbClr val="000000"/>
                </a:solidFill>
                <a:latin typeface="Arial"/>
                <a:ea typeface="Arial"/>
                <a:cs typeface="Arial"/>
              </a:rPr>
              <a:t>1 ML engineer and a reviewer tune against two gates: &gt;0.95 recall per restricted class and &lt;2% Safe crossings.</a:t>
            </a:r>
          </a:p>
        </p:txBody>
      </p:sp>
      <p:sp>
        <p:nvSpPr>
          <p:cNvPr id="11" name="Rounded-Rectangle-23-12">
            <a:extLst xmlns:a="http://schemas.openxmlformats.org/drawingml/2006/main">
              <a:ext uri="{FF2B5EF4-FFF2-40B4-BE49-F238E27FC236}">
                <a16:creationId xmlns:a16="http://schemas.microsoft.com/office/drawing/2014/main" id="{16A64825-749B-47D2-BAD3-B0FAE866CE2A}"/>
              </a:ext>
            </a:extLst>
          </p:cNvPr>
          <p:cNvSpPr>
            <a:spLocks xmlns:a="http://schemas.openxmlformats.org/drawingml/2006/main" noGrp="1"/>
          </p:cNvSpPr>
          <p:nvPr/>
        </p:nvSpPr>
        <p:spPr>
          <a:xfrm xmlns:a="http://schemas.openxmlformats.org/drawingml/2006/main">
            <a:off x="8237506"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12" name="Content-Placeholder-8-13">
            <a:extLst xmlns:a="http://schemas.openxmlformats.org/drawingml/2006/main">
              <a:ext uri="{FF2B5EF4-FFF2-40B4-BE49-F238E27FC236}">
                <a16:creationId xmlns:a16="http://schemas.microsoft.com/office/drawing/2014/main" id="{8F0B83ED-34CB-4D27-BAE9-4F54FD601B93}"/>
              </a:ext>
            </a:extLst>
          </p:cNvPr>
          <p:cNvSpPr>
            <a:spLocks xmlns:a="http://schemas.openxmlformats.org/drawingml/2006/main" noGrp="1"/>
          </p:cNvSpPr>
          <p:nvPr/>
        </p:nvSpPr>
        <p:spPr>
          <a:xfrm xmlns:a="http://schemas.openxmlformats.org/drawingml/2006/main">
            <a:off x="8547259"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000000"/>
                </a:solidFill>
                <a:latin typeface="Helvetica Neue"/>
                <a:ea typeface="Helvetica Neue"/>
                <a:cs typeface="Helvetica Neue"/>
              </a:defRPr>
            </a:pPr>
            <a:r>
              <a:rPr sz="1800" b="1">
                <a:solidFill>
                  <a:srgbClr val="000000"/>
                </a:solidFill>
                <a:latin typeface="Arial"/>
                <a:ea typeface="Arial"/>
                <a:cs typeface="Arial"/>
              </a:rPr>
              <a:t>WEEKS 7–10 · SHADOW PILOT</a:t>
            </a:r>
          </a:p>
          <a:p xmlns:a="http://schemas.openxmlformats.org/drawingml/2006/main">
            <a:pPr algn="l">
              <a:lnSpc>
                <a:spcPct val="100000"/>
              </a:lnSpc>
              <a:buNone/>
              <a:defRPr sz="1600">
                <a:solidFill>
                  <a:srgbClr val="000000"/>
                </a:solidFill>
                <a:latin typeface="Helvetica Neue"/>
                <a:ea typeface="Helvetica Neue"/>
                <a:cs typeface="Helvetica Neue"/>
              </a:defRPr>
            </a:pPr>
            <a:r>
              <a:rPr sz="1600">
                <a:solidFill>
                  <a:srgbClr val="000000"/>
                </a:solidFill>
                <a:latin typeface="Arial"/>
                <a:ea typeface="Arial"/>
                <a:cs typeface="Arial"/>
              </a:rPr>
              <a:t>A product lead, app/MLOps engineer, and reviewer rotation test 10 concurrent requests, end-to-end p95 latency, and resource use.</a:t>
            </a:r>
          </a:p>
        </p:txBody>
      </p:sp>
      <p:sp>
        <p:nvSpPr>
          <p:cNvPr id="13" name="Text-Placeholder-16-14">
            <a:extLst xmlns:a="http://schemas.openxmlformats.org/drawingml/2006/main">
              <a:ext uri="{FF2B5EF4-FFF2-40B4-BE49-F238E27FC236}">
                <a16:creationId xmlns:a16="http://schemas.microsoft.com/office/drawing/2014/main" id="{CAE9421F-7ABC-472A-80C8-769A5B3B8689}"/>
              </a:ext>
            </a:extLst>
          </p:cNvPr>
          <p:cNvSpPr>
            <a:spLocks xmlns:a="http://schemas.openxmlformats.org/drawingml/2006/main" noGrp="1"/>
          </p:cNvSpPr>
          <p:nvPr/>
        </p:nvSpPr>
        <p:spPr>
          <a:xfrm xmlns:a="http://schemas.openxmlformats.org/drawingml/2006/main">
            <a:off x="4251770"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800" b="1">
                <a:solidFill>
                  <a:srgbClr val="3D8DFF"/>
                </a:solidFill>
                <a:latin typeface="Arial"/>
                <a:ea typeface="Arial"/>
                <a:cs typeface="Arial"/>
              </a:rPr>
              <a:t>ML + QA</a:t>
            </a:r>
          </a:p>
        </p:txBody>
      </p:sp>
      <p:sp>
        <p:nvSpPr>
          <p:cNvPr id="14" name="Text-Placeholder-16-15">
            <a:extLst xmlns:a="http://schemas.openxmlformats.org/drawingml/2006/main">
              <a:ext uri="{FF2B5EF4-FFF2-40B4-BE49-F238E27FC236}">
                <a16:creationId xmlns:a16="http://schemas.microsoft.com/office/drawing/2014/main" id="{7619DD49-346B-4AEC-AD31-B9D54735B4A6}"/>
              </a:ext>
            </a:extLst>
          </p:cNvPr>
          <p:cNvSpPr>
            <a:spLocks xmlns:a="http://schemas.openxmlformats.org/drawingml/2006/main" noGrp="1"/>
          </p:cNvSpPr>
          <p:nvPr/>
        </p:nvSpPr>
        <p:spPr>
          <a:xfrm xmlns:a="http://schemas.openxmlformats.org/drawingml/2006/main">
            <a:off x="390906"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800" b="1">
                <a:solidFill>
                  <a:srgbClr val="3D8DFF"/>
                </a:solidFill>
                <a:latin typeface="Arial"/>
                <a:ea typeface="Arial"/>
                <a:cs typeface="Arial"/>
              </a:rPr>
              <a:t>DATA + POLICY</a:t>
            </a:r>
          </a:p>
        </p:txBody>
      </p:sp>
      <p:sp>
        <p:nvSpPr>
          <p:cNvPr id="15" name="Text-Placeholder-16-16">
            <a:extLst xmlns:a="http://schemas.openxmlformats.org/drawingml/2006/main">
              <a:ext uri="{FF2B5EF4-FFF2-40B4-BE49-F238E27FC236}">
                <a16:creationId xmlns:a16="http://schemas.microsoft.com/office/drawing/2014/main" id="{7F4B07AD-C787-4D95-8316-61B554F46623}"/>
              </a:ext>
            </a:extLst>
          </p:cNvPr>
          <p:cNvSpPr>
            <a:spLocks xmlns:a="http://schemas.openxmlformats.org/drawingml/2006/main" noGrp="1"/>
          </p:cNvSpPr>
          <p:nvPr/>
        </p:nvSpPr>
        <p:spPr>
          <a:xfrm xmlns:a="http://schemas.openxmlformats.org/drawingml/2006/main">
            <a:off x="8225409"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800" b="1">
                <a:solidFill>
                  <a:srgbClr val="3D8DFF"/>
                </a:solidFill>
                <a:latin typeface="Arial"/>
                <a:ea typeface="Arial"/>
                <a:cs typeface="Arial"/>
              </a:rPr>
              <a:t>PRODUCT + OPS</a:t>
            </a:r>
          </a:p>
        </p:txBody>
      </p:sp>
      <p:sp>
        <p:nvSpPr>
          <p:cNvPr id="16" name="">
            <a:extLst xmlns:a="http://schemas.openxmlformats.org/drawingml/2006/main">
              <a:ext uri="{FF2B5EF4-FFF2-40B4-BE49-F238E27FC236}">
                <a16:creationId xmlns:a16="http://schemas.microsoft.com/office/drawing/2014/main" id="{E63E3E57-669A-4B9D-AEF1-7ACCD5C6DD66}"/>
              </a:ext>
            </a:extLst>
          </p:cNvPr>
          <p:cNvSpPr>
            <a:spLocks xmlns:a="http://schemas.openxmlformats.org/drawingml/2006/main" noGrp="1"/>
          </p:cNvSpPr>
          <p:nvPr/>
        </p:nvSpPr>
        <p:spPr>
          <a:xfrm xmlns:a="http://schemas.openxmlformats.org/drawingml/2006/main">
            <a:off x="393668" y="171450"/>
            <a:ext cx="457200" cy="381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7" name="">
            <a:extLst xmlns:a="http://schemas.openxmlformats.org/drawingml/2006/main">
              <a:ext uri="{FF2B5EF4-FFF2-40B4-BE49-F238E27FC236}">
                <a16:creationId xmlns:a16="http://schemas.microsoft.com/office/drawing/2014/main" id="{F39E6898-7C06-4806-B3C3-71659633095C}"/>
              </a:ext>
            </a:extLst>
          </p:cNvPr>
          <p:cNvSpPr>
            <a:spLocks xmlns:a="http://schemas.openxmlformats.org/drawingml/2006/main" noGrp="1"/>
          </p:cNvSpPr>
          <p:nvPr/>
        </p:nvSpPr>
        <p:spPr>
          <a:xfrm xmlns:a="http://schemas.openxmlformats.org/drawingml/2006/main">
            <a:off x="8715375" y="104775"/>
            <a:ext cx="30765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00" b="1">
                <a:solidFill>
                  <a:srgbClr val="5B6470"/>
                </a:solidFill>
                <a:latin typeface="Arial"/>
                <a:ea typeface="Arial"/>
                <a:cs typeface="Arial"/>
              </a:defRPr>
            </a:pPr>
            <a:r>
              <a:rPr sz="1000" b="1">
                <a:solidFill>
                  <a:srgbClr val="5B6470"/>
                </a:solidFill>
                <a:latin typeface="Arial"/>
                <a:ea typeface="Arial"/>
                <a:cs typeface="Arial"/>
              </a:rPr>
              <a:t>15 · NEXT STEPS TO MVP</a:t>
            </a:r>
          </a:p>
        </p:txBody>
      </p:sp>
      <p:sp>
        <p:nvSpPr>
          <p:cNvPr id="18" name="">
            <a:extLst xmlns:a="http://schemas.openxmlformats.org/drawingml/2006/main">
              <a:ext uri="{FF2B5EF4-FFF2-40B4-BE49-F238E27FC236}">
                <a16:creationId xmlns:a16="http://schemas.microsoft.com/office/drawing/2014/main" id="{E2A1A5F4-5804-4EBA-98E6-DDCA064CBEBB}"/>
              </a:ext>
            </a:extLst>
          </p:cNvPr>
          <p:cNvSpPr>
            <a:spLocks xmlns:a="http://schemas.openxmlformats.org/drawingml/2006/main" noGrp="1"/>
          </p:cNvSpPr>
          <p:nvPr/>
        </p:nvSpPr>
        <p:spPr>
          <a:xfrm xmlns:a="http://schemas.openxmlformats.org/drawingml/2006/main">
            <a:off x="609600" y="6553200"/>
            <a:ext cx="5118068"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00" b="1">
                <a:solidFill>
                  <a:srgbClr val="5B6470"/>
                </a:solidFill>
                <a:latin typeface="Arial"/>
                <a:ea typeface="Arial"/>
                <a:cs typeface="Arial"/>
              </a:defRPr>
            </a:pPr>
            <a:r>
              <a:rPr sz="1000" b="1">
                <a:solidFill>
                  <a:srgbClr val="5B6470"/>
                </a:solidFill>
                <a:latin typeface="Arial"/>
                <a:ea typeface="Arial"/>
                <a:cs typeface="Arial"/>
              </a:rPr>
              <a:t>PRESENTER  Swarnaditya Maitra</a:t>
            </a:r>
          </a:p>
        </p:txBody>
      </p:sp>
    </p:spTree>
    <p:extLst>
      <p:ext uri="{BB962C8B-B14F-4D97-AF65-F5344CB8AC3E}">
        <p14:creationId xmlns:p14="http://schemas.microsoft.com/office/powerpoint/2010/main" val="1993691787"/>
      </p:ext>
    </p:extLst>
  </p:cSld>
</p:sld>
</file>

<file path=ppt/theme/theme1.xml><?xml version="1.0" encoding="utf-8"?>
<a:theme xmlns:a="http://schemas.openxmlformats.org/drawingml/2006/main" name="Ad Safety Project">
  <a:themeElements>
    <a:clrScheme name="Ad Safety Projec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Ad Safety Projec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On-screen Show (16:9)</ap:PresentationFormat>
  <ap:Slides>15</ap:Slides>
  <ap:Notes>15</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Ad Safety Moderation: Pilot Results and Next Steps</dc:title>
  <dcterms:created xsi:type="dcterms:W3CDTF">2026-08-29T12:01:09.1080000Z</dcterms:created>
  <dcterms:modified xsi:type="dcterms:W3CDTF">2026-08-29T12:01:09.1080000Z</dcterms:modified>
</coreProperties>
</file>