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c0430594504c84" /><Relationship Type="http://schemas.openxmlformats.org/officeDocument/2006/relationships/extended-properties" Target="/docProps/app.xml" Id="Rba40304a7bf34af5" /><Relationship Type="http://schemas.openxmlformats.org/officeDocument/2006/relationships/officeDocument" Target="/ppt/presentation.xml" Id="Rbd7a2b3ae5b44a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b7e9d1c0e4406c"/>
  </p:sldMasterIdLst>
  <p:notesMasterIdLst>
    <p:notesMasterId xmlns:r="http://schemas.openxmlformats.org/officeDocument/2006/relationships" r:id="Rc03d91404ff645bc"/>
  </p:notesMasterIdLst>
  <p:sldIdLst>
    <p:sldId xmlns:r="http://schemas.openxmlformats.org/officeDocument/2006/relationships" id="256" r:id="R7eafb40ad8bf489c"/>
    <p:sldId xmlns:r="http://schemas.openxmlformats.org/officeDocument/2006/relationships" id="257" r:id="Rbda0fcb9a3794cd7"/>
    <p:sldId xmlns:r="http://schemas.openxmlformats.org/officeDocument/2006/relationships" id="258" r:id="Rb791c7866ded4ef5"/>
    <p:sldId xmlns:r="http://schemas.openxmlformats.org/officeDocument/2006/relationships" id="259" r:id="R1f478de0006e4237"/>
    <p:sldId xmlns:r="http://schemas.openxmlformats.org/officeDocument/2006/relationships" id="260" r:id="R349913da469f4efe"/>
    <p:sldId xmlns:r="http://schemas.openxmlformats.org/officeDocument/2006/relationships" id="261" r:id="Rc41818e64b2c4de2"/>
    <p:sldId xmlns:r="http://schemas.openxmlformats.org/officeDocument/2006/relationships" id="262" r:id="Re5a5ddd803884a47"/>
    <p:sldId xmlns:r="http://schemas.openxmlformats.org/officeDocument/2006/relationships" id="263" r:id="R3b34bf4532174e8f"/>
    <p:sldId xmlns:r="http://schemas.openxmlformats.org/officeDocument/2006/relationships" id="264" r:id="Raa898651360848db"/>
    <p:sldId xmlns:r="http://schemas.openxmlformats.org/officeDocument/2006/relationships" id="265" r:id="Rfc2262a12cf9441a"/>
    <p:sldId xmlns:r="http://schemas.openxmlformats.org/officeDocument/2006/relationships" id="266" r:id="R1977108032da445a"/>
    <p:sldId xmlns:r="http://schemas.openxmlformats.org/officeDocument/2006/relationships" id="267" r:id="R90f9ed259ff0482e"/>
    <p:sldId xmlns:r="http://schemas.openxmlformats.org/officeDocument/2006/relationships" id="268" r:id="R8ef678d5078f4167"/>
    <p:sldId xmlns:r="http://schemas.openxmlformats.org/officeDocument/2006/relationships" id="269" r:id="Rf3cfbd49168849fa"/>
    <p:sldId xmlns:r="http://schemas.openxmlformats.org/officeDocument/2006/relationships" id="270" r:id="R45560397c4344b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4c573d67734206" /><Relationship Type="http://schemas.openxmlformats.org/officeDocument/2006/relationships/slideMaster" Target="/ppt/slideMasters/slideMaster1.xml" Id="R9ab7e9d1c0e4406c" /><Relationship Type="http://schemas.openxmlformats.org/officeDocument/2006/relationships/notesMaster" Target="/ppt/notesMasters/notesMaster1.xml" Id="Rc03d91404ff645bc" /><Relationship Type="http://schemas.openxmlformats.org/officeDocument/2006/relationships/presProps" Target="/ppt/presProps.xml" Id="Rf9d1846d405e428b" /><Relationship Type="http://schemas.openxmlformats.org/officeDocument/2006/relationships/tableStyles" Target="/ppt/tableStyles.xml" Id="R65f6cae34d5c49fe" /><Relationship Type="http://schemas.openxmlformats.org/officeDocument/2006/relationships/slide" Target="/ppt/slides/slide1.xml" Id="R7eafb40ad8bf489c" /><Relationship Type="http://schemas.openxmlformats.org/officeDocument/2006/relationships/slide" Target="/ppt/slides/slide2.xml" Id="Rbda0fcb9a3794cd7" /><Relationship Type="http://schemas.openxmlformats.org/officeDocument/2006/relationships/slide" Target="/ppt/slides/slide3.xml" Id="Rb791c7866ded4ef5" /><Relationship Type="http://schemas.openxmlformats.org/officeDocument/2006/relationships/slide" Target="/ppt/slides/slide4.xml" Id="R1f478de0006e4237" /><Relationship Type="http://schemas.openxmlformats.org/officeDocument/2006/relationships/slide" Target="/ppt/slides/slide5.xml" Id="R349913da469f4efe" /><Relationship Type="http://schemas.openxmlformats.org/officeDocument/2006/relationships/slide" Target="/ppt/slides/slide6.xml" Id="Rc41818e64b2c4de2" /><Relationship Type="http://schemas.openxmlformats.org/officeDocument/2006/relationships/slide" Target="/ppt/slides/slide7.xml" Id="Re5a5ddd803884a47" /><Relationship Type="http://schemas.openxmlformats.org/officeDocument/2006/relationships/slide" Target="/ppt/slides/slide8.xml" Id="R3b34bf4532174e8f" /><Relationship Type="http://schemas.openxmlformats.org/officeDocument/2006/relationships/slide" Target="/ppt/slides/slide9.xml" Id="Raa898651360848db" /><Relationship Type="http://schemas.openxmlformats.org/officeDocument/2006/relationships/slide" Target="/ppt/slides/slide10.xml" Id="Rfc2262a12cf9441a" /><Relationship Type="http://schemas.openxmlformats.org/officeDocument/2006/relationships/slide" Target="/ppt/slides/slide11.xml" Id="R1977108032da445a" /><Relationship Type="http://schemas.openxmlformats.org/officeDocument/2006/relationships/slide" Target="/ppt/slides/slide12.xml" Id="R90f9ed259ff0482e" /><Relationship Type="http://schemas.openxmlformats.org/officeDocument/2006/relationships/slide" Target="/ppt/slides/slide13.xml" Id="R8ef678d5078f4167" /><Relationship Type="http://schemas.openxmlformats.org/officeDocument/2006/relationships/slide" Target="/ppt/slides/slide14.xml" Id="Rf3cfbd49168849fa" /><Relationship Type="http://schemas.openxmlformats.org/officeDocument/2006/relationships/slide" Target="/ppt/slides/slide15.xml" Id="R45560397c4344b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9a67bbb3d749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e2ff419c1f4451" /><Relationship Type="http://schemas.openxmlformats.org/officeDocument/2006/relationships/notesMaster" Target="/ppt/notesMasters/notesMaster1.xml" Id="Raace80decb9a48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7f73e17d954349" /><Relationship Type="http://schemas.openxmlformats.org/officeDocument/2006/relationships/notesMaster" Target="/ppt/notesMasters/notesMaster1.xml" Id="Rd24976525dab42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7ef7eacc4f4b1a" /><Relationship Type="http://schemas.openxmlformats.org/officeDocument/2006/relationships/notesMaster" Target="/ppt/notesMasters/notesMaster1.xml" Id="Rf741e5c8ac0144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d1f3a2c7484f4c" /><Relationship Type="http://schemas.openxmlformats.org/officeDocument/2006/relationships/notesMaster" Target="/ppt/notesMasters/notesMaster1.xml" Id="Rbc9082f72fbd4f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4d047ad94e44d8" /><Relationship Type="http://schemas.openxmlformats.org/officeDocument/2006/relationships/notesMaster" Target="/ppt/notesMasters/notesMaster1.xml" Id="Rea7610f9309e4b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e4f8069d5242fa" /><Relationship Type="http://schemas.openxmlformats.org/officeDocument/2006/relationships/notesMaster" Target="/ppt/notesMasters/notesMaster1.xml" Id="R8c7ff529309b4b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5f1321cea14b00" /><Relationship Type="http://schemas.openxmlformats.org/officeDocument/2006/relationships/notesMaster" Target="/ppt/notesMasters/notesMaster1.xml" Id="Ra0bcc53659cd42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29ba8f39e447c3" /><Relationship Type="http://schemas.openxmlformats.org/officeDocument/2006/relationships/notesMaster" Target="/ppt/notesMasters/notesMaster1.xml" Id="R67c3bea7a2f543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dde7d97f7e412f" /><Relationship Type="http://schemas.openxmlformats.org/officeDocument/2006/relationships/notesMaster" Target="/ppt/notesMasters/notesMaster1.xml" Id="R2cc7c86f2e5e40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b90a9ef17146ac" /><Relationship Type="http://schemas.openxmlformats.org/officeDocument/2006/relationships/notesMaster" Target="/ppt/notesMasters/notesMaster1.xml" Id="Rbfccae8e659d430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d9e3150750c4670" /><Relationship Type="http://schemas.openxmlformats.org/officeDocument/2006/relationships/notesMaster" Target="/ppt/notesMasters/notesMaster1.xml" Id="Rbae6d5ef498c47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13122af150841cf" /><Relationship Type="http://schemas.openxmlformats.org/officeDocument/2006/relationships/notesMaster" Target="/ppt/notesMasters/notesMaster1.xml" Id="Rd21375e37c1f46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c3b7c4aad947e7" /><Relationship Type="http://schemas.openxmlformats.org/officeDocument/2006/relationships/notesMaster" Target="/ppt/notesMasters/notesMaster1.xml" Id="R3b0be8142dad49e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b1c08318276444c" /><Relationship Type="http://schemas.openxmlformats.org/officeDocument/2006/relationships/notesMaster" Target="/ppt/notesMasters/notesMaster1.xml" Id="Rbe25965961c948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efaa71fe004c62" /><Relationship Type="http://schemas.openxmlformats.org/officeDocument/2006/relationships/notesMaster" Target="/ppt/notesMasters/notesMaster1.xml" Id="R76a470de74ec47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Swarnaditya Maitra</a:t>
            </a:r>
          </a:p>
          <a:p xmlns:a="http://schemas.openxmlformats.org/drawingml/2006/main">
            <a:r>
              <a:t>Key message: The formal pilot is strong, but the external audit shows that the present evidence is not production-grade.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outputs/evaluation/metrics.json</a:t>
            </a:r>
          </a:p>
          <a:p xmlns:a="http://schemas.openxmlformats.org/drawingml/2006/main">
            <a:r>
              <a:t>- Project-relative: outputs/evaluation/external_spot_check.json</a:t>
            </a:r>
          </a:p>
          <a:p xmlns:a="http://schemas.openxmlformats.org/drawingml/2006/main">
            <a:r>
              <a:t>- Project-relative: outputs/app/app_shell.png</a:t>
            </a:r>
          </a:p>
          <a:p xmlns:a="http://schemas.openxmlformats.org/drawingml/2006/main">
            <a:r>
              <a:t>- Project-relative: outputs/app/browser_validation.json</a:t>
            </a:r>
          </a:p>
          <a:p xmlns:a="http://schemas.openxmlformats.org/drawingml/2006/main">
            <a:r>
              <a:t>- https://support.google.com/adspolicy/answer/6008942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Vijay Agnihotri</a:t>
            </a:r>
          </a:p>
          <a:p xmlns:a="http://schemas.openxmlformats.org/drawingml/2006/main">
            <a:r>
              <a:t>Key message: Every team member owns a visible presentation section; the sequence follows one evidence chain from problem to MVP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README.md</a:t>
            </a:r>
          </a:p>
          <a:p xmlns:a="http://schemas.openxmlformats.org/drawingml/2006/main">
            <a:r>
              <a:t>- Project-relative: scripts/build_presentation.mjs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Swarnaditya Maitra</a:t>
            </a:r>
          </a:p>
          <a:p xmlns:a="http://schemas.openxmlformats.org/drawingml/2006/main">
            <a:r>
              <a:t>Key message: The product goal is triage consistency, not a claim that one image can establish legality or fraud.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https://support.google.com/adspolicy/answer/6008942</a:t>
            </a:r>
          </a:p>
          <a:p xmlns:a="http://schemas.openxmlformats.org/drawingml/2006/main">
            <a:r>
              <a:t>- https://github.com/InteractiveAdvertisingBureau/Taxonomies/releases</a:t>
            </a:r>
          </a:p>
          <a:p xmlns:a="http://schemas.openxmlformats.org/drawingml/2006/main">
            <a:r>
              <a:t>- Project-relative: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Myetchae Thu</a:t>
            </a:r>
          </a:p>
          <a:p xmlns:a="http://schemas.openxmlformats.org/drawingml/2006/main">
            <a:r>
              <a:t>Key message: The current prototype covers four visual labels and three workflow outcomes; it does not cover the full ad policy surface.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configs/policy.yaml</a:t>
            </a:r>
          </a:p>
          <a:p xmlns:a="http://schemas.openxmlformats.org/drawingml/2006/main">
            <a:r>
              <a:t>- Project-relative: README.md</a:t>
            </a:r>
          </a:p>
          <a:p xmlns:a="http://schemas.openxmlformats.org/drawingml/2006/main">
            <a:r>
              <a:t>- https://support.google.com/adspolicy/answer/6008942</a:t>
            </a:r>
          </a:p>
          <a:p xmlns:a="http://schemas.openxmlformats.org/drawingml/2006/main">
            <a:r>
              <a:t>- https://github.com/InteractiveAdvertisingBureau/Taxonomies/releases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Vijay Agnihotri</a:t>
            </a:r>
          </a:p>
          <a:p xmlns:a="http://schemas.openxmlformats.org/drawingml/2006/main">
            <a:r>
              <a:t>Key message: The split is leakage-aware, but the label-to-source mapping still creates a shortcut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data/capstone_registry.csv</a:t>
            </a:r>
          </a:p>
          <a:p xmlns:a="http://schemas.openxmlformats.org/drawingml/2006/main">
            <a:r>
              <a:t>- Project-relative: outputs/evaluation/split_summary.csv</a:t>
            </a:r>
          </a:p>
          <a:p xmlns:a="http://schemas.openxmlformats.org/drawingml/2006/main">
            <a:r>
              <a:t>- https://huggingface.co/datasets/EthanGabis/ADautoGen-DS</a:t>
            </a:r>
          </a:p>
          <a:p xmlns:a="http://schemas.openxmlformats.org/drawingml/2006/main">
            <a:r>
              <a:t>- https://huggingface.co/datasets/rajshivanshuu/weapons_set1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Vijay Agnihotri</a:t>
            </a:r>
          </a:p>
          <a:p xmlns:a="http://schemas.openxmlformats.org/drawingml/2006/main">
            <a:r>
              <a:t>Key message: The contact sheet makes the confounding visible: source style and class are tightly linked despite group-safe splitting.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outputs/evaluation/dataset_contact_sheet.jpg</a:t>
            </a:r>
          </a:p>
          <a:p xmlns:a="http://schemas.openxmlformats.org/drawingml/2006/main">
            <a:r>
              <a:t>- Project-relative: data/capstone_registry.csv</a:t>
            </a:r>
          </a:p>
          <a:p xmlns:a="http://schemas.openxmlformats.org/drawingml/2006/main">
            <a:r>
              <a:t>- Project-relative: outputs/evaluation/split_summary.csv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Myetchae Thu</a:t>
            </a:r>
          </a:p>
          <a:p xmlns:a="http://schemas.openxmlformats.org/drawingml/2006/main">
            <a:r>
              <a:t>Key message: The architecture avoids collapsing evidence into one opaque score; the policy layer can explain which signal changed a verdict.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README.md</a:t>
            </a:r>
          </a:p>
          <a:p xmlns:a="http://schemas.openxmlformats.org/drawingml/2006/main">
            <a:r>
              <a:t>- Project-relative: src/ad_safety/inference.py</a:t>
            </a:r>
          </a:p>
          <a:p xmlns:a="http://schemas.openxmlformats.org/drawingml/2006/main">
            <a:r>
              <a:t>- Project-relative: configs/policy.yaml</a:t>
            </a:r>
          </a:p>
          <a:p xmlns:a="http://schemas.openxmlformats.org/drawingml/2006/main">
            <a:r>
              <a:t>- https://huggingface.co/IDEA-Research/grounding-dino-tiny</a:t>
            </a:r>
          </a:p>
          <a:p xmlns:a="http://schemas.openxmlformats.org/drawingml/2006/main">
            <a:r>
              <a:t>- https://github.com/tesseract-ocr/tesseract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Bickramjit Basu</a:t>
            </a:r>
          </a:p>
          <a:p xmlns:a="http://schemas.openxmlformats.org/drawingml/2006/main">
            <a:r>
              <a:t>Key message: Model selection and threshold calibration use validation data only; the final 48-image test remains untouched until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scripts/train_and_evaluate.py</a:t>
            </a:r>
          </a:p>
          <a:p xmlns:a="http://schemas.openxmlformats.org/drawingml/2006/main">
            <a:r>
              <a:t>- Project-relative: outputs/evaluation/threshold_calibration.png</a:t>
            </a:r>
          </a:p>
          <a:p xmlns:a="http://schemas.openxmlformats.org/drawingml/2006/main">
            <a:r>
              <a:t>- Project-relative: outputs/evaluation/thresholds.csv</a:t>
            </a:r>
          </a:p>
          <a:p xmlns:a="http://schemas.openxmlformats.org/drawingml/2006/main">
            <a:r>
              <a:t>- Project-relative: outputs/evaluation/evaluation_manifest.json</a:t>
            </a:r>
          </a:p>
          <a:p xmlns:a="http://schemas.openxmlformats.org/drawingml/2006/main">
            <a:r>
              <a:t>- https://huggingface.co/timm/vit_base_patch16_224.augreg2_in21k_ft_in1k</a:t>
            </a:r>
          </a:p>
          <a:p xmlns:a="http://schemas.openxmlformats.org/drawingml/2006/main">
            <a:r>
              <a:t>- https://huggingface.co/timm/resnet50.a1_in1k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Bickramjit Basu</a:t>
            </a:r>
          </a:p>
          <a:p xmlns:a="http://schemas.openxmlformats.org/drawingml/2006/main">
            <a:r>
              <a:t>Key message: The literature justifies the selected mechanisms, but it does not transfer benchmark performance to our dataset or policy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https://arxiv.org/abs/2010.11929</a:t>
            </a:r>
          </a:p>
          <a:p xmlns:a="http://schemas.openxmlformats.org/drawingml/2006/main">
            <a:r>
              <a:t>- https://arxiv.org/abs/2303.05499</a:t>
            </a:r>
          </a:p>
          <a:p xmlns:a="http://schemas.openxmlformats.org/drawingml/2006/main">
            <a:r>
              <a:t>- https://huggingface.co/IDEA-Research/grounding-dino-tiny</a:t>
            </a:r>
          </a:p>
          <a:p xmlns:a="http://schemas.openxmlformats.org/drawingml/2006/main">
            <a:r>
              <a:t>- https://github.com/tesseract-ocr/tesseract</a:t>
            </a:r>
          </a:p>
          <a:p xmlns:a="http://schemas.openxmlformats.org/drawingml/2006/main">
            <a:r>
              <a:t>- https://huggingface.co/timm/vit_base_patch16_224.augreg2_in21k_ft_in1k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Swarnaditya Maitra</a:t>
            </a:r>
          </a:p>
          <a:p xmlns:a="http://schemas.openxmlformats.org/drawingml/2006/main">
            <a:r>
              <a:t>Key message: The ViT leads the ResNet baseline on the untouched 48-image test. Safe precision is 1.0, so the proposal's &gt;0.98 Safe-class precision benchmark passes. Recall semantics differ: 0.97222 is multiclass-argmax restricted class-average recall, while validation-threshold operating recall averages 0.94444 and has a 0.91667 worst class. The threshold code used a validation tuning floor of &gt;=0.90; that is not the proposal acceptance target of per-class restricted recall &gt;0.95, which fails on the untouched test for firearms and explosives. ViT classifier-path p95 is 71.527 ms, above 50 ms; full end-to-end p95 is unassessed.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Capstone Project Idea - Ad Safety.pdf</a:t>
            </a:r>
          </a:p>
          <a:p xmlns:a="http://schemas.openxmlformats.org/drawingml/2006/main">
            <a:r>
              <a:t>- Project-relative: outputs/evaluation/metrics.json</a:t>
            </a:r>
          </a:p>
          <a:p xmlns:a="http://schemas.openxmlformats.org/drawingml/2006/main">
            <a:r>
              <a:t>- Project-relative: outputs/evaluation/model_comparison.csv</a:t>
            </a:r>
          </a:p>
          <a:p xmlns:a="http://schemas.openxmlformats.org/drawingml/2006/main">
            <a:r>
              <a:t>- Project-relative: outputs/evaluation/model_comparison.png</a:t>
            </a:r>
          </a:p>
          <a:p xmlns:a="http://schemas.openxmlformats.org/drawingml/2006/main">
            <a:r>
              <a:t>- Project-relative: outputs/evaluation/latency.json</a:t>
            </a:r>
          </a:p>
          <a:p xmlns:a="http://schemas.openxmlformats.org/drawingml/2006/main">
            <a:r>
              <a:t>- Project-relative: outputs/evaluation/thresholds.csv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Vijay Agnihotri</a:t>
            </a:r>
          </a:p>
          <a:p xmlns:a="http://schemas.openxmlformats.org/drawingml/2006/main">
            <a:r>
              <a:t>Key message: The single formal failure is restricted-to-restricted, but it exposes weak explosives separation and did not meet either automatic block threshold.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outputs/evaluation/per_class_metrics.csv</a:t>
            </a:r>
          </a:p>
          <a:p xmlns:a="http://schemas.openxmlformats.org/drawingml/2006/main">
            <a:r>
              <a:t>- Project-relative: outputs/evaluation/failure_cases.csv</a:t>
            </a:r>
          </a:p>
          <a:p xmlns:a="http://schemas.openxmlformats.org/drawingml/2006/main">
            <a:r>
              <a:t>- Project-relative: outputs/evaluation/confusion_matrix_vit.png</a:t>
            </a:r>
          </a:p>
          <a:p xmlns:a="http://schemas.openxmlformats.org/drawingml/2006/main">
            <a:r>
              <a:t>- Project-relative: data/capstone_dataset/test/explosives/explosives-a847a50b677d3214.jpg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Myetchae Thu</a:t>
            </a:r>
          </a:p>
          <a:p xmlns:a="http://schemas.openxmlformats.org/drawingml/2006/main">
            <a:r>
              <a:t>Key message: The 26-image Wikimedia diagnostic exposes domain shift: classifier macro F1 falls to 0.55489 and the detector flags 90 percent of nonweapon images.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outputs/evaluation/external_spot_check.json</a:t>
            </a:r>
          </a:p>
          <a:p xmlns:a="http://schemas.openxmlformats.org/drawingml/2006/main">
            <a:r>
              <a:t>- Project-relative: outputs/evaluation/external_spot_check.csv</a:t>
            </a:r>
          </a:p>
          <a:p xmlns:a="http://schemas.openxmlformats.org/drawingml/2006/main">
            <a:r>
              <a:t>- Project-relative: outputs/evaluation/external_annotated</a:t>
            </a:r>
          </a:p>
          <a:p xmlns:a="http://schemas.openxmlformats.org/drawingml/2006/main">
            <a:r>
              <a:t>- https://www.mediawiki.org/wiki/API:Imageinfo</a:t>
            </a:r>
          </a:p>
          <a:p xmlns:a="http://schemas.openxmlformats.org/drawingml/2006/main">
            <a:r>
              <a:t>- https://commons.wikimedia.org/wiki/Commons:Reusing_content_outside_Wikimedia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Bickramjit Basu</a:t>
            </a:r>
          </a:p>
          <a:p xmlns:a="http://schemas.openxmlformats.org/drawingml/2006/main">
            <a:r>
              <a:t>Key message: The browser-validated workspace keeps the decision, evidence, timing, and exact audit record together while preserving human control over review cases.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app.py</a:t>
            </a:r>
          </a:p>
          <a:p xmlns:a="http://schemas.openxmlformats.org/drawingml/2006/main">
            <a:r>
              <a:t>- Project-relative: api.py</a:t>
            </a:r>
          </a:p>
          <a:p xmlns:a="http://schemas.openxmlformats.org/drawingml/2006/main">
            <a:r>
              <a:t>- Project-relative: outputs/app/browser_validation.json</a:t>
            </a:r>
          </a:p>
          <a:p xmlns:a="http://schemas.openxmlformats.org/drawingml/2006/main">
            <a:r>
              <a:t>- Project-relative: outputs/app/app_firearm_result.png</a:t>
            </a:r>
          </a:p>
          <a:p xmlns:a="http://schemas.openxmlformats.org/drawingml/2006/main">
            <a:r>
              <a:t>- Project-relative: src/ad_safety/inference.py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Myetchae Thu</a:t>
            </a:r>
          </a:p>
          <a:p xmlns:a="http://schemas.openxmlformats.org/drawingml/2006/main">
            <a:r>
              <a:t>Key message: The main risks are source confounding, an uncalibrated detector, and classifier-only latency evidence. Full end-to-end p95, concurrent throughput, and MPS CPU/GPU/RAM use were not measured; each needs an explicit control before a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outputs/evaluation/external_spot_check.json</a:t>
            </a:r>
          </a:p>
          <a:p xmlns:a="http://schemas.openxmlformats.org/drawingml/2006/main">
            <a:r>
              <a:t>- Project-relative: outputs/evaluation/latency.json</a:t>
            </a:r>
          </a:p>
          <a:p xmlns:a="http://schemas.openxmlformats.org/drawingml/2006/main">
            <a:r>
              <a:t>- Project-relative: data/capstone_registry.csv</a:t>
            </a:r>
          </a:p>
          <a:p xmlns:a="http://schemas.openxmlformats.org/drawingml/2006/main">
            <a:r>
              <a:t>- Project-relative: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Presenter: Swarnaditya Maitra</a:t>
            </a:r>
          </a:p>
          <a:p xmlns:a="http://schemas.openxmlformats.org/drawingml/2006/main">
            <a:r>
              <a:t>Key message: This is a recommended 10-week plan and staffing assumption, not a measured commitment. A human-gated pilot starts only after evidence, quality, and explicit capacity gates 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Project-relative: README.md</a:t>
            </a:r>
          </a:p>
          <a:p xmlns:a="http://schemas.openxmlformats.org/drawingml/2006/main">
            <a:r>
              <a:t>- Project-relative: outputs/evaluation/metrics.json</a:t>
            </a:r>
          </a:p>
          <a:p xmlns:a="http://schemas.openxmlformats.org/drawingml/2006/main">
            <a:r>
              <a:t>- Project-relative: outputs/evaluation/external_spot_check.json</a:t>
            </a:r>
          </a:p>
          <a:p xmlns:a="http://schemas.openxmlformats.org/drawingml/2006/main">
            <a:r>
              <a:t>- https://support.google.com/adspolicy/answer/6008942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acb3197f3a4d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3c55a55c674075" /><Relationship Type="http://schemas.openxmlformats.org/officeDocument/2006/relationships/slideLayout" Target="/ppt/slideLayouts/slideLayout1.xml" Id="R4fac53775f0c44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ac53775f0c44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93cabd59f45a0" /><Relationship Type="http://schemas.openxmlformats.org/officeDocument/2006/relationships/image" Target="/ppt/media/image.png" Id="R7ec0ae52b4da4e05" /><Relationship Type="http://schemas.openxmlformats.org/officeDocument/2006/relationships/notesSlide" Target="/ppt/notesSlides/notesSlide1.xml" Id="R90084d2ce70b48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49dd305944149" /><Relationship Type="http://schemas.openxmlformats.org/officeDocument/2006/relationships/chart" Target="/ppt/slides/charts/chart1.xml" Id="Ra2c0eb5ca31d4a5f" /><Relationship Type="http://schemas.openxmlformats.org/officeDocument/2006/relationships/notesSlide" Target="/ppt/notesSlides/notesSlide2.xml" Id="Rc537402b045447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47cbb932d4895" /><Relationship Type="http://schemas.openxmlformats.org/officeDocument/2006/relationships/notesSlide" Target="/ppt/notesSlides/notesSlide3.xml" Id="R6986e7b43a774d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7fb38505448b2" /><Relationship Type="http://schemas.openxmlformats.org/officeDocument/2006/relationships/notesSlide" Target="/ppt/notesSlides/notesSlide4.xml" Id="R16e0702709d540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546739ebc4de8" /><Relationship Type="http://schemas.openxmlformats.org/officeDocument/2006/relationships/chart" Target="/ppt/slides/charts/chart2.xml" Id="R8d1a23f8dc044883" /><Relationship Type="http://schemas.openxmlformats.org/officeDocument/2006/relationships/notesSlide" Target="/ppt/notesSlides/notesSlide5.xml" Id="Rbc3a86169d2c40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3c7a945304e84" /><Relationship Type="http://schemas.openxmlformats.org/officeDocument/2006/relationships/image" Target="/ppt/media/image.jpeg" Id="Rd4284e2e6b264e49" /><Relationship Type="http://schemas.openxmlformats.org/officeDocument/2006/relationships/notesSlide" Target="/ppt/notesSlides/notesSlide6.xml" Id="R1194ee8c071c4c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83a9bcbb054370" /><Relationship Type="http://schemas.openxmlformats.org/officeDocument/2006/relationships/notesSlide" Target="/ppt/notesSlides/notesSlide7.xml" Id="Ra25501d8c6b948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8eca880bf4666" /><Relationship Type="http://schemas.openxmlformats.org/officeDocument/2006/relationships/image" Target="/ppt/media/image2.png" Id="R2dd938a2baf749c6" /><Relationship Type="http://schemas.openxmlformats.org/officeDocument/2006/relationships/notesSlide" Target="/ppt/notesSlides/notesSlide8.xml" Id="Ra77ca428d43b41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7b36fa7e94f7e" /><Relationship Type="http://schemas.openxmlformats.org/officeDocument/2006/relationships/notesSlide" Target="/ppt/notesSlides/notesSlide9.xml" Id="Recb6e95338944d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0928556d484342" /><Relationship Type="http://schemas.openxmlformats.org/officeDocument/2006/relationships/image" Target="/ppt/media/image3.png" Id="Rf19eaffc0c6e4057" /><Relationship Type="http://schemas.openxmlformats.org/officeDocument/2006/relationships/notesSlide" Target="/ppt/notesSlides/notesSlide10.xml" Id="Re7f15057cfa945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39e2fb46840b5" /><Relationship Type="http://schemas.openxmlformats.org/officeDocument/2006/relationships/chart" Target="/ppt/slides/charts/chart3.xml" Id="R91b3c207fbb540a7" /><Relationship Type="http://schemas.openxmlformats.org/officeDocument/2006/relationships/image" Target="/ppt/media/image2.jpeg" Id="R31c0597616a94017" /><Relationship Type="http://schemas.openxmlformats.org/officeDocument/2006/relationships/notesSlide" Target="/ppt/notesSlides/notesSlide11.xml" Id="R0e0b058ab2b54b7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e24cf0d4744a3" /><Relationship Type="http://schemas.openxmlformats.org/officeDocument/2006/relationships/image" Target="/ppt/media/image3.jpeg" Id="Rb41fd411a165481f" /><Relationship Type="http://schemas.openxmlformats.org/officeDocument/2006/relationships/image" Target="/ppt/media/image4.jpeg" Id="R637fcb9869924063" /><Relationship Type="http://schemas.openxmlformats.org/officeDocument/2006/relationships/image" Target="/ppt/media/image5.jpeg" Id="R5817a9e1d1e346bc" /><Relationship Type="http://schemas.openxmlformats.org/officeDocument/2006/relationships/notesSlide" Target="/ppt/notesSlides/notesSlide12.xml" Id="R311ddcc1a17b43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369a903154882" /><Relationship Type="http://schemas.openxmlformats.org/officeDocument/2006/relationships/image" Target="/ppt/media/image4.png" Id="R0cdc06e0fe57413d" /><Relationship Type="http://schemas.openxmlformats.org/officeDocument/2006/relationships/notesSlide" Target="/ppt/notesSlides/notesSlide13.xml" Id="Rcad9b9f3837f44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2f8fbaab74e6d" /><Relationship Type="http://schemas.openxmlformats.org/officeDocument/2006/relationships/notesSlide" Target="/ppt/notesSlides/notesSlide14.xml" Id="R35371e0fb94b40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1b5b60de54529" /><Relationship Type="http://schemas.openxmlformats.org/officeDocument/2006/relationships/notesSlide" Target="/ppt/notesSlides/notesSlide15.xml" Id="Rff53b175b36444a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Assigned slides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Swarnaditya</c:v>
              </c:pt>
              <c:pt idx="1">
                <c:v>Vijay</c:v>
              </c:pt>
              <c:pt idx="2">
                <c:v>Myetchae</c:v>
              </c:pt>
              <c:pt idx="3">
                <c:v>Bickramjit</c:v>
              </c:pt>
            </c:strLit>
          </c:cat>
          <c:val>
            <c:numLit>
              <c:formatCode>General</c:formatCode>
              <c:ptCount val="4"/>
              <c:pt idx="0">
                <c:v>4</c:v>
              </c:pt>
              <c:pt idx="1">
                <c:v>4</c:v>
              </c:pt>
              <c:pt idx="2">
                <c:v>4</c:v>
              </c:pt>
              <c:pt idx="3">
                <c:v>3</c:v>
              </c:pt>
            </c:numLit>
          </c:val>
        </c:ser>
        <c:ser>
          <c:idx val="1"/>
          <c:order val="1"/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Swarnaditya</c:v>
              </c:pt>
              <c:pt idx="1">
                <c:v>Vijay</c:v>
              </c:pt>
              <c:pt idx="2">
                <c:v>Myetchae</c:v>
              </c:pt>
              <c:pt idx="3">
                <c:v>Bickramjit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00" b="1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Train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Safe</c:v>
              </c:pt>
              <c:pt idx="1">
                <c:v>Firearms</c:v>
              </c:pt>
              <c:pt idx="2">
                <c:v>Explosives</c:v>
              </c:pt>
              <c:pt idx="3">
                <c:v>Financial</c:v>
              </c:pt>
            </c:strLit>
          </c:cat>
          <c:val>
            <c:numLit>
              <c:formatCode>General</c:formatCode>
              <c:ptCount val="4"/>
              <c:pt idx="0">
                <c:v>48</c:v>
              </c:pt>
              <c:pt idx="1">
                <c:v>48</c:v>
              </c:pt>
              <c:pt idx="2">
                <c:v>48</c:v>
              </c:pt>
              <c:pt idx="3">
                <c:v>48</c:v>
              </c:pt>
            </c:numLit>
          </c:val>
        </c:ser>
        <c:ser>
          <c:idx val="1"/>
          <c:order val="1"/>
          <c:tx>
            <c:v>Validation + test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Safe</c:v>
              </c:pt>
              <c:pt idx="1">
                <c:v>Firearms</c:v>
              </c:pt>
              <c:pt idx="2">
                <c:v>Explosives</c:v>
              </c:pt>
              <c:pt idx="3">
                <c:v>Financial</c:v>
              </c:pt>
            </c:strLit>
          </c:cat>
          <c:val>
            <c:numLit>
              <c:formatCode>General</c:formatCode>
              <c:ptCount val="4"/>
              <c:pt idx="0">
                <c:v>24</c:v>
              </c:pt>
              <c:pt idx="1">
                <c:v>24</c:v>
              </c:pt>
              <c:pt idx="2">
                <c:v>24</c:v>
              </c:pt>
              <c:pt idx="3">
                <c:v>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00" b="1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00">
              <a:solidFill>
                <a:srgbClr val="000000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ViT F1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Safe</c:v>
              </c:pt>
              <c:pt idx="1">
                <c:v>Firearms</c:v>
              </c:pt>
              <c:pt idx="2">
                <c:v>Explosives</c:v>
              </c:pt>
              <c:pt idx="3">
                <c:v>Financial</c:v>
              </c:pt>
            </c:strLit>
          </c:cat>
          <c:val>
            <c:numLit>
              <c:formatCode>0.00</c:formatCode>
              <c:ptCount val="4"/>
              <c:pt idx="0">
                <c:v>1</c:v>
              </c:pt>
              <c:pt idx="1">
                <c:v>0.96</c:v>
              </c:pt>
              <c:pt idx="2">
                <c:v>0.9565217391</c:v>
              </c:pt>
              <c:pt idx="3">
                <c:v>1</c:v>
              </c:pt>
            </c:numLit>
          </c:val>
        </c:ser>
        <c:ser>
          <c:idx val="1"/>
          <c:order val="1"/>
          <c:tx>
            <c:v>ResNet F1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Safe</c:v>
              </c:pt>
              <c:pt idx="1">
                <c:v>Firearms</c:v>
              </c:pt>
              <c:pt idx="2">
                <c:v>Explosives</c:v>
              </c:pt>
              <c:pt idx="3">
                <c:v>Financial</c:v>
              </c:pt>
            </c:strLit>
          </c:cat>
          <c:val>
            <c:numLit>
              <c:formatCode>0.00</c:formatCode>
              <c:ptCount val="4"/>
              <c:pt idx="0">
                <c:v>0.7826086957</c:v>
              </c:pt>
              <c:pt idx="1">
                <c:v>0.96</c:v>
              </c:pt>
              <c:pt idx="2">
                <c:v>0.75</c:v>
              </c:pt>
              <c:pt idx="3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00" b="1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0.00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00">
              <a:solidFill>
                <a:srgbClr val="000000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AB7EEF6-62CD-498E-85C8-6221E11C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608AA33-BB10-4DCD-B389-D4C1827E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>
                <a:solidFill>
                  <a:srgbClr val="000000"/>
                </a:solidFill>
                <a:latin typeface="Arial"/>
                <a:ea typeface="Arial"/>
                <a:cs typeface="Arial"/>
              </a:rPr>
              <a:t>MS_DSP_462 · MANAGEMENT REVIEW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23203D0B-9960-4275-A26E-8D25B73C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c0ae52b4da4e0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9069" y="1066800"/>
            <a:ext cx="5539740" cy="3116104"/>
          </a:xfrm>
          <a:prstGeom xmlns:a="http://schemas.openxmlformats.org/drawingml/2006/main" prst="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C8D6E68E-BBBE-4755-99BB-FE2A08BA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88A02-894F-4AAC-B789-81A89080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066800"/>
            <a:ext cx="538162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 safety</a:t>
            </a:r>
          </a:p>
          <a:p xmlns:a="http://schemas.openxmlformats.org/drawingml/2006/main">
            <a:pPr algn="l">
              <a:defRPr sz="5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a decision</a:t>
            </a:r>
          </a:p>
          <a:p xmlns:a="http://schemas.openxmlformats.org/drawingml/2006/main">
            <a:pPr algn="l">
              <a:defRPr sz="5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93F5A-0BF8-445C-8713-029652A1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76625"/>
            <a:ext cx="5381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0.979 formal macro F1</a:t>
            </a:r>
          </a:p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0.555 external macro F1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845C3-717D-41D0-A3BA-C06BD110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619625"/>
            <a:ext cx="5381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05039-A75B-45A4-AD3D-FEE6E792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772025"/>
            <a:ext cx="5000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Decision</a:t>
            </a:r>
          </a:p>
          <a:p xmlns:a="http://schemas.openxmlformats.org/drawingml/2006/main">
            <a:pPr algn="l">
              <a:defRPr sz="1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 the bounded demo. Do not approve autonomous deployment.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55543-8436-4751-B8A2-DADC6134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4429125"/>
            <a:ext cx="553974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9754AA-9ACD-434F-B031-7BFA9035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96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BFEF75-352A-4C50-A54B-D93207F5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196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AUDIT-READY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014827-D4B6-4A60-9AD4-4639490D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HUMAN-GATED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CC165D-60BC-46D2-A171-5DA6907E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196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No cloud upload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52A1BD-B162-4568-BEE8-BF59C6BA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96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Exact run record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508D88-9092-41B8-87D0-8732E3F3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0196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Review stays human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724B0B-D880-45A2-8869-47DE0C5A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D018E2-CA19-4CAA-B3F3-00ACCAF8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01 · EXECUTIVE SUMMARY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F96938-60AB-4D45-9981-26AE391F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Swarnaditya Maitra</a:t>
            </a:r>
          </a:p>
        </p:txBody>
      </p:sp>
    </p:spTree>
    <p:extLst>
      <p:ext uri="{BB962C8B-B14F-4D97-AF65-F5344CB8AC3E}">
        <p14:creationId xmlns:p14="http://schemas.microsoft.com/office/powerpoint/2010/main" val="15354343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1E1DFBFF-5D5F-497C-B9B7-57AA6FEA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1296441-F2AE-4EC8-8396-098CB90D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presenters,
one evidence chain</a:t>
            </a:r>
          </a:p>
        </p:txBody>
      </p:sp>
      <p:sp>
        <p:nvSpPr>
          <p:cNvPr id="3" name="Rounded-Rectangle-6-4">
            <a:extLst xmlns:a="http://schemas.openxmlformats.org/drawingml/2006/main">
              <a:ext uri="{FF2B5EF4-FFF2-40B4-BE49-F238E27FC236}">
                <a16:creationId xmlns:a16="http://schemas.microsoft.com/office/drawing/2014/main" id="{D56A62E6-1197-4452-ABE9-80936823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36982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4237A103-4DEF-411F-9D5A-F4A945C5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266480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Vijay Agnihotri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Team · data profile · EDA · class and failure analysis</a:t>
            </a:r>
          </a:p>
        </p:txBody>
      </p:sp>
      <p:sp>
        <p:nvSpPr>
          <p:cNvPr id="5" name="Rounded-Rectangle-8-6">
            <a:extLst xmlns:a="http://schemas.openxmlformats.org/drawingml/2006/main">
              <a:ext uri="{FF2B5EF4-FFF2-40B4-BE49-F238E27FC236}">
                <a16:creationId xmlns:a16="http://schemas.microsoft.com/office/drawing/2014/main" id="{11557B5C-6262-461B-AB7E-B489C2FF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393668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A8CC163-A8B5-4422-9F94-914DC71D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688658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Swarnaditya Maitra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Executive summary · problem · formal results · MVP gate</a:t>
            </a:r>
          </a:p>
        </p:txBody>
      </p:sp>
      <p:sp>
        <p:nvSpPr>
          <p:cNvPr id="7" name="Rounded-Rectangle-1-8">
            <a:extLst xmlns:a="http://schemas.openxmlformats.org/drawingml/2006/main">
              <a:ext uri="{FF2B5EF4-FFF2-40B4-BE49-F238E27FC236}">
                <a16:creationId xmlns:a16="http://schemas.microsoft.com/office/drawing/2014/main" id="{50667E81-596C-4007-9D09-6277EB84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38150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631FE749-1DA6-453F-8840-24F07257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467648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Myetchae Thu + Bickramjit Basu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Policy · architecture · audit · risks | method · literature · demo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408718" y="1409700"/>
          <a:ext xmlns:a="http://schemas.openxmlformats.org/drawingml/2006/main" cx="5124164" cy="5095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c0eb5ca31d4a5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BA3AC-2EF5-4C39-B723-E80598C7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C66347-8849-47A5-B7DD-EFC5C918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02 · TEAM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B06EE4-7E81-4832-A54A-642E0154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Vijay Agnihotri</a:t>
            </a:r>
          </a:p>
        </p:txBody>
      </p:sp>
    </p:spTree>
    <p:extLst>
      <p:ext uri="{BB962C8B-B14F-4D97-AF65-F5344CB8AC3E}">
        <p14:creationId xmlns:p14="http://schemas.microsoft.com/office/powerpoint/2010/main" val="13707140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A5F8E3FF-B9F0-4F1A-9DEA-C3083A7D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EE718699-7682-4B62-9064-544B3E5B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9ED1763A-5085-4EED-A8EA-8DE7DA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05AC585C-1D8E-4FED-8E0D-6330D3D1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F367B797-B3FE-4118-9173-294024B8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review fails on ambiguous creatives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0CBF4809-2C42-40C1-9049-4BC48347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Prioritize risky creatives before they reach broad distribution.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E7992A8A-4DA2-4CD4-8E7F-D677DF7C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Escalate questions that pixels alone cannot answer.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D506DF3D-C7D1-4DB1-9FBF-E2A760C2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Apply the same evidence path to every uploaded image.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3669736E-C90C-40EF-89E4-2636F38A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SPEED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6B8B7E2A-5BC6-4FA5-91AE-2AFEA64C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CONSISTENCY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864FB5ED-4312-4BA4-B0CE-8FA3E287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E5F75979-D15B-41A5-AF8C-D84C4BB5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BUSINESS PROBLEM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ad image can contain obvious objects, subtle text, or misleading context. A review queue needs fast, consistent triage while preserving a human gate for uncertain cases.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061AC9-06EA-414A-B391-E5A30FF4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48D4A8-6996-4613-B85F-B9654236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03 · BUSINESS PROBLEM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AC392-0B84-4F3E-AEC8-312090C6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Swarnaditya Maitra</a:t>
            </a:r>
          </a:p>
        </p:txBody>
      </p:sp>
    </p:spTree>
    <p:extLst>
      <p:ext uri="{BB962C8B-B14F-4D97-AF65-F5344CB8AC3E}">
        <p14:creationId xmlns:p14="http://schemas.microsoft.com/office/powerpoint/2010/main" val="2035231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50AF337-1C1A-4B24-B411-9764B70A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D554B22-549D-4A86-880F-47535073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043"/>
            <a:ext cx="11188637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labels are not a full ad policy</a:t>
            </a:r>
          </a:p>
        </p:txBody>
      </p:sp>
      <p:cxnSp>
        <p:nvCxnSpPr>
          <p:cNvPr id="21" name="Google-Shape-2259-p159-4"/>
          <p:cNvCxnSpPr/>
          <p:nvPr/>
        </p:nvCxnSpPr>
        <p:spPr>
          <a:xfrm xmlns:a="http://schemas.openxmlformats.org/drawingml/2006/main">
            <a:off x="393668" y="5341620"/>
            <a:ext cx="11404568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80FED5AD-425A-4EC5-852B-2767BDAF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BFAC1385-14FB-4E58-B5F4-3E524A2B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0452A17-AF1D-4373-B4FE-A3038528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F7CF8366-A2D1-4068-A768-4A0D822F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97575B20-A755-4290-A446-BAB8A229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 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 · firearms · explosives · financial-promotion cues. The last label means visible promotion, not fraud or illegality.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AA5EF935-9830-4E10-8A9D-E848BACA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8012DAC7-E006-4C69-8F9C-1DA03212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DECISION LAYER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 · REVIEW · BLOCK. Financial cases always route to review. Restricted classes require calibrated evidence.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C281A7CE-4DCD-4580-90EF-1E0AAB1F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3896A365-2814-4D58-BAD1-08B91E07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 OF 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content, general violence, alcohol, tobacco, landing pages, age, geography, legality, and advertiser identity.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0BE4934B-1C02-44DE-8542-EFD37386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TRIAGED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600CE159-3C15-4774-9249-929BB95C2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MODELLED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EEAE7DEE-EF95-4F80-969F-95EE4C0F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HUMAN / FUTURE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9F14A-E3D4-4D55-A20A-39259504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10046-1AFC-440D-8B99-BD176036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04 · POLICY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415FCF-3CD5-4EE2-A652-A99DCCB3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Myetchae Thu</a:t>
            </a:r>
          </a:p>
        </p:txBody>
      </p:sp>
    </p:spTree>
    <p:extLst>
      <p:ext uri="{BB962C8B-B14F-4D97-AF65-F5344CB8AC3E}">
        <p14:creationId xmlns:p14="http://schemas.microsoft.com/office/powerpoint/2010/main" val="20433806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C90133CC-1548-4FD4-B86E-1D1D7D62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1C91C58-5B89-4B7F-A7CD-D2F45DE4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Balanced counts,
unbalanced sources</a:t>
            </a:r>
          </a:p>
        </p:txBody>
      </p:sp>
      <p:sp>
        <p:nvSpPr>
          <p:cNvPr id="3" name="Rounded-Rectangle-6-4">
            <a:extLst xmlns:a="http://schemas.openxmlformats.org/drawingml/2006/main">
              <a:ext uri="{FF2B5EF4-FFF2-40B4-BE49-F238E27FC236}">
                <a16:creationId xmlns:a16="http://schemas.microsoft.com/office/drawing/2014/main" id="{B82276E7-C05D-444E-AB43-0ADB074F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36982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202E084A-78E7-4F0D-84EB-5DD8CB31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266480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215 source groups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Campaign and source groups stay inside one split; exact hashes do not overlap.</a:t>
            </a:r>
          </a:p>
        </p:txBody>
      </p:sp>
      <p:sp>
        <p:nvSpPr>
          <p:cNvPr id="5" name="Rounded-Rectangle-8-6">
            <a:extLst xmlns:a="http://schemas.openxmlformats.org/drawingml/2006/main">
              <a:ext uri="{FF2B5EF4-FFF2-40B4-BE49-F238E27FC236}">
                <a16:creationId xmlns:a16="http://schemas.microsoft.com/office/drawing/2014/main" id="{A0F8CF34-D614-4B28-AC0C-4A97978D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393668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06C025D7-1FA3-4889-95D4-E6C84591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688658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48 / 12 / 12 per 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Train · validation · untouched test. Total pilot size: 288 images.</a:t>
            </a:r>
          </a:p>
        </p:txBody>
      </p:sp>
      <p:sp>
        <p:nvSpPr>
          <p:cNvPr id="7" name="Rounded-Rectangle-1-8">
            <a:extLst xmlns:a="http://schemas.openxmlformats.org/drawingml/2006/main">
              <a:ext uri="{FF2B5EF4-FFF2-40B4-BE49-F238E27FC236}">
                <a16:creationId xmlns:a16="http://schemas.microsoft.com/office/drawing/2014/main" id="{CBB50125-4C1F-4609-8904-AEE55C18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38150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BC8E15B5-0DE0-489F-B714-A857AAE4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467648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Source-confounded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 and finance are synthetic; both weapon classes come from Weapons Set 1.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408718" y="1409700"/>
          <a:ext xmlns:a="http://schemas.openxmlformats.org/drawingml/2006/main" cx="5124164" cy="5095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1a23f8dc04488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4C262-BBFE-4402-8F63-E9816357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D72261-AFE8-4FB9-B061-7FEDEFDA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05 · DATA PROFILE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BB698D-A1A1-4F9D-A6D3-BC8E00F7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Vijay Agnihotri</a:t>
            </a:r>
          </a:p>
        </p:txBody>
      </p:sp>
    </p:spTree>
    <p:extLst>
      <p:ext uri="{BB962C8B-B14F-4D97-AF65-F5344CB8AC3E}">
        <p14:creationId xmlns:p14="http://schemas.microsoft.com/office/powerpoint/2010/main" val="2196569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6C42AAB-8908-4E22-A27D-5CB50FE7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EEB4045-BEA8-40F8-B648-59578FF6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 style
predicts labels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03E2FC4E-4810-477F-B532-D0C9FA6A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84e2e6b264e49"/>
          <a:stretch xmlns:a="http://schemas.openxmlformats.org/drawingml/2006/main"/>
        </p:blipFill>
        <p:spPr>
          <a:xfrm xmlns:a="http://schemas.openxmlformats.org/drawingml/2006/main">
            <a:off x="7171595" y="396431"/>
            <a:ext cx="3734689" cy="5602034"/>
          </a:xfrm>
          <a:prstGeom xmlns:a="http://schemas.openxmlformats.org/drawingml/2006/main" prst="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76AC7757-E7FA-481F-98D0-1A181647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THE CONTACT SHEET REVEALS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Safe: generated product scenes
Weapons: isolated objects
Finance: repeated synthetic templates
Risk: the classifier may learn where the image came from instead of what policy concept it contains.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9EF31-9DEA-4119-9DDF-9AD399D8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B0C2A-A244-4D81-9D38-F2F0BBD4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06 · EDA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190C5-6FC4-4680-9DF5-A69F2BD6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Vijay Agnihotri</a:t>
            </a:r>
          </a:p>
        </p:txBody>
      </p:sp>
    </p:spTree>
    <p:extLst>
      <p:ext uri="{BB962C8B-B14F-4D97-AF65-F5344CB8AC3E}">
        <p14:creationId xmlns:p14="http://schemas.microsoft.com/office/powerpoint/2010/main" val="17513843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492A7788-F0D0-4BE3-9FDA-D4FAB57B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0A5D12F-C475-4399-8F45-15D8D6D1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evidence streams before policy</a:t>
            </a:r>
          </a:p>
        </p:txBody>
      </p:sp>
      <p:cxnSp>
        <p:nvCxnSpPr>
          <p:cNvPr id="23" name="Google-Shape-2259-p159-4"/>
          <p:cNvCxnSpPr/>
          <p:nvPr/>
        </p:nvCxnSpPr>
        <p:spPr>
          <a:xfrm xmlns:a="http://schemas.openxmlformats.org/drawingml/2006/main">
            <a:off x="393668" y="5341620"/>
            <a:ext cx="11404568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E526163-155D-4A80-A39C-5CD4DE91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9E8D3AE2-12F2-4A53-B91E-7D7311D1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4BA17101-5A88-4B97-AE28-730B75A5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F2FA311E-545F-45BB-AADA-8A46F3CE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5992E6D6-7D8B-4A76-B6F9-33DE4E06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 · SEE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Frozen ViT scores the whole image. Grounding DINO Tiny proposes weapon and explosive object evidence.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888C7F37-8FF8-449A-9942-A41E9C5B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7E6884A1-B942-4B78-8D09-9AAEF537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 · READ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Tesseract extracts visible text. Classifier, detector, and OCR evidence remain separately inspectable.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F8C89788-6D0D-4BC0-AF2B-27BCFA46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B9AFF51F-D9DD-4D3F-A4D0-3945AAE6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 · DECIDE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A versioned YAML policy returns APPROVE, REVIEW, or BLOCK with reasons and an audit trail.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8AC0718B-CEA9-413B-A8FA-DF9D930A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69D2FF20-7F39-4443-836A-2B84DC7A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INPUT + VISION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7D96C9DF-6E09-4C5D-8E01-8C2580C5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VERDICT</a:t>
            </a:r>
          </a:p>
        </p:txBody>
      </p: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962400" y="3211544"/>
            <a:ext cx="346043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7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877175" y="3211544"/>
            <a:ext cx="360331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00E89-285A-42CB-8364-8273CE05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95CA54-118A-4D0C-B3CE-3B28656E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07 · ARCHITECTURE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23FFEE-365D-49FE-AF0A-7F428E6C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Myetchae Thu</a:t>
            </a:r>
          </a:p>
        </p:txBody>
      </p:sp>
    </p:spTree>
    <p:extLst>
      <p:ext uri="{BB962C8B-B14F-4D97-AF65-F5344CB8AC3E}">
        <p14:creationId xmlns:p14="http://schemas.microsoft.com/office/powerpoint/2010/main" val="18914143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78AF5C7-0DF6-4EF0-9778-CCAC486B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23A0ECF-1369-4667-9606-3EAF8EB7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 evidence
stayed untouched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42C7955F-D34A-4430-88D6-D46A702B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938a2baf749c6"/>
          <a:stretch xmlns:a="http://schemas.openxmlformats.org/drawingml/2006/main"/>
        </p:blipFill>
        <p:spPr>
          <a:xfrm xmlns:a="http://schemas.openxmlformats.org/drawingml/2006/main">
            <a:off x="6269069" y="538372"/>
            <a:ext cx="5539740" cy="5318150"/>
          </a:xfrm>
          <a:prstGeom xmlns:a="http://schemas.openxmlformats.org/drawingml/2006/main" prst="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6505D684-E930-4A09-AFA9-8A1B9191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METHOD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Freeze ViT and ResNet-50 backbones
2  Fit logistic heads on train embeddings
3  Tune thresholds on validation only
4  Open the 48-image test once
5  Benchmark warm batch-1 CPU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09C23-3B25-4D92-AA60-48022392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514975"/>
            <a:ext cx="504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RECALL red · PRECISION blue · selected t=0.173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FBDE0-C4AC-4AE6-9F41-EBD468B8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11F60-2A0F-4D67-9233-FE06A3FE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08 · METHODOLOGY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9A85B-4228-4EB8-95B5-07959A7B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Bickramjit Basu</a:t>
            </a:r>
          </a:p>
        </p:txBody>
      </p:sp>
    </p:spTree>
    <p:extLst>
      <p:ext uri="{BB962C8B-B14F-4D97-AF65-F5344CB8AC3E}">
        <p14:creationId xmlns:p14="http://schemas.microsoft.com/office/powerpoint/2010/main" val="12661413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67B17B46-D034-4AD6-886A-D318DA0F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C0AEF33E-D807-4BED-B94C-8BB1A3D2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D626C81B-655A-4614-8D3F-88B3D229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9FCF4EEE-86A9-4767-9DD9-B5750494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6B4360DC-5281-4BE4-9A2A-4817100B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supports components, not claims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3C368817-8A48-491A-B31B-83E03C16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Patch attention supplies a transferable whole-image representation.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C674C9E-FAFA-411A-BDED-716690A9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words add evidence; explicit policy rules keep the final action inspectable.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881BF35F-9705-444E-93B7-6B3755BA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Text-conditioned detection localizes open-vocabulary object cues.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8ECCC9F2-A83C-406E-91E7-8EF55CF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ViT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36418CDE-5A9D-412E-B476-D8B5BE38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DINO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C3E8E421-07D9-4FC6-AD32-328663AE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OCR + RULES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D0D29CD6-853B-4C1D-80D9-4635A351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LITERATURE BOUNDARY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Papers and model cards explain why each component is plausible. Only this project’s saved evaluation can support claims about this pilot.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5CEDB-B8B4-42E0-8EAE-0D1CEA38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85B10E-36B2-4C33-9D2E-0D7791EA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09 · LITERATURE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1A6F92-F081-4697-860E-847846CB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Bickramjit Basu</a:t>
            </a:r>
          </a:p>
        </p:txBody>
      </p:sp>
    </p:spTree>
    <p:extLst>
      <p:ext uri="{BB962C8B-B14F-4D97-AF65-F5344CB8AC3E}">
        <p14:creationId xmlns:p14="http://schemas.microsoft.com/office/powerpoint/2010/main" val="13155550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7261FE0-1C9C-478B-A5D0-4B523838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4F5CB72-AE1E-4F73-BD24-65B92F6A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ViT wins accuracy,
not speed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68F1CDCE-2190-4D8A-A66A-753694B6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eaffc0c6e4057"/>
          <a:stretch xmlns:a="http://schemas.openxmlformats.org/drawingml/2006/main"/>
        </p:blipFill>
        <p:spPr>
          <a:xfrm xmlns:a="http://schemas.openxmlformats.org/drawingml/2006/main">
            <a:off x="6269069" y="1974088"/>
            <a:ext cx="5539740" cy="2446719"/>
          </a:xfrm>
          <a:prstGeom xmlns:a="http://schemas.openxmlformats.org/drawingml/2006/main" prst="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41E81F33-70FA-4693-8A55-87049898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7ECB2-3529-47CF-B7DB-436F25B7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581150"/>
            <a:ext cx="2571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8A82A-E18F-47C1-BF88-F814A68A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168" y="17526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0.97913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90033-5624-42D0-A5F3-E3AE587E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168" y="24193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ViT macro F1 · n=48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A71636-4726-4EB1-900D-401F7851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81150"/>
            <a:ext cx="28194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4F553-B43F-4C94-8C12-F49C347B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752600"/>
            <a:ext cx="2438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0.87315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543E6-4E9A-46B6-987D-47840465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193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ResNet macro F1 · n=48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B20EE-29ED-4C84-B718-B4CAD6E0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48000"/>
            <a:ext cx="5530882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4A7D8-B438-4C68-BC60-FE1FE8A9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168" y="3219450"/>
            <a:ext cx="5149882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71.527 / 40.064 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241FC-FA18-42E2-B26D-9F7ECA68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168" y="3886200"/>
            <a:ext cx="5149882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Classifier p95 · ViT / ResNet · batch 1</a:t>
            </a:r>
          </a:p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ViT &gt;50 ms; end-to-end p95 unassessed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A4E2B5-0E18-4291-AE41-72B828B7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657725"/>
            <a:ext cx="5524500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Safe precision 1.000: PASS (&gt;0.98)</a:t>
            </a:r>
          </a:p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Safe false-flag rate: 0 (1 − recall)</a:t>
            </a:r>
          </a:p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Argmax restricted recall: 0.97222</a:t>
            </a:r>
          </a:p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Threshold recall mean / min: 0.94444 / 0.91667</a:t>
            </a:r>
          </a:p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&gt;0.95 per-class target: FAIL · calibration floor ≥0.90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C0E705-1BFF-4EFB-969C-7D799EF6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BBBE0-ABD7-40AF-B12A-19D9739C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10 · FORMAL RESULTS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40C5C7-9386-459F-A806-1024F333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Swarnaditya Maitra</a:t>
            </a:r>
          </a:p>
        </p:txBody>
      </p:sp>
    </p:spTree>
    <p:extLst>
      <p:ext uri="{BB962C8B-B14F-4D97-AF65-F5344CB8AC3E}">
        <p14:creationId xmlns:p14="http://schemas.microsoft.com/office/powerpoint/2010/main" val="9654083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CAAD542-46FC-4E40-80E3-3CFA5110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337449A1-2A4D-43B2-8DDD-5902F247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grenade crossed
the class boundary</a:t>
            </a:r>
          </a:p>
        </p:txBody>
      </p:sp>
      <p:sp>
        <p:nvSpPr>
          <p:cNvPr id="3" name="Rounded-Rectangle-6-4">
            <a:extLst xmlns:a="http://schemas.openxmlformats.org/drawingml/2006/main">
              <a:ext uri="{FF2B5EF4-FFF2-40B4-BE49-F238E27FC236}">
                <a16:creationId xmlns:a16="http://schemas.microsoft.com/office/drawing/2014/main" id="{166F8B5D-7752-48B0-AE00-5EF78EC5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36982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6F18AA1A-7894-486A-A644-D26B7DDF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266480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 AUTO-BLOCK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Neither class-specific block threshold fired for that image; a restricted error still needs review.</a:t>
            </a:r>
          </a:p>
        </p:txBody>
      </p:sp>
      <p:sp>
        <p:nvSpPr>
          <p:cNvPr id="5" name="Rounded-Rectangle-8-6">
            <a:extLst xmlns:a="http://schemas.openxmlformats.org/drawingml/2006/main">
              <a:ext uri="{FF2B5EF4-FFF2-40B4-BE49-F238E27FC236}">
                <a16:creationId xmlns:a16="http://schemas.microsoft.com/office/drawing/2014/main" id="{8523218F-AC36-4A9B-B816-1D2B6556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393668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0D4DED48-C78E-4D35-B5A2-ACB4BA44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688658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FORMAL ERROR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explosives image was predicted as firearms. All other 47 labels were correct.</a:t>
            </a:r>
          </a:p>
        </p:txBody>
      </p:sp>
      <p:sp>
        <p:nvSpPr>
          <p:cNvPr id="7" name="Rounded-Rectangle-1-8">
            <a:extLst xmlns:a="http://schemas.openxmlformats.org/drawingml/2006/main">
              <a:ext uri="{FF2B5EF4-FFF2-40B4-BE49-F238E27FC236}">
                <a16:creationId xmlns:a16="http://schemas.microsoft.com/office/drawing/2014/main" id="{0059E5D2-713F-47EA-AEF8-F3E19A98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38150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B4E92120-F8D4-4C13-B309-9A38DEB8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467648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WEAKEST 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ViT F1 0.957 · ResNet F1 0.750.
Separation remains fragile.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408718" y="1409700"/>
          <a:ext xmlns:a="http://schemas.openxmlformats.org/drawingml/2006/main" cx="5124164" cy="5095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b3c207fbb540a7"/>
          </a:graphicData>
        </a:graphic>
      </p:graphicFrame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c0597616a94017"/>
          <a:srcRect xmlns:a="http://schemas.openxmlformats.org/drawingml/2006/main" l="0" t="15909" r="0" b="159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87000" y="4762500"/>
            <a:ext cx="1257300" cy="85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06B4B7-8109-46AD-87CA-4E7613A1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7E98BD-BEA6-4440-BEE7-A0B2365E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11 · CLASS AND FAILURE 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41EA0E-8EC2-4A08-A187-445A3F98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Vijay Agnihotri</a:t>
            </a:r>
          </a:p>
        </p:txBody>
      </p:sp>
    </p:spTree>
    <p:extLst>
      <p:ext uri="{BB962C8B-B14F-4D97-AF65-F5344CB8AC3E}">
        <p14:creationId xmlns:p14="http://schemas.microsoft.com/office/powerpoint/2010/main" val="1909122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B77A394-A7D7-4AC6-995C-F0134F04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3D44B50-DDCC-41FC-979C-10A461C8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audit
breaks confidence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832F9BDA-F2BA-4DB9-B113-9D209A7F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1fd411a165481f"/>
          <a:srcRect xmlns:a="http://schemas.openxmlformats.org/drawingml/2006/main" l="18403" t="0" r="1840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9069" y="396431"/>
            <a:ext cx="2152650" cy="5602034"/>
          </a:xfrm>
          <a:prstGeom xmlns:a="http://schemas.openxmlformats.org/drawingml/2006/main" prst="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1216CE7F-BFB3-4CA9-89A3-E1BC445E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WIKIMEDIA DIAGNOSTIC · n=26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0.55489 classifier macro F1
0.90 detector nonweapon FPR
Historical layouts, languages, and photographic context differ sharply from the pilot sources. This is a diagnostic spot check, not a formal test set.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fcb9869924063"/>
          <a:srcRect xmlns:a="http://schemas.openxmlformats.org/drawingml/2006/main" l="1572" t="0" r="15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396431"/>
            <a:ext cx="3236309" cy="2667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7a9e1d1e346bc"/>
          <a:srcRect xmlns:a="http://schemas.openxmlformats.org/drawingml/2006/main" l="12237" t="0" r="122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3331464"/>
            <a:ext cx="3236309" cy="2667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09F21-E428-42F3-B8D9-6BCD4E45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5543550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D9485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SAFE → BLOCK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36B15E-F2DC-4F1F-A714-F8B61395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628900"/>
            <a:ext cx="3028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D9485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EXPLOSIVES → SAFE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A9E9B-3B8C-45FB-B6C9-23D235B1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5562600"/>
            <a:ext cx="3028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D9485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FINANCE OK · FALSE BOX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CAA0D-FBC6-4555-B49B-92A46788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63D728-454F-4E52-95FE-43AAE4FD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12 · EXTERNAL GENERALIZATION AUDIT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832D9D-E3B4-43D8-B71C-C091B8CB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Myetchae Thu</a:t>
            </a:r>
          </a:p>
        </p:txBody>
      </p:sp>
    </p:spTree>
    <p:extLst>
      <p:ext uri="{BB962C8B-B14F-4D97-AF65-F5344CB8AC3E}">
        <p14:creationId xmlns:p14="http://schemas.microsoft.com/office/powerpoint/2010/main" val="14974898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8EF92CC3-5F91-4675-89A4-C06FADE9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B4550CDB-C91F-48AB-BB2C-0C2B8F44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workspace carries a case from upload to audit</a:t>
            </a:r>
          </a:p>
        </p:txBody>
      </p:sp>
      <p:cxnSp>
        <p:nvCxnSpPr>
          <p:cNvPr id="37" name="Google-Shape-2259-p159-4"/>
          <p:cNvCxnSpPr/>
          <p:nvPr/>
        </p:nvCxnSpPr>
        <p:spPr>
          <a:xfrm xmlns:a="http://schemas.openxmlformats.org/drawingml/2006/main">
            <a:off x="393668" y="5341620"/>
            <a:ext cx="11404568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55149D9-DA49-4BE3-BA09-CE9A1A9F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D7E5F99-D084-4FCE-AAFE-17FFA984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3107FF2E-0539-427A-BF88-424AE8F8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DE1CF579-65CB-476E-8003-48250874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EE51A01F-24F2-4334-A10E-2E466ABD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FE2DF149-FAA6-4578-B39D-6746D881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E3C1FB8C-4C50-442B-BFF6-A659C47A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5CD9479F-FB0B-4D25-BEAA-CEA33758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84E7E69C-08B8-46F2-B764-231C0006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D6E6C978-A999-41EC-8E4E-E6F0A5B0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79025E1D-CBB1-4550-BDCF-0D8B0CF3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39BB8CB6-7CC4-44EA-8A9D-D84524BC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dc06e0fe57413d"/>
          <a:srcRect xmlns:a="http://schemas.openxmlformats.org/drawingml/2006/main" l="0" t="3450" r="0" b="3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3668" y="1457325"/>
            <a:ext cx="7239000" cy="37909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AC4832-9307-4807-9679-729C8A5D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57325"/>
            <a:ext cx="3940112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975EB-86D6-43D2-865A-E4295850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43050"/>
            <a:ext cx="3559112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DECISION STATE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2295BE-C510-4C4E-A256-B403BCB4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800225"/>
            <a:ext cx="3559112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BLOCK, policy focus, and evidence score stay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7B890-E9BF-40ED-8A74-72BF09E8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28875"/>
            <a:ext cx="3940112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DA0FC3-8C0A-4726-AA15-500B19E09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514600"/>
            <a:ext cx="3559112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 PROVENANCE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1AF2B6-26E0-4171-844B-EDF0ECC1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771775"/>
            <a:ext cx="3559112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Raw and fused policy evidence remain separate.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4D2892-DB9E-456E-99C4-61041A7B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0425"/>
            <a:ext cx="3940112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BFFC3A-3078-4B41-A3B1-7F2DCC23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86150"/>
            <a:ext cx="3559112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+ TIMING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36EC89-C4E9-4316-8947-C181B5E1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43325"/>
            <a:ext cx="3559112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Boxes, text, occlusion, and stage latency drill down.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F8D889-FAF0-42CE-91A2-FD005503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71975"/>
            <a:ext cx="3940112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954950-3F0F-420B-B0A5-11316A63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57700"/>
            <a:ext cx="3559112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AUDIT EXPORT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552317-D4C3-4D31-9859-B594B6F0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14875"/>
            <a:ext cx="3559112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5B6470"/>
                </a:solidFill>
                <a:latin typeface="Arial"/>
                <a:ea typeface="Arial"/>
                <a:cs typeface="Arial"/>
              </a:rPr>
              <a:t>Options, hashes, versions, and applied thresholds persist.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E36CAF-79B8-4052-8DBE-69ED8A2B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248275"/>
            <a:ext cx="1151572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FA15DD-7560-4F6E-BD66-E6E0E965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324475"/>
            <a:ext cx="3940112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485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8865D1-D192-4D4C-A57D-5C660D9A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410200"/>
            <a:ext cx="355911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D9485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Session analytics describe review,</a:t>
            </a:r>
          </a:p>
          <a:p xmlns:a="http://schemas.openxmlformats.org/drawingml/2006/main">
            <a:pPr algn="l">
              <a:defRPr sz="1600" b="1">
                <a:solidFill>
                  <a:srgbClr val="D9485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not production or population evidence.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084930-78B2-43E5-A91F-0AFC2830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DDD164-8EDF-480F-8587-AC23DD54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13 · DEMO WORKFLOW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731F06-291A-46C4-823F-3498E3E9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Bickramjit Basu</a:t>
            </a:r>
          </a:p>
        </p:txBody>
      </p:sp>
    </p:spTree>
    <p:extLst>
      <p:ext uri="{BB962C8B-B14F-4D97-AF65-F5344CB8AC3E}">
        <p14:creationId xmlns:p14="http://schemas.microsoft.com/office/powerpoint/2010/main" val="2165098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4E663847-5534-42F8-8408-BDEF6A9E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5E154CCB-6F80-45E3-BBC9-1695CDAA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A32C9A8F-1406-4340-9FC2-7AA54A2B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DB881C3A-74E1-401D-B33D-2A9DDF5B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72B58A86-8E6E-4B0D-8B20-99C39A6F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Controls needed before an MVP trial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88A2964F-5A1E-48FF-BA44-906BE2BA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60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Replace source-linked shortcuts with diverse, independently annotated real campaigns.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EFEC2D60-6B84-4138-B499-47BE0CEA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48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Unmeasured: end-to-end p95,
concurrency, and MPS use.
Retain telemetry and escalation.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D333D1FD-6523-4E83-9E14-35AA3CBA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35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A 0.90 nonweapon FPR requires local box labels, recalibration, and no automatic detector block.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F7CE5CF1-A6B9-42FB-BA09-3180D1CC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416BA693-705C-4371-A2A2-C67FC27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E49EDFAC-66A2-4B16-A207-5A32D7A2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D9485F"/>
                </a:solidFill>
                <a:latin typeface="Arial"/>
                <a:ea typeface="Arial"/>
                <a:cs typeface="Arial"/>
              </a:rPr>
              <a:t>OPERATIONS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ECCA9D32-D77F-47D1-83BB-F927EA77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GO / NO-GO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controls limit damage, but they do not remove the uncertainty created by synthetic sources, detector noise, and incomplete end-to-end latency evidence.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EE5-4FF4-48F8-9257-961A8D74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2AB40-26B5-4E88-99FB-7F252626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14 · RISKS AND CONTROLS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6A5A83-30E0-412C-82D7-FC701095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Myetchae Thu</a:t>
            </a:r>
          </a:p>
        </p:txBody>
      </p:sp>
    </p:spTree>
    <p:extLst>
      <p:ext uri="{BB962C8B-B14F-4D97-AF65-F5344CB8AC3E}">
        <p14:creationId xmlns:p14="http://schemas.microsoft.com/office/powerpoint/2010/main" val="14054169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FD57DE0-2CDC-4279-B635-9F0B3D03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979E04D4-8CFD-4110-8219-1CB3E79D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recommended 10-week path to MVP</a:t>
            </a:r>
          </a:p>
        </p:txBody>
      </p:sp>
      <p:cxnSp>
        <p:nvCxnSpPr>
          <p:cNvPr id="21" name="Google-Shape-2259-p159-4"/>
          <p:cNvCxnSpPr/>
          <p:nvPr/>
        </p:nvCxnSpPr>
        <p:spPr>
          <a:xfrm xmlns:a="http://schemas.openxmlformats.org/drawingml/2006/main">
            <a:off x="393668" y="5341620"/>
            <a:ext cx="11404568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C1941A94-614F-450C-BED6-474F2D5A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B2236396-C62A-4C5B-B649-09026DC3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5AA4027-6241-4CB2-8DAA-236AA1ED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3F9B01D7-5F2B-42CA-BA74-3CBA1BBC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38B12070-9B3B-4F69-90CD-EED1A071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WEEKS 1–3 · EVIDENCE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Resource: data lead, policy reviewer, 2 annotators. Curate ≥1,000 real ads; lock a campaign-grouped independent holdout.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04F6D4D7-BF60-4F63-8BAF-4D5EEE9D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514025AB-34FB-464C-803D-378F3F24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WEEKS 4–6 · CALIBRATE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Resource: 1 ML engineer, reviewer, CPU/GPU test capacity. Gate: &gt;0.95 recall per restricted class and &lt;2% Safe crossings.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73741FC4-C217-4B0B-9F52-CBB0F9E4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B2D7EE3B-00D9-4BDD-B351-89401FB8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WEEKS 7–10 · PILOT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Resource: product lead, app/MLOps engineer, reviewer rotation. Scale gate: 10 concurrent requests; measure E2E p95 and CPU/GPU/RAM.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9EBA49BF-A7C6-4CB4-AF95-DE5DDA24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ML + QA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53DD1BB4-AA43-4976-AB6D-37E35E94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DATA + POLICY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5E9076B7-26EF-461D-957D-C9124D84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PRODUCT + OPS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AFED1-2532-40B7-9776-047A9FD2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14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59F07F-4BBC-4C96-9E9A-765323AB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"/>
            <a:ext cx="30765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15 · NEXT STEPS TO MVP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82621A-C044-4F23-B253-983211FF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1180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00" b="1">
                <a:solidFill>
                  <a:srgbClr val="5B647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5B6470"/>
                </a:solidFill>
                <a:latin typeface="Arial"/>
                <a:ea typeface="Arial"/>
                <a:cs typeface="Arial"/>
              </a:rPr>
              <a:t>PRESENTER  Swarnaditya Maitra</a:t>
            </a:r>
          </a:p>
        </p:txBody>
      </p:sp>
    </p:spTree>
    <p:extLst>
      <p:ext uri="{BB962C8B-B14F-4D97-AF65-F5344CB8AC3E}">
        <p14:creationId xmlns:p14="http://schemas.microsoft.com/office/powerpoint/2010/main" val="8730062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2026-08-26T18:14:13.4960000Z</dcterms:created>
  <dcterms:modified xsi:type="dcterms:W3CDTF">2026-08-26T18:14:13.4970000Z</dcterms:modified>
</coreProperties>
</file>